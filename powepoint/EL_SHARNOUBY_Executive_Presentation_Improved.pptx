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Yearly sales</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3B82F6"/>
            </a:solidFill>
            <a:effectLst/>
          </c:spPr>
          <c:invertIfNegative val="0"/>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FY24</c:v>
                  </c:pt>
                  <c:pt idx="1">
                    <c:v>FY25</c:v>
                  </c:pt>
                  <c:pt idx="2">
                    <c:v>FY26</c:v>
                  </c:pt>
                </c:lvl>
              </c:multiLvlStrCache>
            </c:multiLvlStrRef>
          </c:cat>
          <c:val>
            <c:numRef>
              <c:f>Sheet1!$B$2:$B$4</c:f>
              <c:numCache>
                <c:formatCode>General</c:formatCode>
                <c:ptCount val="3"/>
                <c:pt idx="0">
                  <c:v>129.5</c:v>
                </c:pt>
                <c:pt idx="1">
                  <c:v>143.5</c:v>
                </c:pt>
                <c:pt idx="2">
                  <c:v>148.3</c:v>
                </c:pt>
              </c:numCache>
            </c:numRef>
          </c:val>
        </c:ser>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7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sales</c:v>
                </c:pt>
              </c:strCache>
            </c:strRef>
          </c:tx>
          <c:spPr>
            <a:solidFill>
              <a:srgbClr val="A9B8D0"/>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Wholesale</c:v>
                  </c:pt>
                  <c:pt idx="1">
                    <c:v>Retail</c:v>
                  </c:pt>
                  <c:pt idx="2">
                    <c:v>Online</c:v>
                  </c:pt>
                </c:lvl>
              </c:multiLvlStrCache>
            </c:multiLvlStrRef>
          </c:cat>
          <c:val>
            <c:numRef>
              <c:f>Sheet1!$B$2:$B$4</c:f>
              <c:numCache>
                <c:formatCode>General</c:formatCode>
                <c:ptCount val="3"/>
                <c:pt idx="0">
                  <c:v>85</c:v>
                </c:pt>
                <c:pt idx="1">
                  <c:v>7</c:v>
                </c:pt>
                <c:pt idx="2">
                  <c:v>8</c:v>
                </c:pt>
              </c:numCache>
            </c:numRef>
          </c:val>
        </c:ser>
        <c:ser>
          <c:idx val="1"/>
          <c:order val="1"/>
          <c:tx>
            <c:strRef>
              <c:f>Sheet1!$C$1</c:f>
              <c:strCache>
                <c:ptCount val="1"/>
                <c:pt idx="0">
                  <c:v>Share of profit</c:v>
                </c:pt>
              </c:strCache>
            </c:strRef>
          </c:tx>
          <c:spPr>
            <a:solidFill>
              <a:srgbClr val="22D3EE"/>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Wholesale</c:v>
                  </c:pt>
                  <c:pt idx="1">
                    <c:v>Retail</c:v>
                  </c:pt>
                  <c:pt idx="2">
                    <c:v>Online</c:v>
                  </c:pt>
                </c:lvl>
              </c:multiLvlStrCache>
            </c:multiLvlStrRef>
          </c:cat>
          <c:val>
            <c:numRef>
              <c:f>Sheet1!$C$2:$C$4</c:f>
              <c:numCache>
                <c:formatCode>General</c:formatCode>
                <c:ptCount val="3"/>
                <c:pt idx="0">
                  <c:v>66</c:v>
                </c:pt>
                <c:pt idx="1">
                  <c:v>17</c:v>
                </c:pt>
                <c:pt idx="2">
                  <c:v>18</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A9B8D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Profit margin on wholesale orders</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34D399"/>
            </a:solidFill>
            <a:effectLst/>
          </c:spPr>
          <c:invertIfNegative val="0"/>
          <c:dLbls>
            <c:numFmt formatCode="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F5B942"/>
              </a:solidFill>
              <a:effectLst/>
            </c:spPr>
          </c:dPt>
          <c:dPt>
            <c:idx val="3"/>
            <c:invertIfNegative val="0"/>
            <c:bubble3D val="0"/>
            <c:spPr>
              <a:solidFill>
                <a:srgbClr val="F87171"/>
              </a:solidFill>
              <a:effectLst/>
            </c:spPr>
          </c:dPt>
          <c:dPt>
            <c:idx val="4"/>
            <c:invertIfNegative val="0"/>
            <c:bubble3D val="0"/>
            <c:spPr>
              <a:solidFill>
                <a:srgbClr val="F87171"/>
              </a:solidFill>
              <a:effectLst/>
            </c:spPr>
          </c:dPt>
          <c:cat>
            <c:multiLvlStrRef>
              <c:f>Sheet1!$A$2:$A$6</c:f>
              <c:multiLvlStrCache>
                <c:ptCount val="5"/>
                <c:lvl>
                  <c:pt idx="0">
                    <c:v>28% off</c:v>
                  </c:pt>
                  <c:pt idx="1">
                    <c:v>30% off</c:v>
                  </c:pt>
                  <c:pt idx="2">
                    <c:v>32% off</c:v>
                  </c:pt>
                  <c:pt idx="3">
                    <c:v>35% off</c:v>
                  </c:pt>
                  <c:pt idx="4">
                    <c:v>38% off</c:v>
                  </c:pt>
                </c:lvl>
              </c:multiLvlStrCache>
            </c:multiLvlStrRef>
          </c:cat>
          <c:val>
            <c:numRef>
              <c:f>Sheet1!$B$2:$B$6</c:f>
              <c:numCache>
                <c:formatCode>General</c:formatCode>
                <c:ptCount val="5"/>
                <c:pt idx="0">
                  <c:v>17.6</c:v>
                </c:pt>
                <c:pt idx="1">
                  <c:v>15.2</c:v>
                </c:pt>
                <c:pt idx="2">
                  <c:v>12.6</c:v>
                </c:pt>
                <c:pt idx="3">
                  <c:v>8.6</c:v>
                </c:pt>
                <c:pt idx="4">
                  <c:v>4.2</c:v>
                </c:pt>
              </c:numCache>
            </c:numRef>
          </c:val>
        </c:ser>
        <c:dLbls>
          <c:numFmt formatCode="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Extra sales volume in Jun-Jul</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A9B8D0"/>
            </a:solidFill>
            <a:effectLst/>
          </c:spPr>
          <c:invertIfNegative val="0"/>
          <c:dLbls>
            <c:numFmt formatCode="&quot;+&quot;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A9B8D0"/>
              </a:solidFill>
              <a:effectLst/>
            </c:spPr>
          </c:dPt>
          <c:dPt>
            <c:idx val="2"/>
            <c:invertIfNegative val="0"/>
            <c:bubble3D val="0"/>
            <c:spPr>
              <a:solidFill>
                <a:srgbClr val="F5B942"/>
              </a:solidFill>
              <a:effectLst/>
            </c:spPr>
          </c:dPt>
          <c:cat>
            <c:multiLvlStrRef>
              <c:f>Sheet1!$A$2:$A$4</c:f>
              <c:multiLvlStrCache>
                <c:ptCount val="3"/>
                <c:lvl>
                  <c:pt idx="0">
                    <c:v>2024 (no extra discount)</c:v>
                  </c:pt>
                  <c:pt idx="1">
                    <c:v>2025 (no extra discount)</c:v>
                  </c:pt>
                  <c:pt idx="2">
                    <c:v>2026 (discount 7.3% to 9.7%)</c:v>
                  </c:pt>
                </c:lvl>
              </c:multiLvlStrCache>
            </c:multiLvlStrRef>
          </c:cat>
          <c:val>
            <c:numRef>
              <c:f>Sheet1!$B$2:$B$4</c:f>
              <c:numCache>
                <c:formatCode>General</c:formatCode>
                <c:ptCount val="3"/>
                <c:pt idx="0">
                  <c:v>5.7</c:v>
                </c:pt>
                <c:pt idx="1">
                  <c:v>5.9</c:v>
                </c:pt>
                <c:pt idx="2">
                  <c:v>5.2</c:v>
                </c:pt>
              </c:numCache>
            </c:numRef>
          </c:val>
        </c:ser>
        <c:dLbls>
          <c:numFmt formatCode="&quot;+&quot;0.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New customers who buy again the next quarter</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22D3EE"/>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22D3EE"/>
              </a:solidFill>
              <a:effectLst/>
            </c:spPr>
          </c:dPt>
          <c:dPt>
            <c:idx val="1"/>
            <c:invertIfNegative val="0"/>
            <c:bubble3D val="0"/>
            <c:spPr>
              <a:solidFill>
                <a:srgbClr val="F5B942"/>
              </a:solidFill>
              <a:effectLst/>
            </c:spPr>
          </c:dPt>
          <c:cat>
            <c:multiLvlStrRef>
              <c:f>Sheet1!$A$2:$A$3</c:f>
              <c:multiLvlStrCache>
                <c:ptCount val="2"/>
                <c:lvl>
                  <c:pt idx="0">
                    <c:v>First customer group (Q4 2023)</c:v>
                  </c:pt>
                  <c:pt idx="1">
                    <c:v>Recent groups (2025+)</c:v>
                  </c:pt>
                </c:lvl>
              </c:multiLvlStrCache>
            </c:multiLvlStrRef>
          </c:cat>
          <c:val>
            <c:numRef>
              <c:f>Sheet1!$B$2:$B$3</c:f>
              <c:numCache>
                <c:formatCode>General</c:formatCode>
                <c:ptCount val="2"/>
                <c:pt idx="0">
                  <c:v>91</c:v>
                </c:pt>
                <c:pt idx="1">
                  <c:v>44</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Days of stock on hand</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87171"/>
            </a:solidFill>
            <a:effectLst/>
          </c:spPr>
          <c:invertIfNegative val="0"/>
          <c:dLbls>
            <c:numFmt formatCode="0&quot; days&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3B82F6"/>
              </a:solidFill>
              <a:effectLst/>
            </c:spPr>
          </c:dPt>
          <c:dPt>
            <c:idx val="2"/>
            <c:invertIfNegative val="0"/>
            <c:bubble3D val="0"/>
            <c:spPr>
              <a:solidFill>
                <a:srgbClr val="3B82F6"/>
              </a:solidFill>
              <a:effectLst/>
            </c:spPr>
          </c:dPt>
          <c:cat>
            <c:multiLvlStrRef>
              <c:f>Sheet1!$A$2:$A$4</c:f>
              <c:multiLvlStrCache>
                <c:ptCount val="3"/>
                <c:lvl>
                  <c:pt idx="0">
                    <c:v>Wholesale</c:v>
                  </c:pt>
                  <c:pt idx="1">
                    <c:v>Retail store</c:v>
                  </c:pt>
                  <c:pt idx="2">
                    <c:v>Online store</c:v>
                  </c:pt>
                </c:lvl>
              </c:multiLvlStrCache>
            </c:multiLvlStrRef>
          </c:cat>
          <c:val>
            <c:numRef>
              <c:f>Sheet1!$B$2:$B$4</c:f>
              <c:numCache>
                <c:formatCode>General</c:formatCode>
                <c:ptCount val="3"/>
                <c:pt idx="0">
                  <c:v>11</c:v>
                </c:pt>
                <c:pt idx="1">
                  <c:v>118</c:v>
                </c:pt>
                <c:pt idx="2">
                  <c:v>113</c:v>
                </c:pt>
              </c:numCache>
            </c:numRef>
          </c:val>
        </c:ser>
        <c:dLbls>
          <c:numFmt formatCode="0&quot; days&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Share of orders delivered on time (approx.)</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A9B8D0"/>
            </a:solidFill>
            <a:effectLst/>
          </c:spPr>
          <c:invertIfNegative val="0"/>
          <c:dLbls>
            <c:numFmt formatCode="&quot;~&quot;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A9B8D0"/>
              </a:solidFill>
              <a:effectLst/>
            </c:spPr>
          </c:dPt>
          <c:dPt>
            <c:idx val="1"/>
            <c:invertIfNegative val="0"/>
            <c:bubble3D val="0"/>
            <c:spPr>
              <a:solidFill>
                <a:srgbClr val="F87171"/>
              </a:solidFill>
              <a:effectLst/>
            </c:spPr>
          </c:dPt>
          <c:dPt>
            <c:idx val="2"/>
            <c:invertIfNegative val="0"/>
            <c:bubble3D val="0"/>
            <c:spPr>
              <a:solidFill>
                <a:srgbClr val="34D399"/>
              </a:solidFill>
              <a:effectLst/>
            </c:spPr>
          </c:dPt>
          <c:cat>
            <c:multiLvlStrRef>
              <c:f>Sheet1!$A$2:$A$4</c:f>
              <c:multiLvlStrCache>
                <c:ptCount val="3"/>
                <c:lvl>
                  <c:pt idx="0">
                    <c:v>SUP04 &amp; SUP09 before 2025</c:v>
                  </c:pt>
                  <c:pt idx="1">
                    <c:v>SUP04 &amp; SUP09 since 2025</c:v>
                  </c:pt>
                  <c:pt idx="2">
                    <c:v>Other 10 suppliers</c:v>
                  </c:pt>
                </c:lvl>
              </c:multiLvlStrCache>
            </c:multiLvlStrRef>
          </c:cat>
          <c:val>
            <c:numRef>
              <c:f>Sheet1!$B$2:$B$4</c:f>
              <c:numCache>
                <c:formatCode>General</c:formatCode>
                <c:ptCount val="3"/>
                <c:pt idx="0">
                  <c:v>65</c:v>
                </c:pt>
                <c:pt idx="1">
                  <c:v>15</c:v>
                </c:pt>
                <c:pt idx="2">
                  <c:v>71</c:v>
                </c:pt>
              </c:numCache>
            </c:numRef>
          </c:val>
        </c:ser>
        <c:dLbls>
          <c:numFmt formatCode="&quot;~&quot;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Share of delay days by stage</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F87171"/>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F5B942"/>
              </a:solidFill>
              <a:effectLst/>
            </c:spPr>
          </c:dPt>
          <c:dPt>
            <c:idx val="2"/>
            <c:invertIfNegative val="0"/>
            <c:bubble3D val="0"/>
            <c:spPr>
              <a:solidFill>
                <a:srgbClr val="A9B8D0"/>
              </a:solidFill>
              <a:effectLst/>
            </c:spPr>
          </c:dPt>
          <c:cat>
            <c:multiLvlStrRef>
              <c:f>Sheet1!$A$2:$A$4</c:f>
              <c:multiLvlStrCache>
                <c:ptCount val="3"/>
                <c:lvl>
                  <c:pt idx="0">
                    <c:v>Sewing</c:v>
                  </c:pt>
                  <c:pt idx="1">
                    <c:v>Finishing</c:v>
                  </c:pt>
                  <c:pt idx="2">
                    <c:v>All other stages</c:v>
                  </c:pt>
                </c:lvl>
              </c:multiLvlStrCache>
            </c:multiLvlStrRef>
          </c:cat>
          <c:val>
            <c:numRef>
              <c:f>Sheet1!$B$2:$B$4</c:f>
              <c:numCache>
                <c:formatCode>General</c:formatCode>
                <c:ptCount val="3"/>
                <c:pt idx="0">
                  <c:v>42</c:v>
                </c:pt>
                <c:pt idx="1">
                  <c:v>26</c:v>
                </c:pt>
                <c:pt idx="2">
                  <c:v>32</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5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Estimated cost of poor quality (3 years)</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F87171"/>
            </a:solidFill>
            <a:effectLst/>
          </c:spPr>
          <c:invertIfNegative val="0"/>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87171"/>
              </a:solidFill>
              <a:effectLst/>
            </c:spPr>
          </c:dPt>
          <c:dPt>
            <c:idx val="1"/>
            <c:invertIfNegative val="0"/>
            <c:bubble3D val="0"/>
            <c:spPr>
              <a:solidFill>
                <a:srgbClr val="A78BFA"/>
              </a:solidFill>
              <a:effectLst/>
            </c:spPr>
          </c:dPt>
          <c:dPt>
            <c:idx val="2"/>
            <c:invertIfNegative val="0"/>
            <c:bubble3D val="0"/>
            <c:spPr>
              <a:solidFill>
                <a:srgbClr val="F5B942"/>
              </a:solidFill>
              <a:effectLst/>
            </c:spPr>
          </c:dPt>
          <c:dPt>
            <c:idx val="3"/>
            <c:invertIfNegative val="0"/>
            <c:bubble3D val="0"/>
            <c:spPr>
              <a:solidFill>
                <a:srgbClr val="F5B942"/>
              </a:solidFill>
              <a:effectLst/>
            </c:spPr>
          </c:dPt>
          <c:cat>
            <c:multiLvlStrRef>
              <c:f>Sheet1!$A$2:$A$5</c:f>
              <c:multiLvlStrCache>
                <c:ptCount val="4"/>
                <c:lvl>
                  <c:pt idx="0">
                    <c:v>Rejected at inspection</c:v>
                  </c:pt>
                  <c:pt idx="1">
                    <c:v>Refunds for quality returns</c:v>
                  </c:pt>
                  <c:pt idx="2">
                    <c:v>Print rework</c:v>
                  </c:pt>
                  <c:pt idx="3">
                    <c:v>Wasted print materials</c:v>
                  </c:pt>
                </c:lvl>
              </c:multiLvlStrCache>
            </c:multiLvlStrRef>
          </c:cat>
          <c:val>
            <c:numRef>
              <c:f>Sheet1!$B$2:$B$5</c:f>
              <c:numCache>
                <c:formatCode>General</c:formatCode>
                <c:ptCount val="4"/>
                <c:pt idx="0">
                  <c:v>16.3</c:v>
                </c:pt>
                <c:pt idx="1">
                  <c:v>2.5</c:v>
                </c:pt>
                <c:pt idx="2">
                  <c:v>0.8</c:v>
                </c:pt>
                <c:pt idx="3">
                  <c:v>0.7</c:v>
                </c:pt>
              </c:numCache>
            </c:numRef>
          </c:val>
        </c:ser>
        <c:dLbls>
          <c:numFmt formatCode="&quot;EGP &quot;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A9B8D0"/>
                </a:solidFill>
                <a:latin typeface="Arial"/>
              </a:defRPr>
            </a:pPr>
            <a:r>
              <a:rPr sz="1400" b="0" i="0" u="none" strike="noStrike">
                <a:solidFill>
                  <a:srgbClr val="A9B8D0"/>
                </a:solidFill>
                <a:latin typeface="Arial"/>
              </a:rPr>
              <a:t>Reported sales per EGP 1 of ad spend</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34D399"/>
            </a:solidFill>
            <a:effectLst/>
          </c:spPr>
          <c:invertIfNegative val="0"/>
          <c:dLbls>
            <c:numFmt formatCode="&quot;EGP &quot;0.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F5B942"/>
              </a:solidFill>
              <a:effectLst/>
            </c:spPr>
          </c:dPt>
          <c:dPt>
            <c:idx val="3"/>
            <c:invertIfNegative val="0"/>
            <c:bubble3D val="0"/>
            <c:spPr>
              <a:solidFill>
                <a:srgbClr val="F5B942"/>
              </a:solidFill>
              <a:effectLst/>
            </c:spPr>
          </c:dPt>
          <c:dPt>
            <c:idx val="4"/>
            <c:invertIfNegative val="0"/>
            <c:bubble3D val="0"/>
            <c:spPr>
              <a:solidFill>
                <a:srgbClr val="F87171"/>
              </a:solidFill>
              <a:effectLst/>
            </c:spPr>
          </c:dPt>
          <c:cat>
            <c:multiLvlStrRef>
              <c:f>Sheet1!$A$2:$A$6</c:f>
              <c:multiLvlStrCache>
                <c:ptCount val="5"/>
                <c:lvl>
                  <c:pt idx="0">
                    <c:v>WhatsApp / CRM msgs</c:v>
                  </c:pt>
                  <c:pt idx="1">
                    <c:v>Google</c:v>
                  </c:pt>
                  <c:pt idx="2">
                    <c:v>TikTok</c:v>
                  </c:pt>
                  <c:pt idx="3">
                    <c:v>Meta</c:v>
                  </c:pt>
                  <c:pt idx="4">
                    <c:v>Influencer</c:v>
                  </c:pt>
                </c:lvl>
              </c:multiLvlStrCache>
            </c:multiLvlStrRef>
          </c:cat>
          <c:val>
            <c:numRef>
              <c:f>Sheet1!$B$2:$B$6</c:f>
              <c:numCache>
                <c:formatCode>General</c:formatCode>
                <c:ptCount val="5"/>
                <c:pt idx="0">
                  <c:v>67</c:v>
                </c:pt>
                <c:pt idx="1">
                  <c:v>10.3</c:v>
                </c:pt>
                <c:pt idx="2">
                  <c:v>4.9</c:v>
                </c:pt>
                <c:pt idx="3">
                  <c:v>4.4</c:v>
                </c:pt>
                <c:pt idx="4">
                  <c:v>1.1</c:v>
                </c:pt>
              </c:numCache>
            </c:numRef>
          </c:val>
        </c:ser>
        <c:dLbls>
          <c:numFmt formatCode="&quot;EGP &quot;0.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c:v>
                </c:pt>
              </c:strCache>
            </c:strRef>
          </c:tx>
          <c:spPr>
            <a:solidFill>
              <a:srgbClr val="34D399"/>
            </a:solidFill>
            <a:effectLst/>
          </c:spPr>
          <c:invertIfNegative val="0"/>
          <c:dLbls>
            <c:numFmt formatCode="&quot;EGP &quot;0.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34D399"/>
              </a:solidFill>
              <a:effectLst/>
            </c:spPr>
          </c:dPt>
          <c:dPt>
            <c:idx val="1"/>
            <c:invertIfNegative val="0"/>
            <c:bubble3D val="0"/>
            <c:spPr>
              <a:solidFill>
                <a:srgbClr val="34D399"/>
              </a:solidFill>
              <a:effectLst/>
            </c:spPr>
          </c:dPt>
          <c:dPt>
            <c:idx val="2"/>
            <c:invertIfNegative val="0"/>
            <c:bubble3D val="0"/>
            <c:spPr>
              <a:solidFill>
                <a:srgbClr val="22D3EE"/>
              </a:solidFill>
              <a:effectLst/>
            </c:spPr>
          </c:dPt>
          <c:dPt>
            <c:idx val="3"/>
            <c:invertIfNegative val="0"/>
            <c:bubble3D val="0"/>
            <c:spPr>
              <a:solidFill>
                <a:srgbClr val="A9B8D0"/>
              </a:solidFill>
              <a:effectLst/>
            </c:spPr>
          </c:dPt>
          <c:dPt>
            <c:idx val="4"/>
            <c:invertIfNegative val="0"/>
            <c:bubble3D val="0"/>
            <c:spPr>
              <a:solidFill>
                <a:srgbClr val="A9B8D0"/>
              </a:solidFill>
              <a:effectLst/>
            </c:spPr>
          </c:dPt>
          <c:dPt>
            <c:idx val="5"/>
            <c:invertIfNegative val="0"/>
            <c:bubble3D val="0"/>
            <c:spPr>
              <a:solidFill>
                <a:srgbClr val="A9B8D0"/>
              </a:solidFill>
              <a:effectLst/>
            </c:spPr>
          </c:dPt>
          <c:dPt>
            <c:idx val="6"/>
            <c:invertIfNegative val="0"/>
            <c:bubble3D val="0"/>
            <c:spPr>
              <a:solidFill>
                <a:srgbClr val="A9B8D0"/>
              </a:solidFill>
              <a:effectLst/>
            </c:spPr>
          </c:dPt>
          <c:cat>
            <c:multiLvlStrRef>
              <c:f>Sheet1!$A$2:$A$8</c:f>
              <c:multiLvlStrCache>
                <c:ptCount val="7"/>
                <c:lvl>
                  <c:pt idx="0">
                    <c:v>Wholesale discount limits</c:v>
                  </c:pt>
                  <c:pt idx="1">
                    <c:v>Protect minimum margin</c:v>
                  </c:pt>
                  <c:pt idx="2">
                    <c:v>Reduce poor quality</c:v>
                  </c:pt>
                  <c:pt idx="3">
                    <c:v>Win back quiet customers</c:v>
                  </c:pt>
                  <c:pt idx="4">
                    <c:v>Fewer wholesale stockouts</c:v>
                  </c:pt>
                  <c:pt idx="5">
                    <c:v>Shift ad budget</c:v>
                  </c:pt>
                  <c:pt idx="6">
                    <c:v>Fewer size / fit returns</c:v>
                  </c:pt>
                </c:lvl>
              </c:multiLvlStrCache>
            </c:multiLvlStrRef>
          </c:cat>
          <c:val>
            <c:numRef>
              <c:f>Sheet1!$B$2:$B$8</c:f>
              <c:numCache>
                <c:formatCode>General</c:formatCode>
                <c:ptCount val="7"/>
                <c:pt idx="0">
                  <c:v>3.87</c:v>
                </c:pt>
                <c:pt idx="1">
                  <c:v>3.29</c:v>
                </c:pt>
                <c:pt idx="2">
                  <c:v>1.09</c:v>
                </c:pt>
                <c:pt idx="3">
                  <c:v>0.24</c:v>
                </c:pt>
                <c:pt idx="4">
                  <c:v>0.18</c:v>
                </c:pt>
                <c:pt idx="5">
                  <c:v>0.09</c:v>
                </c:pt>
                <c:pt idx="6">
                  <c:v>0.02</c:v>
                </c:pt>
              </c:numCache>
            </c:numRef>
          </c:val>
        </c:ser>
        <c:dLbls>
          <c:numFmt formatCode="&quot;EGP &quot;0.00&quot;M&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A9B8D0"/>
                </a:solidFill>
                <a:latin typeface="Calibri"/>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A9B8D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the next 15 minutes I will show you three things: where your business stands, where money is being lost, and what to do first. Everything comes from your own sales, stock, factory, supplier and marketing data over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Over three years you sold EGP 421 million and kept EGP 65 million as gross profit, a 15.4 percent margin. Our base-case estimate is that EGP 8.8 million a year of profit is being lost, mostly through discounts. That is about 38 percent of last year's gross profit of around EGP 23 million. The next slides show where it goes and what to do. Note: profit here is gross profit using estimated product costs, and the 8.8 million is a base-case estimate before the cost of making changes. Next, let us see whether that sales growth is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grew almost 11 percent in the second year but only 3 percent in the last year. The profit margin stayed flat at about 15 and a half percent. So we are working harder to sell more but not keeping more of each riyal. The reason is on the next slides. So where does the profit come from? Let us look at the three channels.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is your volume engine: EGP 359 million of sales. But it earns only 11.9 piasters on each riyal, while retail earns 37 and online 35. The product costs the same everywhere, so the difference is price, mainly discounts. A unit sold at retail earns EGP 126 profit, one sold wholesale earns EGP 29. Also note online grew 60 percent in two years, wholesale 13 percent, and the retail store shrank 5 percent. Why is wholesale margin so thin? The answer is discounts.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discounts range from 28 to 38 percent. At 28 percent off we still earn about 18 percent margin; at 38 percent off, about 4 percent. 4,876 wholesale invoices, about one in ten, were sold below cost, losing EGP 1.4 million. Overall, wholesale gave away EGP 173.9 million in discounts, which is 80 percent of the profit it could have made before discounts. But do those discounts at least bring us more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tests. First, wholesale discount has no link to order size: a 60-unit order is as likely to get 28 percent off as a 12-unit order is to get 38. There is no volume rule today. Second, last summer's promotion: discount went from 7.3 to 9.7 percent, but sales volume rose 5.2 percent, the same as in 2024 and 2025 when we gave no extra discount. So profit per day fell 2.7 percent instead of rising. The message: we are giving margin away without clear proof that it creates extra demand. Pricing is not the only issue. Let us look at our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retail customers who used to buy often and have not bought for a median of 229 days. They are 16 percent of customers but 32 percent of sales, and 65 percent agreed to WhatsApp or SMS messages, so we can contact them. Also, new customers come back much less than before: next-quarter return fell from 91 percent for the first group to about 44 percent for recent groups. In addition, 6,625 retail customers have not bought for more than six months, worth EGP 22 million of past sales. A win-back campaign through WhatsApp is cheap, about EGP 7 per order. Base-case value EGP 0.24 million a year, range 0.12 to 0.36. Now the operation, starting with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Wholesale holds only about 11 days of stock, and 36 of 59 products are below the reorder level or out of stock. Retail and online hold nearly four months. That means EGP 7.5 million of excess stock, about half of all stock value, while wholesale loses sales: we estimate EGP 1.06 million of profit lost to stockouts over three years. We built a forecast that is accurate enough to plan with, about 23 percent error per product and location versus 54 percent for a simple rule. It says wholesale needs about EGP 10 million of orders, and buying should stop on overstocked retail and online products. Stock depends on suppliers.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SUP04, who supplies printing consumables, and SUP09, who supplies trims, delivered on time about 65 percent of the time until 2024, then fell to about 15 percent in 2025. The other ten suppliers stayed steady near 71 percent. These two carry 16 percent of purchase spend, and thread, ink and rib cotton are the highest shortage risks. An important point: we tested whether late suppliers cause late factory orders and found no link so far. So this is a risk to fix before it hits production, not yet the cause of today's delays. Actions: enforce the contract with SUP04, contract or replace SUP09, hold safety stock of thread and ink. And suppliers feed the factory.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factory orders finish late, 68 percent of the lost days come from sewing and finishing. Production line 4 is late 20 percent of the time versus 15 percent on the other lines, which is a real difference and not chance. Orders that need more than 15 hours of overtime are late two thirds of the time, so overtime is a symptom, not a cure. All lines produce about 91 percent of plan with about 2.5 percent rejects. Actions: rebalance sewing and finishing, review line 4, cap overtime. One caution: production-order volumes are about 3.8 times the units we sold, so the factory likely also produces for others or builds stock; this needs to be clarified. The factory also decides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estimate the cost of poor quality at EGP 20.3 million over three years, 31 percent of gross profit. Most of it, EGP 16.3 million, is products rejected at inspection. No single defect dominates: losses are spread evenly across nine types, so the fix is better process control, not one quick repair. Also 12 percent of the loss is not classified, which makes it hard to manage. Customer returns tell a second story: 36 percent are about size and fit, which is a product-information issue, not a factory one. Printer PR-M03 rejects the most and PR-M02 loses the most hours to breakdowns. Estimated reduction of 20 percent is worth about EGP 1.1 million a year. Now marketing, the last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sales that each platform reports for each riyal of ad spend. WhatsApp and CRM messages and Google are efficient; Meta and TikTok are middle; influencers barely return their cost. Please be careful: the platforms together claim 5.5 times more sales than our online store actually made, so the true returns are lower. As a rule, an ad must bring about 2.8 riyals of sales per riyal spent just to cover itself from profit. Recommendation: cut half of influencer spend, pause the seven weakest campaigns, give Google 30 percent more, and test Meta and TikTok before spending more. This is a small, uncertain gain, from minus 20 thousand to plus 1 million a year. Also, the website sells 2.9 percent of visits, falling to 2.0 percent when pages load slower than 3.5 seconds. Let us put a value on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to act first. In the base case, EGP 8.8 million of annual gross profit is at stake. The top two items, both about wholesale pricing, are EGP 3.9 million for discount limits by order size and EGP 3.3 million for protecting minimum margins, together 82 percent. Next is quality at EGP 1.1 million. Everything else is below EGP 0.3 million each. The ranges: pricing assumes customers might buy up to 20 percent less on repriced orders; we observed no such reaction, and the plan stays profitable even if customers buy 48 percent less. Ranges are low to high: discount limits 2.9 to 4.9, margin floor 2.7 to 3.9, quality 0.5 to 1.6, win-back 0.1 to 0.4, stockouts 0.1 to 0.3, marketing minus 0.02 to 1.0, size/fit 0.01 to 0.04, all in EGP millions. So what do we do about it?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fix. When a salesperson prepares a wholesale quote, the Deal Desk checks the order size and customer, suggests the maximum discount, checks the margin, and sends exceptions for approval. The rules: up to 28 percent off for 12 to 23 units, 30 percent for 24 to 47, 32 percent for 48 and above, so bigger orders earn bigger discounts, which does not happen today. Phase two adds a minimum 15 percent margin, with manager approval if margin is at least 8 percent, director approval below that, and never below cost. A working prototype exists. Tested on three years of real invoices it would have added EGP 2.9 to 4.9 million a year for phase one. The same approach, using data to give a recommendation that a manager acts on, can later support win-back, stock planning, supplier warnings, factory monitoring and ad budgets. It supports decisions, it does not replace people. Here is the order we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pilot the Deal Desk with the 25 customers who receive the most excess discount, block below-cost quotes, stop influencer spending, and enforce the contract with SUP04. Next: win back the 3,745 quiet customers, start forecast-based ordering for wholesale, and stop buying overstocked retail and online products. Then: add the minimum margin rule, and build monitoring for suppliers, factory delays and quality, plus a size guide online. To close: HVIA did not only analyse your data. We found where value is being lost, where profitable growth is available, and how to turn those decisions into daily practice. The strongest opportunity is EGP 2.9 to 4.9 million of profit per year from pricing alone. Finally, the decision we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ask from you today. Approve a 90-day pilot of the Deal Desk limits for wholesale, starting with the 25 customers who receive the most excess discount, with a comparison group so we can measure real volume and margin. In parallel, Finance confirms product costs, and we reconcile the three data sets that do not match. The numbers in this presentation are estimates from three years of history, not guaranteed results. If the pilot confirms them, we move to win-back, forecast-based ordering and monitoring. The Deal Desk prototype and the demand forecast are built; supplier, factory and quality monitoring are future work.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7.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9.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0.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1.xm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7863840" y="-1097280"/>
            <a:ext cx="6400800" cy="6400800"/>
          </a:xfrm>
          <a:prstGeom prst="ellipse">
            <a:avLst/>
          </a:prstGeom>
          <a:solidFill>
            <a:srgbClr val="22D3EE">
              <a:alpha val="7000"/>
            </a:srgbClr>
          </a:solidFill>
          <a:ln w="12700">
            <a:solidFill>
              <a:srgbClr val="22D3EE">
                <a:alpha val="30000"/>
              </a:srgbClr>
            </a:solidFill>
            <a:prstDash val="solid"/>
          </a:ln>
        </p:spPr>
      </p:sp>
      <p:pic>
        <p:nvPicPr>
          <p:cNvPr id="3" name="Image 0" descr="logo.png">    </p:cNvPr>
          <p:cNvPicPr>
            <a:picLocks noChangeAspect="1"/>
          </p:cNvPicPr>
          <p:nvPr/>
        </p:nvPicPr>
        <p:blipFill>
          <a:blip r:embed="rId1"/>
          <a:stretch>
            <a:fillRect/>
          </a:stretch>
        </p:blipFill>
        <p:spPr>
          <a:xfrm>
            <a:off x="731520" y="640080"/>
            <a:ext cx="2377440" cy="996696"/>
          </a:xfrm>
          <a:prstGeom prst="rect">
            <a:avLst/>
          </a:prstGeom>
        </p:spPr>
      </p:pic>
      <p:sp>
        <p:nvSpPr>
          <p:cNvPr id="4" name="Text 1"/>
          <p:cNvSpPr txBox="1"/>
          <p:nvPr/>
        </p:nvSpPr>
        <p:spPr>
          <a:xfrm>
            <a:off x="731520" y="2468880"/>
            <a:ext cx="10058400" cy="82296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EL SHARNOUBY GROUP</a:t>
            </a:r>
            <a:endParaRPr lang="en-US" sz="4800" dirty="0"/>
          </a:p>
        </p:txBody>
      </p:sp>
      <p:sp>
        <p:nvSpPr>
          <p:cNvPr id="5" name="Text 2"/>
          <p:cNvSpPr txBox="1"/>
          <p:nvPr/>
        </p:nvSpPr>
        <p:spPr>
          <a:xfrm>
            <a:off x="731520" y="3383280"/>
            <a:ext cx="10515600" cy="457200"/>
          </a:xfrm>
          <a:prstGeom prst="rect">
            <a:avLst/>
          </a:prstGeom>
          <a:noFill/>
          <a:ln/>
        </p:spPr>
        <p:txBody>
          <a:bodyPr wrap="square" lIns="0" tIns="0" rIns="0" bIns="0" rtlCol="0" anchor="t"/>
          <a:lstStyle/>
          <a:p>
            <a:pPr indent="0" marL="0">
              <a:buNone/>
            </a:pPr>
            <a:r>
              <a:rPr lang="en-US" sz="2200" dirty="0">
                <a:solidFill>
                  <a:srgbClr val="22D3EE"/>
                </a:solidFill>
                <a:latin typeface="Calibri" pitchFamily="34" charset="0"/>
                <a:ea typeface="Calibri" pitchFamily="34" charset="-122"/>
                <a:cs typeface="Calibri" pitchFamily="34" charset="-120"/>
              </a:rPr>
              <a:t>Executive Business Intelligence &amp; AI Opportunity Assessment</a:t>
            </a:r>
            <a:endParaRPr lang="en-US" sz="2200" dirty="0"/>
          </a:p>
        </p:txBody>
      </p:sp>
      <p:sp>
        <p:nvSpPr>
          <p:cNvPr id="6" name="Shape 3"/>
          <p:cNvSpPr/>
          <p:nvPr/>
        </p:nvSpPr>
        <p:spPr>
          <a:xfrm>
            <a:off x="731520" y="4114800"/>
            <a:ext cx="1097280" cy="45720"/>
          </a:xfrm>
          <a:prstGeom prst="rect">
            <a:avLst/>
          </a:prstGeom>
          <a:solidFill>
            <a:srgbClr val="22D3EE"/>
          </a:solidFill>
          <a:ln/>
        </p:spPr>
      </p:sp>
      <p:sp>
        <p:nvSpPr>
          <p:cNvPr id="7" name="Text 4"/>
          <p:cNvSpPr txBox="1"/>
          <p:nvPr/>
        </p:nvSpPr>
        <p:spPr>
          <a:xfrm>
            <a:off x="731520" y="4343400"/>
            <a:ext cx="7315200" cy="365760"/>
          </a:xfrm>
          <a:prstGeom prst="rect">
            <a:avLst/>
          </a:prstGeom>
          <a:noFill/>
          <a:ln/>
        </p:spPr>
        <p:txBody>
          <a:bodyPr wrap="square" lIns="0" tIns="0" rIns="0" bIns="0" rtlCol="0" anchor="t"/>
          <a:lstStyle/>
          <a:p>
            <a:pPr indent="0" marL="0">
              <a:buNone/>
            </a:pPr>
            <a:r>
              <a:rPr lang="en-US" sz="1800" dirty="0">
                <a:solidFill>
                  <a:srgbClr val="A9B8D0"/>
                </a:solidFill>
                <a:latin typeface="Calibri" pitchFamily="34" charset="0"/>
                <a:ea typeface="Calibri" pitchFamily="34" charset="-122"/>
                <a:cs typeface="Calibri" pitchFamily="34" charset="-120"/>
              </a:rPr>
              <a:t>From Data to Decisions</a:t>
            </a:r>
            <a:endParaRPr lang="en-US" sz="1800" dirty="0"/>
          </a:p>
        </p:txBody>
      </p:sp>
      <p:sp>
        <p:nvSpPr>
          <p:cNvPr id="8" name="Text 5"/>
          <p:cNvSpPr txBox="1"/>
          <p:nvPr/>
        </p:nvSpPr>
        <p:spPr>
          <a:xfrm>
            <a:off x="731520" y="6217920"/>
            <a:ext cx="10515600" cy="274320"/>
          </a:xfrm>
          <a:prstGeom prst="rect">
            <a:avLst/>
          </a:prstGeom>
          <a:noFill/>
          <a:ln/>
        </p:spPr>
        <p:txBody>
          <a:bodyPr wrap="square" lIns="0" tIns="0" rIns="0" bIns="0" rtlCol="0" anchor="t"/>
          <a:lstStyle/>
          <a:p>
            <a:pPr indent="0" marL="0">
              <a:buNone/>
            </a:pPr>
            <a:r>
              <a:rPr lang="en-US" sz="1100" dirty="0">
                <a:solidFill>
                  <a:srgbClr val="A9B8D0"/>
                </a:solidFill>
                <a:latin typeface="Calibri" pitchFamily="34" charset="0"/>
                <a:ea typeface="Calibri" pitchFamily="34" charset="-122"/>
                <a:cs typeface="Calibri" pitchFamily="34" charset="-120"/>
              </a:rPr>
              <a:t>Prepared by HVIA Data &amp; AI Solutions  |  Data: Oct 2023 - Sep 2026 (three years, Oct-Sep)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30-SECOND PICTURE</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We sell a lot, we earn little - and we estimate up to EGP 8.8M a year could be recovered</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3 years, Oct 2023 - Sep 2026, all channels. Profit = gross profit (estimated product cost). Win-back = base-case estimate per year.</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2</a:t>
            </a:r>
            <a:endParaRPr lang="en-US" sz="1100" dirty="0"/>
          </a:p>
        </p:txBody>
      </p:sp>
      <p:sp>
        <p:nvSpPr>
          <p:cNvPr id="9" name="Shape 5"/>
          <p:cNvSpPr/>
          <p:nvPr/>
        </p:nvSpPr>
        <p:spPr>
          <a:xfrm>
            <a:off x="548640" y="2011680"/>
            <a:ext cx="3566160" cy="2606040"/>
          </a:xfrm>
          <a:prstGeom prst="roundRect">
            <a:avLst>
              <a:gd name="adj" fmla="val 3509"/>
            </a:avLst>
          </a:prstGeom>
          <a:solidFill>
            <a:srgbClr val="0A1F3A"/>
          </a:solidFill>
          <a:ln w="12700">
            <a:solidFill>
              <a:srgbClr val="22D3EE"/>
            </a:solidFill>
            <a:prstDash val="solid"/>
          </a:ln>
        </p:spPr>
      </p:sp>
      <p:sp>
        <p:nvSpPr>
          <p:cNvPr id="10" name="Text 6"/>
          <p:cNvSpPr txBox="1"/>
          <p:nvPr/>
        </p:nvSpPr>
        <p:spPr>
          <a:xfrm>
            <a:off x="822960" y="2286000"/>
            <a:ext cx="3108960" cy="868680"/>
          </a:xfrm>
          <a:prstGeom prst="rect">
            <a:avLst/>
          </a:prstGeom>
          <a:noFill/>
          <a:ln/>
        </p:spPr>
        <p:txBody>
          <a:bodyPr wrap="square" lIns="0" tIns="0" rIns="0" bIns="0" rtlCol="0" anchor="t"/>
          <a:lstStyle/>
          <a:p>
            <a:pPr indent="0" marL="0">
              <a:buNone/>
            </a:pPr>
            <a:r>
              <a:rPr lang="en-US" sz="4600" b="1" dirty="0">
                <a:solidFill>
                  <a:srgbClr val="22D3EE"/>
                </a:solidFill>
                <a:latin typeface="Calibri" pitchFamily="34" charset="0"/>
                <a:ea typeface="Calibri" pitchFamily="34" charset="-122"/>
                <a:cs typeface="Calibri" pitchFamily="34" charset="-120"/>
              </a:rPr>
              <a:t>EGP 421M</a:t>
            </a:r>
            <a:endParaRPr lang="en-US" sz="4600" dirty="0"/>
          </a:p>
        </p:txBody>
      </p:sp>
      <p:sp>
        <p:nvSpPr>
          <p:cNvPr id="11" name="Text 7"/>
          <p:cNvSpPr txBox="1"/>
          <p:nvPr/>
        </p:nvSpPr>
        <p:spPr>
          <a:xfrm>
            <a:off x="822960" y="320040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sales in three years</a:t>
            </a:r>
            <a:endParaRPr lang="en-US" sz="1600" dirty="0"/>
          </a:p>
        </p:txBody>
      </p:sp>
      <p:sp>
        <p:nvSpPr>
          <p:cNvPr id="12" name="Shape 8"/>
          <p:cNvSpPr/>
          <p:nvPr/>
        </p:nvSpPr>
        <p:spPr>
          <a:xfrm>
            <a:off x="4343400" y="2011680"/>
            <a:ext cx="3566160" cy="2606040"/>
          </a:xfrm>
          <a:prstGeom prst="roundRect">
            <a:avLst>
              <a:gd name="adj" fmla="val 3509"/>
            </a:avLst>
          </a:prstGeom>
          <a:solidFill>
            <a:srgbClr val="0A1F3A"/>
          </a:solidFill>
          <a:ln w="12700">
            <a:solidFill>
              <a:srgbClr val="3B82F6"/>
            </a:solidFill>
            <a:prstDash val="solid"/>
          </a:ln>
        </p:spPr>
      </p:sp>
      <p:sp>
        <p:nvSpPr>
          <p:cNvPr id="13" name="Text 9"/>
          <p:cNvSpPr txBox="1"/>
          <p:nvPr/>
        </p:nvSpPr>
        <p:spPr>
          <a:xfrm>
            <a:off x="4617720" y="2286000"/>
            <a:ext cx="3108960" cy="868680"/>
          </a:xfrm>
          <a:prstGeom prst="rect">
            <a:avLst/>
          </a:prstGeom>
          <a:noFill/>
          <a:ln/>
        </p:spPr>
        <p:txBody>
          <a:bodyPr wrap="square" lIns="0" tIns="0" rIns="0" bIns="0" rtlCol="0" anchor="t"/>
          <a:lstStyle/>
          <a:p>
            <a:pPr indent="0" marL="0">
              <a:buNone/>
            </a:pPr>
            <a:r>
              <a:rPr lang="en-US" sz="4600" b="1" dirty="0">
                <a:solidFill>
                  <a:srgbClr val="3B82F6"/>
                </a:solidFill>
                <a:latin typeface="Calibri" pitchFamily="34" charset="0"/>
                <a:ea typeface="Calibri" pitchFamily="34" charset="-122"/>
                <a:cs typeface="Calibri" pitchFamily="34" charset="-120"/>
              </a:rPr>
              <a:t>EGP 65M</a:t>
            </a:r>
            <a:endParaRPr lang="en-US" sz="4600" dirty="0"/>
          </a:p>
        </p:txBody>
      </p:sp>
      <p:sp>
        <p:nvSpPr>
          <p:cNvPr id="14" name="Text 10"/>
          <p:cNvSpPr txBox="1"/>
          <p:nvPr/>
        </p:nvSpPr>
        <p:spPr>
          <a:xfrm>
            <a:off x="4617720" y="320040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gross profit (only 15.4 piasters per EGP 1 sold)</a:t>
            </a:r>
            <a:endParaRPr lang="en-US" sz="1600" dirty="0"/>
          </a:p>
        </p:txBody>
      </p:sp>
      <p:sp>
        <p:nvSpPr>
          <p:cNvPr id="15" name="Shape 11"/>
          <p:cNvSpPr/>
          <p:nvPr/>
        </p:nvSpPr>
        <p:spPr>
          <a:xfrm>
            <a:off x="8138160" y="2011680"/>
            <a:ext cx="3566160" cy="2606040"/>
          </a:xfrm>
          <a:prstGeom prst="roundRect">
            <a:avLst>
              <a:gd name="adj" fmla="val 3509"/>
            </a:avLst>
          </a:prstGeom>
          <a:solidFill>
            <a:srgbClr val="0A1F3A"/>
          </a:solidFill>
          <a:ln w="12700">
            <a:solidFill>
              <a:srgbClr val="34D399"/>
            </a:solidFill>
            <a:prstDash val="solid"/>
          </a:ln>
        </p:spPr>
      </p:sp>
      <p:sp>
        <p:nvSpPr>
          <p:cNvPr id="16" name="Text 12"/>
          <p:cNvSpPr txBox="1"/>
          <p:nvPr/>
        </p:nvSpPr>
        <p:spPr>
          <a:xfrm>
            <a:off x="8412480" y="2286000"/>
            <a:ext cx="3108960" cy="868680"/>
          </a:xfrm>
          <a:prstGeom prst="rect">
            <a:avLst/>
          </a:prstGeom>
          <a:noFill/>
          <a:ln/>
        </p:spPr>
        <p:txBody>
          <a:bodyPr wrap="square" lIns="0" tIns="0" rIns="0" bIns="0" rtlCol="0" anchor="t"/>
          <a:lstStyle/>
          <a:p>
            <a:pPr indent="0" marL="0">
              <a:buNone/>
            </a:pPr>
            <a:r>
              <a:rPr lang="en-US" sz="4600" b="1" dirty="0">
                <a:solidFill>
                  <a:srgbClr val="34D399"/>
                </a:solidFill>
                <a:latin typeface="Calibri" pitchFamily="34" charset="0"/>
                <a:ea typeface="Calibri" pitchFamily="34" charset="-122"/>
                <a:cs typeface="Calibri" pitchFamily="34" charset="-120"/>
              </a:rPr>
              <a:t>EGP 8.8M</a:t>
            </a:r>
            <a:endParaRPr lang="en-US" sz="4600" dirty="0"/>
          </a:p>
        </p:txBody>
      </p:sp>
      <p:sp>
        <p:nvSpPr>
          <p:cNvPr id="17" name="Text 13"/>
          <p:cNvSpPr txBox="1"/>
          <p:nvPr/>
        </p:nvSpPr>
        <p:spPr>
          <a:xfrm>
            <a:off x="8412480" y="3200400"/>
            <a:ext cx="310896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estimated profit that could be recovered each year (base case, not guaranteed)</a:t>
            </a:r>
            <a:endParaRPr lang="en-US" sz="1600" dirty="0"/>
          </a:p>
        </p:txBody>
      </p:sp>
      <p:sp>
        <p:nvSpPr>
          <p:cNvPr id="18" name="Shape 14"/>
          <p:cNvSpPr/>
          <p:nvPr/>
        </p:nvSpPr>
        <p:spPr>
          <a:xfrm>
            <a:off x="548640" y="4846320"/>
            <a:ext cx="11064240" cy="1234440"/>
          </a:xfrm>
          <a:prstGeom prst="roundRect">
            <a:avLst>
              <a:gd name="adj" fmla="val 7407"/>
            </a:avLst>
          </a:prstGeom>
          <a:solidFill>
            <a:srgbClr val="0A1F3A"/>
          </a:solidFill>
          <a:ln w="12700">
            <a:solidFill>
              <a:srgbClr val="17406E"/>
            </a:solidFill>
            <a:prstDash val="solid"/>
          </a:ln>
        </p:spPr>
      </p:sp>
      <p:sp>
        <p:nvSpPr>
          <p:cNvPr id="19" name="Text 15"/>
          <p:cNvSpPr txBox="1"/>
          <p:nvPr/>
        </p:nvSpPr>
        <p:spPr>
          <a:xfrm>
            <a:off x="822960" y="4956048"/>
            <a:ext cx="4572000" cy="274320"/>
          </a:xfrm>
          <a:prstGeom prst="rect">
            <a:avLst/>
          </a:prstGeom>
          <a:noFill/>
          <a:ln/>
        </p:spPr>
        <p:txBody>
          <a:bodyPr wrap="square" lIns="0" tIns="0" rIns="0" bIns="0" rtlCol="0" anchor="t"/>
          <a:lstStyle/>
          <a:p>
            <a:pPr indent="0" marL="0">
              <a:buNone/>
            </a:pPr>
            <a:r>
              <a:rPr lang="en-US" sz="1100" b="1" spc="200" kern="0" dirty="0">
                <a:solidFill>
                  <a:srgbClr val="22D3EE"/>
                </a:solidFill>
                <a:latin typeface="Calibri" pitchFamily="34" charset="0"/>
                <a:ea typeface="Calibri" pitchFamily="34" charset="-122"/>
                <a:cs typeface="Calibri" pitchFamily="34" charset="-120"/>
              </a:rPr>
              <a:t>WHAT WE ANALYSED</a:t>
            </a:r>
            <a:endParaRPr lang="en-US" sz="1100" dirty="0"/>
          </a:p>
        </p:txBody>
      </p:sp>
      <p:sp>
        <p:nvSpPr>
          <p:cNvPr id="20" name="Text 16"/>
          <p:cNvSpPr txBox="1"/>
          <p:nvPr/>
        </p:nvSpPr>
        <p:spPr>
          <a:xfrm>
            <a:off x="822960" y="5257800"/>
            <a:ext cx="1060704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180,000 invoices | 25,634 customers | 59 products | 3 sales channels: Wholesale, Retail store, Online store | stock, factory, supplier, quality and marketing data | Oct 2023 - Sep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SALES VS PROFIT</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Growth is slowing, and profit is not growing with 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Net sales by fiscal year (Oct-Sep). FY24 = Oct 2023 - Sep 2024. Margin = gross profit / net sales.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3</a:t>
            </a:r>
            <a:endParaRPr lang="en-US" sz="1100" dirty="0"/>
          </a:p>
        </p:txBody>
      </p:sp>
      <p:graphicFrame>
        <p:nvGraphicFramePr>
          <p:cNvPr id="9" name="Chart 0" descr=""/>
          <p:cNvGraphicFramePr/>
          <p:nvPr/>
        </p:nvGraphicFramePr>
        <p:xfrm>
          <a:off x="548640" y="1828800"/>
          <a:ext cx="6217920" cy="36576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315200" y="2011680"/>
            <a:ext cx="438912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+3.3%</a:t>
            </a:r>
            <a:endParaRPr lang="en-US" sz="5400" dirty="0"/>
          </a:p>
        </p:txBody>
      </p:sp>
      <p:sp>
        <p:nvSpPr>
          <p:cNvPr id="11" name="Text 6"/>
          <p:cNvSpPr txBox="1"/>
          <p:nvPr/>
        </p:nvSpPr>
        <p:spPr>
          <a:xfrm>
            <a:off x="7315200" y="2926080"/>
            <a:ext cx="438912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growth in the latest year (it was +10.8% the year before)</a:t>
            </a:r>
            <a:endParaRPr lang="en-US" sz="1600" dirty="0"/>
          </a:p>
        </p:txBody>
      </p:sp>
      <p:sp>
        <p:nvSpPr>
          <p:cNvPr id="12" name="Text 7"/>
          <p:cNvSpPr txBox="1"/>
          <p:nvPr/>
        </p:nvSpPr>
        <p:spPr>
          <a:xfrm>
            <a:off x="7315200" y="4023360"/>
            <a:ext cx="4389120" cy="868680"/>
          </a:xfrm>
          <a:prstGeom prst="rect">
            <a:avLst/>
          </a:prstGeom>
          <a:noFill/>
          <a:ln/>
        </p:spPr>
        <p:txBody>
          <a:bodyPr wrap="square" lIns="0" tIns="0" rIns="0" bIns="0" rtlCol="0" anchor="t"/>
          <a:lstStyle/>
          <a:p>
            <a:pPr indent="0" marL="0">
              <a:buNone/>
            </a:pPr>
            <a:r>
              <a:rPr lang="en-US" sz="5400" b="1" dirty="0">
                <a:solidFill>
                  <a:srgbClr val="22D3EE"/>
                </a:solidFill>
                <a:latin typeface="Calibri" pitchFamily="34" charset="0"/>
                <a:ea typeface="Calibri" pitchFamily="34" charset="-122"/>
                <a:cs typeface="Calibri" pitchFamily="34" charset="-120"/>
              </a:rPr>
              <a:t>~15.5%</a:t>
            </a:r>
            <a:endParaRPr lang="en-US" sz="5400" dirty="0"/>
          </a:p>
        </p:txBody>
      </p:sp>
      <p:sp>
        <p:nvSpPr>
          <p:cNvPr id="13" name="Text 8"/>
          <p:cNvSpPr txBox="1"/>
          <p:nvPr/>
        </p:nvSpPr>
        <p:spPr>
          <a:xfrm>
            <a:off x="7315200" y="4937760"/>
            <a:ext cx="438912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flat for three years (15.3% to 15.6%)</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WHERE THE PROFIT COMES FROM</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Wholesale brings 85% of our sales but only 66% of our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Share of 3-year net sales and gross profit by channel. Profit margin: Wholesale 11.9%, Retail 37.0%, Online 34.9%.</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4</a:t>
            </a:r>
            <a:endParaRPr lang="en-US" sz="1100" dirty="0"/>
          </a:p>
        </p:txBody>
      </p:sp>
      <p:graphicFrame>
        <p:nvGraphicFramePr>
          <p:cNvPr id="9" name="Chart 0" descr=""/>
          <p:cNvGraphicFramePr/>
          <p:nvPr/>
        </p:nvGraphicFramePr>
        <p:xfrm>
          <a:off x="548640" y="1828800"/>
          <a:ext cx="6766560" cy="36576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11.9%</a:t>
            </a:r>
            <a:endParaRPr lang="en-US" sz="5400" dirty="0"/>
          </a:p>
        </p:txBody>
      </p:sp>
      <p:sp>
        <p:nvSpPr>
          <p:cNvPr id="11" name="Text 6"/>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in wholesale</a:t>
            </a:r>
            <a:endParaRPr lang="en-US" sz="1600" dirty="0"/>
          </a:p>
        </p:txBody>
      </p:sp>
      <p:sp>
        <p:nvSpPr>
          <p:cNvPr id="12" name="Text 7"/>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5400" b="1" dirty="0">
                <a:solidFill>
                  <a:srgbClr val="34D399"/>
                </a:solidFill>
                <a:latin typeface="Calibri" pitchFamily="34" charset="0"/>
                <a:ea typeface="Calibri" pitchFamily="34" charset="-122"/>
                <a:cs typeface="Calibri" pitchFamily="34" charset="-120"/>
              </a:rPr>
              <a:t>35-37%</a:t>
            </a:r>
            <a:endParaRPr lang="en-US" sz="5400" dirty="0"/>
          </a:p>
        </p:txBody>
      </p:sp>
      <p:sp>
        <p:nvSpPr>
          <p:cNvPr id="13" name="Text 8"/>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profit margin in retail and online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DISCOUNT PROBLEM</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deeper the wholesale discount, the closer we get to zero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Wholesale invoices, Oct 2023 - Sep 2026. Margin = gross profit / sales. Product cost is an estimate.</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5</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Set discount limits by order size and a minimum margin.   </a:t>
            </a:r>
            <a:pPr indent="0" marL="0">
              <a:buNone/>
            </a:pPr>
            <a:r>
              <a:rPr lang="en-US" sz="1200" dirty="0">
                <a:solidFill>
                  <a:srgbClr val="34D399"/>
                </a:solidFill>
                <a:latin typeface="Calibri" pitchFamily="34" charset="0"/>
                <a:ea typeface="Calibri" pitchFamily="34" charset="-122"/>
                <a:cs typeface="Calibri" pitchFamily="34" charset="-120"/>
              </a:rPr>
              <a:t>Estimate: EGP 2.9-4.9M profit a year (Phase 1).   </a:t>
            </a:r>
            <a:pPr indent="0" marL="0">
              <a:buNone/>
            </a:pPr>
            <a:r>
              <a:rPr lang="en-US" sz="1200" dirty="0">
                <a:solidFill>
                  <a:srgbClr val="F5B942"/>
                </a:solidFill>
                <a:latin typeface="Calibri" pitchFamily="34" charset="0"/>
                <a:ea typeface="Calibri" pitchFamily="34" charset="-122"/>
                <a:cs typeface="Calibri" pitchFamily="34" charset="-120"/>
              </a:rPr>
              <a:t>Confirm: product costs are estimates.</a:t>
            </a:r>
            <a:endParaRPr lang="en-US" sz="1200" dirty="0"/>
          </a:p>
        </p:txBody>
      </p:sp>
      <p:graphicFrame>
        <p:nvGraphicFramePr>
          <p:cNvPr id="12" name="Chart 0" descr=""/>
          <p:cNvGraphicFramePr/>
          <p:nvPr/>
        </p:nvGraphicFramePr>
        <p:xfrm>
          <a:off x="548640" y="1828800"/>
          <a:ext cx="694944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955280" y="1920240"/>
            <a:ext cx="3749040" cy="868680"/>
          </a:xfrm>
          <a:prstGeom prst="rect">
            <a:avLst/>
          </a:prstGeom>
          <a:noFill/>
          <a:ln/>
        </p:spPr>
        <p:txBody>
          <a:bodyPr wrap="square" lIns="0" tIns="0" rIns="0" bIns="0" rtlCol="0" anchor="t"/>
          <a:lstStyle/>
          <a:p>
            <a:pPr indent="0" marL="0">
              <a:buNone/>
            </a:pPr>
            <a:r>
              <a:rPr lang="en-US" sz="4800" b="1" dirty="0">
                <a:solidFill>
                  <a:srgbClr val="F87171"/>
                </a:solidFill>
                <a:latin typeface="Calibri" pitchFamily="34" charset="0"/>
                <a:ea typeface="Calibri" pitchFamily="34" charset="-122"/>
                <a:cs typeface="Calibri" pitchFamily="34" charset="-120"/>
              </a:rPr>
              <a:t>4,876</a:t>
            </a:r>
            <a:endParaRPr lang="en-US" sz="4800" dirty="0"/>
          </a:p>
        </p:txBody>
      </p:sp>
      <p:sp>
        <p:nvSpPr>
          <p:cNvPr id="14" name="Text 9"/>
          <p:cNvSpPr txBox="1"/>
          <p:nvPr/>
        </p:nvSpPr>
        <p:spPr>
          <a:xfrm>
            <a:off x="7955280" y="283464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invoices sold below cost (1 in 10 wholesale invoices), a loss of EGP 1.4M</a:t>
            </a:r>
            <a:endParaRPr lang="en-US" sz="1600" dirty="0"/>
          </a:p>
        </p:txBody>
      </p:sp>
      <p:sp>
        <p:nvSpPr>
          <p:cNvPr id="15" name="Text 10"/>
          <p:cNvSpPr txBox="1"/>
          <p:nvPr/>
        </p:nvSpPr>
        <p:spPr>
          <a:xfrm>
            <a:off x="7955280" y="4023360"/>
            <a:ext cx="3749040" cy="868680"/>
          </a:xfrm>
          <a:prstGeom prst="rect">
            <a:avLst/>
          </a:prstGeom>
          <a:noFill/>
          <a:ln/>
        </p:spPr>
        <p:txBody>
          <a:bodyPr wrap="square" lIns="0" tIns="0" rIns="0" bIns="0" rtlCol="0" anchor="t"/>
          <a:lstStyle/>
          <a:p>
            <a:pPr indent="0" marL="0">
              <a:buNone/>
            </a:pPr>
            <a:r>
              <a:rPr lang="en-US" sz="4800" b="1" dirty="0">
                <a:solidFill>
                  <a:srgbClr val="F5B942"/>
                </a:solidFill>
                <a:latin typeface="Calibri" pitchFamily="34" charset="0"/>
                <a:ea typeface="Calibri" pitchFamily="34" charset="-122"/>
                <a:cs typeface="Calibri" pitchFamily="34" charset="-120"/>
              </a:rPr>
              <a:t>80%</a:t>
            </a:r>
            <a:endParaRPr lang="en-US" sz="4800" dirty="0"/>
          </a:p>
        </p:txBody>
      </p:sp>
      <p:sp>
        <p:nvSpPr>
          <p:cNvPr id="16" name="Text 11"/>
          <p:cNvSpPr txBox="1"/>
          <p:nvPr/>
        </p:nvSpPr>
        <p:spPr>
          <a:xfrm>
            <a:off x="7955280" y="493776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wholesale's possible profit given away as discount (EGP 173.9M)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DO DISCOUNTS BUY MORE SALES?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Bigger summer discounts did not bring stronger volume growth than in years without them</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Promotion test: Retail + Online, Jun-Jul vs May and Aug of the same year. Wholesale: discount vs order size across 12-60 units.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6</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Pause untargeted promotions; test new ones against a comparison group.   </a:t>
            </a:r>
            <a:pPr indent="0" marL="0">
              <a:buNone/>
            </a:pPr>
            <a:r>
              <a:rPr lang="en-US" sz="1200" dirty="0">
                <a:solidFill>
                  <a:srgbClr val="34D399"/>
                </a:solidFill>
                <a:latin typeface="Calibri" pitchFamily="34" charset="0"/>
                <a:ea typeface="Calibri" pitchFamily="34" charset="-122"/>
                <a:cs typeface="Calibri" pitchFamily="34" charset="-120"/>
              </a:rPr>
              <a:t>Association, not proven cause.   </a:t>
            </a:r>
            <a:pPr indent="0" marL="0">
              <a:buNone/>
            </a:pPr>
            <a:r>
              <a:rPr lang="en-US" sz="1200" dirty="0">
                <a:solidFill>
                  <a:srgbClr val="F5B942"/>
                </a:solidFill>
                <a:latin typeface="Calibri" pitchFamily="34" charset="0"/>
                <a:ea typeface="Calibri" pitchFamily="34" charset="-122"/>
                <a:cs typeface="Calibri" pitchFamily="34" charset="-120"/>
              </a:rPr>
              <a:t>Confirm: season and stock effects.</a:t>
            </a:r>
            <a:endParaRPr lang="en-US" sz="1200" dirty="0"/>
          </a:p>
        </p:txBody>
      </p:sp>
      <p:graphicFrame>
        <p:nvGraphicFramePr>
          <p:cNvPr id="12" name="Chart 0" descr=""/>
          <p:cNvGraphicFramePr/>
          <p:nvPr/>
        </p:nvGraphicFramePr>
        <p:xfrm>
          <a:off x="548640" y="1828800"/>
          <a:ext cx="676656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4000" b="1" dirty="0">
                <a:solidFill>
                  <a:srgbClr val="F5B942"/>
                </a:solidFill>
                <a:latin typeface="Calibri" pitchFamily="34" charset="0"/>
                <a:ea typeface="Calibri" pitchFamily="34" charset="-122"/>
                <a:cs typeface="Calibri" pitchFamily="34" charset="-120"/>
              </a:rPr>
              <a:t>Similar lift</a:t>
            </a:r>
            <a:endParaRPr lang="en-US" sz="4000" dirty="0"/>
          </a:p>
        </p:txBody>
      </p:sp>
      <p:sp>
        <p:nvSpPr>
          <p:cNvPr id="14" name="Text 9"/>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with or without the bigger discount (association, not proven cause)</a:t>
            </a:r>
            <a:endParaRPr lang="en-US" sz="1600" dirty="0"/>
          </a:p>
        </p:txBody>
      </p:sp>
      <p:sp>
        <p:nvSpPr>
          <p:cNvPr id="15" name="Text 10"/>
          <p:cNvSpPr txBox="1"/>
          <p:nvPr/>
        </p:nvSpPr>
        <p:spPr>
          <a:xfrm>
            <a:off x="7863840" y="3931920"/>
            <a:ext cx="3840480" cy="868680"/>
          </a:xfrm>
          <a:prstGeom prst="rect">
            <a:avLst/>
          </a:prstGeom>
          <a:noFill/>
          <a:ln/>
        </p:spPr>
        <p:txBody>
          <a:bodyPr wrap="square" lIns="0" tIns="0" rIns="0" bIns="0" rtlCol="0" anchor="t"/>
          <a:lstStyle/>
          <a:p>
            <a:pPr indent="0" marL="0">
              <a:buNone/>
            </a:pPr>
            <a:r>
              <a:rPr lang="en-US" sz="4000" b="1" dirty="0">
                <a:solidFill>
                  <a:srgbClr val="22D3EE"/>
                </a:solidFill>
                <a:latin typeface="Calibri" pitchFamily="34" charset="0"/>
                <a:ea typeface="Calibri" pitchFamily="34" charset="-122"/>
                <a:cs typeface="Calibri" pitchFamily="34" charset="-120"/>
              </a:rPr>
              <a:t>No pattern</a:t>
            </a:r>
            <a:endParaRPr lang="en-US" sz="4000" dirty="0"/>
          </a:p>
        </p:txBody>
      </p:sp>
      <p:sp>
        <p:nvSpPr>
          <p:cNvPr id="16" name="Text 11"/>
          <p:cNvSpPr txBox="1"/>
          <p:nvPr/>
        </p:nvSpPr>
        <p:spPr>
          <a:xfrm>
            <a:off x="7863840" y="484632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wholesale discounts do not follow order size (same 28-38% mix at every size)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CUSTOMERS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3,745 of our best customers have gone quiet - and we can reach most of them</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24,035 retail customers (wholesale customers are loyal: 96% re-order). 'Quiet' = bought often before, now silent for months.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7</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Run a WhatsApp / SMS win-back for the 3,745 quiet customers.   </a:t>
            </a:r>
            <a:pPr indent="0" marL="0">
              <a:buNone/>
            </a:pPr>
            <a:r>
              <a:rPr lang="en-US" sz="1200" dirty="0">
                <a:solidFill>
                  <a:srgbClr val="34D399"/>
                </a:solidFill>
                <a:latin typeface="Calibri" pitchFamily="34" charset="0"/>
                <a:ea typeface="Calibri" pitchFamily="34" charset="-122"/>
                <a:cs typeface="Calibri" pitchFamily="34" charset="-120"/>
              </a:rPr>
              <a:t>Estimate: EGP 0.12-0.36M profit a year.   </a:t>
            </a:r>
            <a:pPr indent="0" marL="0">
              <a:buNone/>
            </a:pPr>
            <a:r>
              <a:rPr lang="en-US" sz="1200" dirty="0">
                <a:solidFill>
                  <a:srgbClr val="F5B942"/>
                </a:solidFill>
                <a:latin typeface="Calibri" pitchFamily="34" charset="0"/>
                <a:ea typeface="Calibri" pitchFamily="34" charset="-122"/>
                <a:cs typeface="Calibri" pitchFamily="34" charset="-120"/>
              </a:rPr>
              <a:t>Confirm: the retention drop in your customer system.</a:t>
            </a:r>
            <a:endParaRPr lang="en-US" sz="1200" dirty="0"/>
          </a:p>
        </p:txBody>
      </p:sp>
      <p:sp>
        <p:nvSpPr>
          <p:cNvPr id="12" name="Text 8"/>
          <p:cNvSpPr txBox="1"/>
          <p:nvPr/>
        </p:nvSpPr>
        <p:spPr>
          <a:xfrm>
            <a:off x="548640" y="2011680"/>
            <a:ext cx="512064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3,745</a:t>
            </a:r>
            <a:endParaRPr lang="en-US" sz="5400" dirty="0"/>
          </a:p>
        </p:txBody>
      </p:sp>
      <p:sp>
        <p:nvSpPr>
          <p:cNvPr id="13" name="Text 9"/>
          <p:cNvSpPr txBox="1"/>
          <p:nvPr/>
        </p:nvSpPr>
        <p:spPr>
          <a:xfrm>
            <a:off x="548640" y="2926080"/>
            <a:ext cx="51206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frequent buyers have gone quiet: 16% of customers, 32% of sales</a:t>
            </a:r>
            <a:endParaRPr lang="en-US" sz="1600" dirty="0"/>
          </a:p>
        </p:txBody>
      </p:sp>
      <p:sp>
        <p:nvSpPr>
          <p:cNvPr id="14" name="Text 10"/>
          <p:cNvSpPr txBox="1"/>
          <p:nvPr/>
        </p:nvSpPr>
        <p:spPr>
          <a:xfrm>
            <a:off x="548640" y="4114800"/>
            <a:ext cx="5120640" cy="868680"/>
          </a:xfrm>
          <a:prstGeom prst="rect">
            <a:avLst/>
          </a:prstGeom>
          <a:noFill/>
          <a:ln/>
        </p:spPr>
        <p:txBody>
          <a:bodyPr wrap="square" lIns="0" tIns="0" rIns="0" bIns="0" rtlCol="0" anchor="t"/>
          <a:lstStyle/>
          <a:p>
            <a:pPr indent="0" marL="0">
              <a:buNone/>
            </a:pPr>
            <a:r>
              <a:rPr lang="en-US" sz="5400" b="1" dirty="0">
                <a:solidFill>
                  <a:srgbClr val="34D399"/>
                </a:solidFill>
                <a:latin typeface="Calibri" pitchFamily="34" charset="0"/>
                <a:ea typeface="Calibri" pitchFamily="34" charset="-122"/>
                <a:cs typeface="Calibri" pitchFamily="34" charset="-120"/>
              </a:rPr>
              <a:t>65%</a:t>
            </a:r>
            <a:endParaRPr lang="en-US" sz="5400" dirty="0"/>
          </a:p>
        </p:txBody>
      </p:sp>
      <p:sp>
        <p:nvSpPr>
          <p:cNvPr id="15" name="Text 11"/>
          <p:cNvSpPr txBox="1"/>
          <p:nvPr/>
        </p:nvSpPr>
        <p:spPr>
          <a:xfrm>
            <a:off x="548640" y="5029200"/>
            <a:ext cx="51206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them agreed to WhatsApp / SMS messages</a:t>
            </a:r>
            <a:endParaRPr lang="en-US" sz="1600" dirty="0"/>
          </a:p>
        </p:txBody>
      </p:sp>
      <p:graphicFrame>
        <p:nvGraphicFramePr>
          <p:cNvPr id="16" name="Chart 0" descr=""/>
          <p:cNvGraphicFramePr/>
          <p:nvPr/>
        </p:nvGraphicFramePr>
        <p:xfrm>
          <a:off x="6217920" y="1828800"/>
          <a:ext cx="5486400" cy="36576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STOCK</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Stock is in the wrong place: too little for wholesale, too much for retail and online</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Median days of stock per product, Sep 2026. Excess = stock above what is needed for lead time + 2 months of sales.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8</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Order wholesale stock from the forecast; stop buying overstocked retail / online items.   </a:t>
            </a:r>
            <a:pPr indent="0" marL="0">
              <a:buNone/>
            </a:pPr>
            <a:r>
              <a:rPr lang="en-US" sz="1200" dirty="0">
                <a:solidFill>
                  <a:srgbClr val="34D399"/>
                </a:solidFill>
                <a:latin typeface="Calibri" pitchFamily="34" charset="0"/>
                <a:ea typeface="Calibri" pitchFamily="34" charset="-122"/>
                <a:cs typeface="Calibri" pitchFamily="34" charset="-120"/>
              </a:rPr>
              <a:t>Model: about EGP 10.1M of wholesale orders needed.   </a:t>
            </a:r>
            <a:pPr indent="0" marL="0">
              <a:buNone/>
            </a:pPr>
            <a:r>
              <a:rPr lang="en-US" sz="1200" dirty="0">
                <a:solidFill>
                  <a:srgbClr val="F5B942"/>
                </a:solidFill>
                <a:latin typeface="Calibri" pitchFamily="34" charset="0"/>
                <a:ea typeface="Calibri" pitchFamily="34" charset="-122"/>
                <a:cs typeface="Calibri" pitchFamily="34" charset="-120"/>
              </a:rPr>
              <a:t>Confirm: supplier lead times and cash.</a:t>
            </a:r>
            <a:endParaRPr lang="en-US" sz="1200" dirty="0"/>
          </a:p>
        </p:txBody>
      </p:sp>
      <p:graphicFrame>
        <p:nvGraphicFramePr>
          <p:cNvPr id="12" name="Chart 0" descr=""/>
          <p:cNvGraphicFramePr/>
          <p:nvPr/>
        </p:nvGraphicFramePr>
        <p:xfrm>
          <a:off x="548640" y="1828800"/>
          <a:ext cx="676656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4400" b="1" dirty="0">
                <a:solidFill>
                  <a:srgbClr val="F5B942"/>
                </a:solidFill>
                <a:latin typeface="Calibri" pitchFamily="34" charset="0"/>
                <a:ea typeface="Calibri" pitchFamily="34" charset="-122"/>
                <a:cs typeface="Calibri" pitchFamily="34" charset="-120"/>
              </a:rPr>
              <a:t>EGP 7.5M</a:t>
            </a:r>
            <a:endParaRPr lang="en-US" sz="4400" dirty="0"/>
          </a:p>
        </p:txBody>
      </p:sp>
      <p:sp>
        <p:nvSpPr>
          <p:cNvPr id="14" name="Text 9"/>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excess stock in retail and online (about half of stock value)</a:t>
            </a:r>
            <a:endParaRPr lang="en-US" sz="1600" dirty="0"/>
          </a:p>
        </p:txBody>
      </p:sp>
      <p:sp>
        <p:nvSpPr>
          <p:cNvPr id="15" name="Text 10"/>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4400" b="1" dirty="0">
                <a:solidFill>
                  <a:srgbClr val="F87171"/>
                </a:solidFill>
                <a:latin typeface="Calibri" pitchFamily="34" charset="0"/>
                <a:ea typeface="Calibri" pitchFamily="34" charset="-122"/>
                <a:cs typeface="Calibri" pitchFamily="34" charset="-120"/>
              </a:rPr>
              <a:t>36 of 59</a:t>
            </a:r>
            <a:endParaRPr lang="en-US" sz="4400" dirty="0"/>
          </a:p>
        </p:txBody>
      </p:sp>
      <p:sp>
        <p:nvSpPr>
          <p:cNvPr id="16" name="Text 11"/>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wholesale products are below reorder level or out of stock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SUPPLIERS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Two suppliers stopped delivering on time in 2025</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On-time = delivered on or before the promised date. Spend share = share of 3-year purchase-order spend.</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9</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Enforce the SUP04 contract; contract or replace SUP09; hold safety stock of thread and ink.   </a:t>
            </a:r>
            <a:pPr indent="0" marL="0">
              <a:buNone/>
            </a:pPr>
            <a:r>
              <a:rPr lang="en-US" sz="1200" dirty="0">
                <a:solidFill>
                  <a:srgbClr val="34D399"/>
                </a:solidFill>
                <a:latin typeface="Calibri" pitchFamily="34" charset="0"/>
                <a:ea typeface="Calibri" pitchFamily="34" charset="-122"/>
                <a:cs typeface="Calibri" pitchFamily="34" charset="-120"/>
              </a:rPr>
              <a:t>Protects 16% of purchase spend.   </a:t>
            </a:r>
            <a:pPr indent="0" marL="0">
              <a:buNone/>
            </a:pPr>
            <a:r>
              <a:rPr lang="en-US" sz="1200" dirty="0">
                <a:solidFill>
                  <a:srgbClr val="F5B942"/>
                </a:solidFill>
                <a:latin typeface="Calibri" pitchFamily="34" charset="0"/>
                <a:ea typeface="Calibri" pitchFamily="34" charset="-122"/>
                <a:cs typeface="Calibri" pitchFamily="34" charset="-120"/>
              </a:rPr>
              <a:t>Confirm: why on-time delivery fell in 2025.</a:t>
            </a:r>
            <a:endParaRPr lang="en-US" sz="1200" dirty="0"/>
          </a:p>
        </p:txBody>
      </p:sp>
      <p:graphicFrame>
        <p:nvGraphicFramePr>
          <p:cNvPr id="12" name="Chart 0" descr=""/>
          <p:cNvGraphicFramePr/>
          <p:nvPr/>
        </p:nvGraphicFramePr>
        <p:xfrm>
          <a:off x="548640" y="1828800"/>
          <a:ext cx="694944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8046720" y="2011680"/>
            <a:ext cx="3657600" cy="868680"/>
          </a:xfrm>
          <a:prstGeom prst="rect">
            <a:avLst/>
          </a:prstGeom>
          <a:noFill/>
          <a:ln/>
        </p:spPr>
        <p:txBody>
          <a:bodyPr wrap="square" lIns="0" tIns="0" rIns="0" bIns="0" rtlCol="0" anchor="t"/>
          <a:lstStyle/>
          <a:p>
            <a:pPr indent="0" marL="0">
              <a:buNone/>
            </a:pPr>
            <a:r>
              <a:rPr lang="en-US" sz="5400" b="1" dirty="0">
                <a:solidFill>
                  <a:srgbClr val="F5B942"/>
                </a:solidFill>
                <a:latin typeface="Calibri" pitchFamily="34" charset="0"/>
                <a:ea typeface="Calibri" pitchFamily="34" charset="-122"/>
                <a:cs typeface="Calibri" pitchFamily="34" charset="-120"/>
              </a:rPr>
              <a:t>16%</a:t>
            </a:r>
            <a:endParaRPr lang="en-US" sz="5400" dirty="0"/>
          </a:p>
        </p:txBody>
      </p:sp>
      <p:sp>
        <p:nvSpPr>
          <p:cNvPr id="14" name="Text 9"/>
          <p:cNvSpPr txBox="1"/>
          <p:nvPr/>
        </p:nvSpPr>
        <p:spPr>
          <a:xfrm>
            <a:off x="8046720" y="292608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purchase spend sits with these two suppliers</a:t>
            </a:r>
            <a:endParaRPr lang="en-US" sz="1600" dirty="0"/>
          </a:p>
        </p:txBody>
      </p:sp>
      <p:sp>
        <p:nvSpPr>
          <p:cNvPr id="15" name="Text 10"/>
          <p:cNvSpPr txBox="1"/>
          <p:nvPr/>
        </p:nvSpPr>
        <p:spPr>
          <a:xfrm>
            <a:off x="8046720" y="4023360"/>
            <a:ext cx="3657600" cy="868680"/>
          </a:xfrm>
          <a:prstGeom prst="rect">
            <a:avLst/>
          </a:prstGeom>
          <a:noFill/>
          <a:ln/>
        </p:spPr>
        <p:txBody>
          <a:bodyPr wrap="square" lIns="0" tIns="0" rIns="0" bIns="0" rtlCol="0" anchor="t"/>
          <a:lstStyle/>
          <a:p>
            <a:pPr indent="0" marL="0">
              <a:buNone/>
            </a:pPr>
            <a:r>
              <a:rPr lang="en-US" sz="3600" b="1" dirty="0">
                <a:solidFill>
                  <a:srgbClr val="22D3EE"/>
                </a:solidFill>
                <a:latin typeface="Calibri" pitchFamily="34" charset="0"/>
                <a:ea typeface="Calibri" pitchFamily="34" charset="-122"/>
                <a:cs typeface="Calibri" pitchFamily="34" charset="-120"/>
              </a:rPr>
              <a:t>No link found</a:t>
            </a:r>
            <a:endParaRPr lang="en-US" sz="3600" dirty="0"/>
          </a:p>
        </p:txBody>
      </p:sp>
      <p:sp>
        <p:nvSpPr>
          <p:cNvPr id="16" name="Text 11"/>
          <p:cNvSpPr txBox="1"/>
          <p:nvPr/>
        </p:nvSpPr>
        <p:spPr>
          <a:xfrm>
            <a:off x="8046720" y="493776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between late suppliers and factory delays so far - fix it before it spreads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FACTORY</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Factory delays come from two stages: Sewing and Finishing</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Share of total delay days on delayed production orders, Oct 2023 - Sep 2026.</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10</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Rebalance Sewing and Finishing; review Line 4; cap overtime.   </a:t>
            </a:r>
            <a:pPr indent="0" marL="0">
              <a:buNone/>
            </a:pPr>
            <a:r>
              <a:rPr lang="en-US" sz="1200" dirty="0">
                <a:solidFill>
                  <a:srgbClr val="34D399"/>
                </a:solidFill>
                <a:latin typeface="Calibri" pitchFamily="34" charset="0"/>
                <a:ea typeface="Calibri" pitchFamily="34" charset="-122"/>
                <a:cs typeface="Calibri" pitchFamily="34" charset="-120"/>
              </a:rPr>
              <a:t>Fewer late orders (not valued in EGP).   </a:t>
            </a:r>
            <a:pPr indent="0" marL="0">
              <a:buNone/>
            </a:pPr>
            <a:r>
              <a:rPr lang="en-US" sz="1200" dirty="0">
                <a:solidFill>
                  <a:srgbClr val="F5B942"/>
                </a:solidFill>
                <a:latin typeface="Calibri" pitchFamily="34" charset="0"/>
                <a:ea typeface="Calibri" pitchFamily="34" charset="-122"/>
                <a:cs typeface="Calibri" pitchFamily="34" charset="-120"/>
              </a:rPr>
              <a:t>Confirm: why production orders are 3.8x units sold.</a:t>
            </a:r>
            <a:endParaRPr lang="en-US" sz="1200" dirty="0"/>
          </a:p>
        </p:txBody>
      </p:sp>
      <p:graphicFrame>
        <p:nvGraphicFramePr>
          <p:cNvPr id="12" name="Chart 0" descr=""/>
          <p:cNvGraphicFramePr/>
          <p:nvPr/>
        </p:nvGraphicFramePr>
        <p:xfrm>
          <a:off x="548640" y="1828800"/>
          <a:ext cx="676656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863840" y="2011680"/>
            <a:ext cx="384048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68%</a:t>
            </a:r>
            <a:endParaRPr lang="en-US" sz="5400" dirty="0"/>
          </a:p>
        </p:txBody>
      </p:sp>
      <p:sp>
        <p:nvSpPr>
          <p:cNvPr id="14" name="Text 9"/>
          <p:cNvSpPr txBox="1"/>
          <p:nvPr/>
        </p:nvSpPr>
        <p:spPr>
          <a:xfrm>
            <a:off x="7863840" y="292608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delay days come from Sewing + Finishing</a:t>
            </a:r>
            <a:endParaRPr lang="en-US" sz="1600" dirty="0"/>
          </a:p>
        </p:txBody>
      </p:sp>
      <p:sp>
        <p:nvSpPr>
          <p:cNvPr id="15" name="Text 10"/>
          <p:cNvSpPr txBox="1"/>
          <p:nvPr/>
        </p:nvSpPr>
        <p:spPr>
          <a:xfrm>
            <a:off x="7863840" y="4023360"/>
            <a:ext cx="3840480" cy="868680"/>
          </a:xfrm>
          <a:prstGeom prst="rect">
            <a:avLst/>
          </a:prstGeom>
          <a:noFill/>
          <a:ln/>
        </p:spPr>
        <p:txBody>
          <a:bodyPr wrap="square" lIns="0" tIns="0" rIns="0" bIns="0" rtlCol="0" anchor="t"/>
          <a:lstStyle/>
          <a:p>
            <a:pPr indent="0" marL="0">
              <a:buNone/>
            </a:pPr>
            <a:r>
              <a:rPr lang="en-US" sz="4000" b="1" dirty="0">
                <a:solidFill>
                  <a:srgbClr val="F5B942"/>
                </a:solidFill>
                <a:latin typeface="Calibri" pitchFamily="34" charset="0"/>
                <a:ea typeface="Calibri" pitchFamily="34" charset="-122"/>
                <a:cs typeface="Calibri" pitchFamily="34" charset="-120"/>
              </a:rPr>
              <a:t>20% vs 15%</a:t>
            </a:r>
            <a:endParaRPr lang="en-US" sz="4000" dirty="0"/>
          </a:p>
        </p:txBody>
      </p:sp>
      <p:sp>
        <p:nvSpPr>
          <p:cNvPr id="16" name="Text 11"/>
          <p:cNvSpPr txBox="1"/>
          <p:nvPr/>
        </p:nvSpPr>
        <p:spPr>
          <a:xfrm>
            <a:off x="7863840" y="4937760"/>
            <a:ext cx="38404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orders late on Line 4 vs the other lines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QUALITY</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Poor quality costs about EGP 20M - almost a third of our gross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Estimate for Oct 2023 - Sep 2026: inspection rejects + print rework and wasted materials + refunds on quality-related returns. 31% = share of gross profit.</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11</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Classify every defect; process-control programme; fix printers PR-M03 and PR-M02; add an online size guide.   </a:t>
            </a:r>
            <a:pPr indent="0" marL="0">
              <a:buNone/>
            </a:pPr>
            <a:r>
              <a:rPr lang="en-US" sz="1200" dirty="0">
                <a:solidFill>
                  <a:srgbClr val="34D399"/>
                </a:solidFill>
                <a:latin typeface="Calibri" pitchFamily="34" charset="0"/>
                <a:ea typeface="Calibri" pitchFamily="34" charset="-122"/>
                <a:cs typeface="Calibri" pitchFamily="34" charset="-120"/>
              </a:rPr>
              <a:t>Estimate: about EGP 1.1M a year (20% cut).   </a:t>
            </a:r>
            <a:pPr indent="0" marL="0">
              <a:buNone/>
            </a:pPr>
            <a:r>
              <a:rPr lang="en-US" sz="1200" dirty="0">
                <a:solidFill>
                  <a:srgbClr val="F5B942"/>
                </a:solidFill>
                <a:latin typeface="Calibri" pitchFamily="34" charset="0"/>
                <a:ea typeface="Calibri" pitchFamily="34" charset="-122"/>
                <a:cs typeface="Calibri" pitchFamily="34" charset="-120"/>
              </a:rPr>
              <a:t>Confirm: the quality-cost estimate.</a:t>
            </a:r>
            <a:endParaRPr lang="en-US" sz="1200" dirty="0"/>
          </a:p>
        </p:txBody>
      </p:sp>
      <p:graphicFrame>
        <p:nvGraphicFramePr>
          <p:cNvPr id="12" name="Chart 0" descr=""/>
          <p:cNvGraphicFramePr/>
          <p:nvPr/>
        </p:nvGraphicFramePr>
        <p:xfrm>
          <a:off x="548640" y="1828800"/>
          <a:ext cx="6949440" cy="3657600"/>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8046720" y="2011680"/>
            <a:ext cx="3657600" cy="868680"/>
          </a:xfrm>
          <a:prstGeom prst="rect">
            <a:avLst/>
          </a:prstGeom>
          <a:noFill/>
          <a:ln/>
        </p:spPr>
        <p:txBody>
          <a:bodyPr wrap="square" lIns="0" tIns="0" rIns="0" bIns="0" rtlCol="0" anchor="t"/>
          <a:lstStyle/>
          <a:p>
            <a:pPr indent="0" marL="0">
              <a:buNone/>
            </a:pPr>
            <a:r>
              <a:rPr lang="en-US" sz="5400" b="1" dirty="0">
                <a:solidFill>
                  <a:srgbClr val="F87171"/>
                </a:solidFill>
                <a:latin typeface="Calibri" pitchFamily="34" charset="0"/>
                <a:ea typeface="Calibri" pitchFamily="34" charset="-122"/>
                <a:cs typeface="Calibri" pitchFamily="34" charset="-120"/>
              </a:rPr>
              <a:t>31%</a:t>
            </a:r>
            <a:endParaRPr lang="en-US" sz="5400" dirty="0"/>
          </a:p>
        </p:txBody>
      </p:sp>
      <p:sp>
        <p:nvSpPr>
          <p:cNvPr id="14" name="Text 9"/>
          <p:cNvSpPr txBox="1"/>
          <p:nvPr/>
        </p:nvSpPr>
        <p:spPr>
          <a:xfrm>
            <a:off x="8046720" y="292608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gross profit lost to poor quality (EGP 20.3M)</a:t>
            </a:r>
            <a:endParaRPr lang="en-US" sz="1600" dirty="0"/>
          </a:p>
        </p:txBody>
      </p:sp>
      <p:sp>
        <p:nvSpPr>
          <p:cNvPr id="15" name="Text 10"/>
          <p:cNvSpPr txBox="1"/>
          <p:nvPr/>
        </p:nvSpPr>
        <p:spPr>
          <a:xfrm>
            <a:off x="8046720" y="4023360"/>
            <a:ext cx="3657600" cy="868680"/>
          </a:xfrm>
          <a:prstGeom prst="rect">
            <a:avLst/>
          </a:prstGeom>
          <a:noFill/>
          <a:ln/>
        </p:spPr>
        <p:txBody>
          <a:bodyPr wrap="square" lIns="0" tIns="0" rIns="0" bIns="0" rtlCol="0" anchor="t"/>
          <a:lstStyle/>
          <a:p>
            <a:pPr indent="0" marL="0">
              <a:buNone/>
            </a:pPr>
            <a:r>
              <a:rPr lang="en-US" sz="5400" b="1" dirty="0">
                <a:solidFill>
                  <a:srgbClr val="22D3EE"/>
                </a:solidFill>
                <a:latin typeface="Calibri" pitchFamily="34" charset="0"/>
                <a:ea typeface="Calibri" pitchFamily="34" charset="-122"/>
                <a:cs typeface="Calibri" pitchFamily="34" charset="-120"/>
              </a:rPr>
              <a:t>36%</a:t>
            </a:r>
            <a:endParaRPr lang="en-US" sz="5400" dirty="0"/>
          </a:p>
        </p:txBody>
      </p:sp>
      <p:sp>
        <p:nvSpPr>
          <p:cNvPr id="16" name="Text 11"/>
          <p:cNvSpPr txBox="1"/>
          <p:nvPr/>
        </p:nvSpPr>
        <p:spPr>
          <a:xfrm>
            <a:off x="8046720" y="4937760"/>
            <a:ext cx="365760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customer returns are size / fit, not defects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MARKETING</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Some ads clearly work and some do not - but treat the numbers as a ranking, not as profit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Platform-reported sales per EGP 1 of spend, Oct 2023 - Sep 2026. Platform-reported figures over-claim online sales 5.5x.</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12</a:t>
            </a:r>
            <a:endParaRPr lang="en-US" sz="1100" dirty="0"/>
          </a:p>
        </p:txBody>
      </p:sp>
      <p:sp>
        <p:nvSpPr>
          <p:cNvPr id="8" name="Shape 5"/>
          <p:cNvSpPr/>
          <p:nvPr/>
        </p:nvSpPr>
        <p:spPr>
          <a:xfrm>
            <a:off x="548640" y="5596128"/>
            <a:ext cx="11064240" cy="658368"/>
          </a:xfrm>
          <a:prstGeom prst="roundRect">
            <a:avLst>
              <a:gd name="adj" fmla="val 13889"/>
            </a:avLst>
          </a:prstGeom>
          <a:solidFill>
            <a:srgbClr val="0A1F3A"/>
          </a:solidFill>
          <a:ln w="12700">
            <a:solidFill>
              <a:srgbClr val="17406E"/>
            </a:solidFill>
            <a:prstDash val="solid"/>
          </a:ln>
        </p:spPr>
      </p:sp>
      <p:sp>
        <p:nvSpPr>
          <p:cNvPr id="9" name="Shape 6"/>
          <p:cNvSpPr/>
          <p:nvPr/>
        </p:nvSpPr>
        <p:spPr>
          <a:xfrm>
            <a:off x="548640" y="5669280"/>
            <a:ext cx="64008" cy="512064"/>
          </a:xfrm>
          <a:prstGeom prst="rect">
            <a:avLst/>
          </a:prstGeom>
          <a:solidFill>
            <a:srgbClr val="22D3EE"/>
          </a:solidFill>
          <a:ln/>
        </p:spPr>
      </p:sp>
      <p:sp>
        <p:nvSpPr>
          <p:cNvPr id="10" name="Text 7"/>
          <p:cNvSpPr txBox="1"/>
          <p:nvPr/>
        </p:nvSpPr>
        <p:spPr>
          <a:xfrm>
            <a:off x="777240" y="5596128"/>
            <a:ext cx="10698480" cy="658368"/>
          </a:xfrm>
          <a:prstGeom prst="rect">
            <a:avLst/>
          </a:prstGeom>
          <a:noFill/>
          <a:ln/>
        </p:spPr>
        <p:txBody>
          <a:bodyPr wrap="square" lIns="0" tIns="0" rIns="0" bIns="0" rtlCol="0" anchor="ctr"/>
          <a:lstStyle/>
          <a:p>
            <a:pPr indent="0" marL="0">
              <a:buNone/>
            </a:pPr>
            <a:r>
              <a:rPr lang="en-US" sz="1100" b="1" dirty="0">
                <a:solidFill>
                  <a:srgbClr val="22D3EE"/>
                </a:solidFill>
                <a:latin typeface="Calibri" pitchFamily="34" charset="0"/>
                <a:ea typeface="Calibri" pitchFamily="34" charset="-122"/>
                <a:cs typeface="Calibri" pitchFamily="34" charset="-120"/>
              </a:rPr>
              <a:t>ACTION  </a:t>
            </a:r>
            <a:pPr indent="0" marL="0">
              <a:buNone/>
            </a:pPr>
            <a:r>
              <a:rPr lang="en-US" sz="1200" b="1" dirty="0">
                <a:solidFill>
                  <a:srgbClr val="FFFFFF"/>
                </a:solidFill>
                <a:latin typeface="Calibri" pitchFamily="34" charset="0"/>
                <a:ea typeface="Calibri" pitchFamily="34" charset="-122"/>
                <a:cs typeface="Calibri" pitchFamily="34" charset="-120"/>
              </a:rPr>
              <a:t>Cut half of influencer spend; test Meta and TikTok before spending more.   </a:t>
            </a:r>
            <a:pPr indent="0" marL="0">
              <a:buNone/>
            </a:pPr>
            <a:r>
              <a:rPr lang="en-US" sz="1200" dirty="0">
                <a:solidFill>
                  <a:srgbClr val="34D399"/>
                </a:solidFill>
                <a:latin typeface="Calibri" pitchFamily="34" charset="0"/>
                <a:ea typeface="Calibri" pitchFamily="34" charset="-122"/>
                <a:cs typeface="Calibri" pitchFamily="34" charset="-120"/>
              </a:rPr>
              <a:t>Estimate: EGP -0.02M to +1.0M a year (uncertain).   </a:t>
            </a:r>
            <a:pPr indent="0" marL="0">
              <a:buNone/>
            </a:pPr>
            <a:r>
              <a:rPr lang="en-US" sz="1200" dirty="0">
                <a:solidFill>
                  <a:srgbClr val="F5B942"/>
                </a:solidFill>
                <a:latin typeface="Calibri" pitchFamily="34" charset="0"/>
                <a:ea typeface="Calibri" pitchFamily="34" charset="-122"/>
                <a:cs typeface="Calibri" pitchFamily="34" charset="-120"/>
              </a:rPr>
              <a:t>Confirm: with a holdout test.</a:t>
            </a:r>
            <a:endParaRPr lang="en-US" sz="1200" dirty="0"/>
          </a:p>
        </p:txBody>
      </p:sp>
      <p:graphicFrame>
        <p:nvGraphicFramePr>
          <p:cNvPr id="12" name="Chart 0" descr=""/>
          <p:cNvGraphicFramePr/>
          <p:nvPr/>
        </p:nvGraphicFramePr>
        <p:xfrm>
          <a:off x="548640" y="1828800"/>
          <a:ext cx="6949440" cy="3657600"/>
        </p:xfrm>
        <a:graphic xmlns:a="http://schemas.openxmlformats.org/drawingml/2006/main">
          <a:graphicData uri="http://schemas.openxmlformats.org/drawingml/2006/chart">
            <c:chart xmlns:c="http://schemas.openxmlformats.org/drawingml/2006/chart" r:id="rId2"/>
          </a:graphicData>
        </a:graphic>
      </p:graphicFrame>
      <p:sp>
        <p:nvSpPr>
          <p:cNvPr id="13" name="Shape 8"/>
          <p:cNvSpPr/>
          <p:nvPr/>
        </p:nvSpPr>
        <p:spPr>
          <a:xfrm>
            <a:off x="7955280" y="1920240"/>
            <a:ext cx="3749040" cy="1828800"/>
          </a:xfrm>
          <a:prstGeom prst="roundRect">
            <a:avLst>
              <a:gd name="adj" fmla="val 5000"/>
            </a:avLst>
          </a:prstGeom>
          <a:solidFill>
            <a:srgbClr val="0A1F3A"/>
          </a:solidFill>
          <a:ln w="12700">
            <a:solidFill>
              <a:srgbClr val="F5B942"/>
            </a:solidFill>
            <a:prstDash val="solid"/>
          </a:ln>
        </p:spPr>
      </p:sp>
      <p:sp>
        <p:nvSpPr>
          <p:cNvPr id="14" name="Text 9"/>
          <p:cNvSpPr txBox="1"/>
          <p:nvPr/>
        </p:nvSpPr>
        <p:spPr>
          <a:xfrm>
            <a:off x="8183880" y="2057400"/>
            <a:ext cx="3383280" cy="365760"/>
          </a:xfrm>
          <a:prstGeom prst="rect">
            <a:avLst/>
          </a:prstGeom>
          <a:noFill/>
          <a:ln/>
        </p:spPr>
        <p:txBody>
          <a:bodyPr wrap="square" lIns="0" tIns="0" rIns="0" bIns="0" rtlCol="0" anchor="t"/>
          <a:lstStyle/>
          <a:p>
            <a:pPr indent="0" marL="0">
              <a:buNone/>
            </a:pPr>
            <a:r>
              <a:rPr lang="en-US" sz="1400" b="1" dirty="0">
                <a:solidFill>
                  <a:srgbClr val="F5B942"/>
                </a:solidFill>
                <a:latin typeface="Calibri" pitchFamily="34" charset="0"/>
                <a:ea typeface="Calibri" pitchFamily="34" charset="-122"/>
                <a:cs typeface="Calibri" pitchFamily="34" charset="-120"/>
              </a:rPr>
              <a:t>Be careful</a:t>
            </a:r>
            <a:endParaRPr lang="en-US" sz="1400" dirty="0"/>
          </a:p>
        </p:txBody>
      </p:sp>
      <p:sp>
        <p:nvSpPr>
          <p:cNvPr id="15" name="Text 10"/>
          <p:cNvSpPr txBox="1"/>
          <p:nvPr/>
        </p:nvSpPr>
        <p:spPr>
          <a:xfrm>
            <a:off x="8183880" y="2468880"/>
            <a:ext cx="333756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Platforms claim 5.5x more sales than our online store really made. Use this as a ranking.</a:t>
            </a:r>
            <a:endParaRPr lang="en-US" sz="1500" dirty="0"/>
          </a:p>
        </p:txBody>
      </p:sp>
      <p:sp>
        <p:nvSpPr>
          <p:cNvPr id="16" name="Text 11"/>
          <p:cNvSpPr txBox="1"/>
          <p:nvPr/>
        </p:nvSpPr>
        <p:spPr>
          <a:xfrm>
            <a:off x="7955280" y="3977640"/>
            <a:ext cx="3749040" cy="868680"/>
          </a:xfrm>
          <a:prstGeom prst="rect">
            <a:avLst/>
          </a:prstGeom>
          <a:noFill/>
          <a:ln/>
        </p:spPr>
        <p:txBody>
          <a:bodyPr wrap="square" lIns="0" tIns="0" rIns="0" bIns="0" rtlCol="0" anchor="t"/>
          <a:lstStyle/>
          <a:p>
            <a:pPr indent="0" marL="0">
              <a:buNone/>
            </a:pPr>
            <a:r>
              <a:rPr lang="en-US" sz="4400" b="1" dirty="0">
                <a:solidFill>
                  <a:srgbClr val="22D3EE"/>
                </a:solidFill>
                <a:latin typeface="Calibri" pitchFamily="34" charset="0"/>
                <a:ea typeface="Calibri" pitchFamily="34" charset="-122"/>
                <a:cs typeface="Calibri" pitchFamily="34" charset="-120"/>
              </a:rPr>
              <a:t>2.8</a:t>
            </a:r>
            <a:endParaRPr lang="en-US" sz="4400" dirty="0"/>
          </a:p>
        </p:txBody>
      </p:sp>
      <p:sp>
        <p:nvSpPr>
          <p:cNvPr id="17" name="Text 12"/>
          <p:cNvSpPr txBox="1"/>
          <p:nvPr/>
        </p:nvSpPr>
        <p:spPr>
          <a:xfrm>
            <a:off x="7955280" y="4892040"/>
            <a:ext cx="374904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is the break-even: every ad must return at least EGP 2.8 per EGP 1 spent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WHERE THE MONEY IS</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Wholesale pricing is the largest estimated opportunity: about 82% of the EGP 8.8M</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ESTIMATES, not realised profit: annual gross profit, base case, before implementation cost. Ranges are in the speaker notes.</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13</a:t>
            </a:r>
            <a:endParaRPr lang="en-US" sz="1100" dirty="0"/>
          </a:p>
        </p:txBody>
      </p:sp>
      <p:graphicFrame>
        <p:nvGraphicFramePr>
          <p:cNvPr id="9" name="Chart 0" descr=""/>
          <p:cNvGraphicFramePr/>
          <p:nvPr/>
        </p:nvGraphicFramePr>
        <p:xfrm>
          <a:off x="548640" y="1828800"/>
          <a:ext cx="7498080" cy="365760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8412480" y="2103120"/>
            <a:ext cx="3383280" cy="868680"/>
          </a:xfrm>
          <a:prstGeom prst="rect">
            <a:avLst/>
          </a:prstGeom>
          <a:noFill/>
          <a:ln/>
        </p:spPr>
        <p:txBody>
          <a:bodyPr wrap="square" lIns="0" tIns="0" rIns="0" bIns="0" rtlCol="0" anchor="t"/>
          <a:lstStyle/>
          <a:p>
            <a:pPr indent="0" marL="0">
              <a:buNone/>
            </a:pPr>
            <a:r>
              <a:rPr lang="en-US" sz="4000" b="1" dirty="0">
                <a:solidFill>
                  <a:srgbClr val="34D399"/>
                </a:solidFill>
                <a:latin typeface="Calibri" pitchFamily="34" charset="0"/>
                <a:ea typeface="Calibri" pitchFamily="34" charset="-122"/>
                <a:cs typeface="Calibri" pitchFamily="34" charset="-120"/>
              </a:rPr>
              <a:t>EGP 8.8M</a:t>
            </a:r>
            <a:endParaRPr lang="en-US" sz="4000" dirty="0"/>
          </a:p>
        </p:txBody>
      </p:sp>
      <p:sp>
        <p:nvSpPr>
          <p:cNvPr id="11" name="Text 6"/>
          <p:cNvSpPr txBox="1"/>
          <p:nvPr/>
        </p:nvSpPr>
        <p:spPr>
          <a:xfrm>
            <a:off x="8412480" y="3017520"/>
            <a:ext cx="33832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per year, base case = 38% of last year's gross profit</a:t>
            </a:r>
            <a:endParaRPr lang="en-US" sz="1600" dirty="0"/>
          </a:p>
        </p:txBody>
      </p:sp>
      <p:sp>
        <p:nvSpPr>
          <p:cNvPr id="12" name="Text 7"/>
          <p:cNvSpPr txBox="1"/>
          <p:nvPr/>
        </p:nvSpPr>
        <p:spPr>
          <a:xfrm>
            <a:off x="8412480" y="4114800"/>
            <a:ext cx="3383280" cy="868680"/>
          </a:xfrm>
          <a:prstGeom prst="rect">
            <a:avLst/>
          </a:prstGeom>
          <a:noFill/>
          <a:ln/>
        </p:spPr>
        <p:txBody>
          <a:bodyPr wrap="square" lIns="0" tIns="0" rIns="0" bIns="0" rtlCol="0" anchor="t"/>
          <a:lstStyle/>
          <a:p>
            <a:pPr indent="0" marL="0">
              <a:buNone/>
            </a:pPr>
            <a:r>
              <a:rPr lang="en-US" sz="4000" b="1" dirty="0">
                <a:solidFill>
                  <a:srgbClr val="22D3EE"/>
                </a:solidFill>
                <a:latin typeface="Calibri" pitchFamily="34" charset="0"/>
                <a:ea typeface="Calibri" pitchFamily="34" charset="-122"/>
                <a:cs typeface="Calibri" pitchFamily="34" charset="-120"/>
              </a:rPr>
              <a:t>82%</a:t>
            </a:r>
            <a:endParaRPr lang="en-US" sz="4000" dirty="0"/>
          </a:p>
        </p:txBody>
      </p:sp>
      <p:sp>
        <p:nvSpPr>
          <p:cNvPr id="13" name="Text 8"/>
          <p:cNvSpPr txBox="1"/>
          <p:nvPr/>
        </p:nvSpPr>
        <p:spPr>
          <a:xfrm>
            <a:off x="8412480" y="5029200"/>
            <a:ext cx="3383280" cy="822960"/>
          </a:xfrm>
          <a:prstGeom prst="rect">
            <a:avLst/>
          </a:prstGeom>
          <a:noFill/>
          <a:ln/>
        </p:spPr>
        <p:txBody>
          <a:bodyPr wrap="square" lIns="0" tIns="0" rIns="0" bIns="0" rtlCol="0" anchor="t"/>
          <a:lstStyle/>
          <a:p>
            <a:pPr indent="0" marL="0">
              <a:buNone/>
            </a:pPr>
            <a:r>
              <a:rPr lang="en-US" sz="1600" dirty="0">
                <a:solidFill>
                  <a:srgbClr val="A9B8D0"/>
                </a:solidFill>
                <a:latin typeface="Calibri" pitchFamily="34" charset="0"/>
                <a:ea typeface="Calibri" pitchFamily="34" charset="-122"/>
                <a:cs typeface="Calibri" pitchFamily="34" charset="-120"/>
              </a:rPr>
              <a:t>of it comes from wholesale pricing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THE SOLUTION</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leading fix: a Wholesale Deal Desk that checks every discount against a clear rule before the quote goes out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Simulated on Oct 2023 - Sep 2026 wholesale invoices. Phase 1 value: EGP 2.9-4.9M a year (base 3.9M).</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14</a:t>
            </a:r>
            <a:endParaRPr lang="en-US" sz="1100" dirty="0"/>
          </a:p>
        </p:txBody>
      </p:sp>
      <p:sp>
        <p:nvSpPr>
          <p:cNvPr id="9" name="Shape 5"/>
          <p:cNvSpPr/>
          <p:nvPr/>
        </p:nvSpPr>
        <p:spPr>
          <a:xfrm>
            <a:off x="548640" y="1920240"/>
            <a:ext cx="1645920" cy="1005840"/>
          </a:xfrm>
          <a:prstGeom prst="roundRect">
            <a:avLst>
              <a:gd name="adj" fmla="val 9091"/>
            </a:avLst>
          </a:prstGeom>
          <a:solidFill>
            <a:srgbClr val="0A1F3A"/>
          </a:solidFill>
          <a:ln w="12700">
            <a:solidFill>
              <a:srgbClr val="22D3EE"/>
            </a:solidFill>
            <a:prstDash val="solid"/>
          </a:ln>
        </p:spPr>
      </p:sp>
      <p:sp>
        <p:nvSpPr>
          <p:cNvPr id="10" name="Text 6"/>
          <p:cNvSpPr txBox="1"/>
          <p:nvPr/>
        </p:nvSpPr>
        <p:spPr>
          <a:xfrm>
            <a:off x="62179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Quote request</a:t>
            </a:r>
            <a:endParaRPr lang="en-US" sz="1400" dirty="0"/>
          </a:p>
        </p:txBody>
      </p:sp>
      <p:sp>
        <p:nvSpPr>
          <p:cNvPr id="11" name="Text 7"/>
          <p:cNvSpPr txBox="1"/>
          <p:nvPr/>
        </p:nvSpPr>
        <p:spPr>
          <a:xfrm>
            <a:off x="219456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2" name="Shape 8"/>
          <p:cNvSpPr/>
          <p:nvPr/>
        </p:nvSpPr>
        <p:spPr>
          <a:xfrm>
            <a:off x="2423160" y="1920240"/>
            <a:ext cx="1645920" cy="1005840"/>
          </a:xfrm>
          <a:prstGeom prst="roundRect">
            <a:avLst>
              <a:gd name="adj" fmla="val 9091"/>
            </a:avLst>
          </a:prstGeom>
          <a:solidFill>
            <a:srgbClr val="0A1F3A"/>
          </a:solidFill>
          <a:ln w="12700">
            <a:solidFill>
              <a:srgbClr val="22D3EE"/>
            </a:solidFill>
            <a:prstDash val="solid"/>
          </a:ln>
        </p:spPr>
      </p:sp>
      <p:sp>
        <p:nvSpPr>
          <p:cNvPr id="13" name="Text 9"/>
          <p:cNvSpPr txBox="1"/>
          <p:nvPr/>
        </p:nvSpPr>
        <p:spPr>
          <a:xfrm>
            <a:off x="249631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 order size &amp; customer</a:t>
            </a:r>
            <a:endParaRPr lang="en-US" sz="1400" dirty="0"/>
          </a:p>
        </p:txBody>
      </p:sp>
      <p:sp>
        <p:nvSpPr>
          <p:cNvPr id="14" name="Text 10"/>
          <p:cNvSpPr txBox="1"/>
          <p:nvPr/>
        </p:nvSpPr>
        <p:spPr>
          <a:xfrm>
            <a:off x="406908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5" name="Shape 11"/>
          <p:cNvSpPr/>
          <p:nvPr/>
        </p:nvSpPr>
        <p:spPr>
          <a:xfrm>
            <a:off x="4297680" y="1920240"/>
            <a:ext cx="1645920" cy="1005840"/>
          </a:xfrm>
          <a:prstGeom prst="roundRect">
            <a:avLst>
              <a:gd name="adj" fmla="val 9091"/>
            </a:avLst>
          </a:prstGeom>
          <a:solidFill>
            <a:srgbClr val="0A1F3A"/>
          </a:solidFill>
          <a:ln w="12700">
            <a:solidFill>
              <a:srgbClr val="22D3EE"/>
            </a:solidFill>
            <a:prstDash val="solid"/>
          </a:ln>
        </p:spPr>
      </p:sp>
      <p:sp>
        <p:nvSpPr>
          <p:cNvPr id="16" name="Text 12"/>
          <p:cNvSpPr txBox="1"/>
          <p:nvPr/>
        </p:nvSpPr>
        <p:spPr>
          <a:xfrm>
            <a:off x="437083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Suggest max discount</a:t>
            </a:r>
            <a:endParaRPr lang="en-US" sz="1400" dirty="0"/>
          </a:p>
        </p:txBody>
      </p:sp>
      <p:sp>
        <p:nvSpPr>
          <p:cNvPr id="17" name="Text 13"/>
          <p:cNvSpPr txBox="1"/>
          <p:nvPr/>
        </p:nvSpPr>
        <p:spPr>
          <a:xfrm>
            <a:off x="594360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18" name="Shape 14"/>
          <p:cNvSpPr/>
          <p:nvPr/>
        </p:nvSpPr>
        <p:spPr>
          <a:xfrm>
            <a:off x="6172200" y="1920240"/>
            <a:ext cx="1645920" cy="1005840"/>
          </a:xfrm>
          <a:prstGeom prst="roundRect">
            <a:avLst>
              <a:gd name="adj" fmla="val 9091"/>
            </a:avLst>
          </a:prstGeom>
          <a:solidFill>
            <a:srgbClr val="0A1F3A"/>
          </a:solidFill>
          <a:ln w="12700">
            <a:solidFill>
              <a:srgbClr val="22D3EE"/>
            </a:solidFill>
            <a:prstDash val="solid"/>
          </a:ln>
        </p:spPr>
      </p:sp>
      <p:sp>
        <p:nvSpPr>
          <p:cNvPr id="19" name="Text 15"/>
          <p:cNvSpPr txBox="1"/>
          <p:nvPr/>
        </p:nvSpPr>
        <p:spPr>
          <a:xfrm>
            <a:off x="624535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 margin</a:t>
            </a:r>
            <a:endParaRPr lang="en-US" sz="1400" dirty="0"/>
          </a:p>
        </p:txBody>
      </p:sp>
      <p:sp>
        <p:nvSpPr>
          <p:cNvPr id="20" name="Text 16"/>
          <p:cNvSpPr txBox="1"/>
          <p:nvPr/>
        </p:nvSpPr>
        <p:spPr>
          <a:xfrm>
            <a:off x="781812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21" name="Shape 17"/>
          <p:cNvSpPr/>
          <p:nvPr/>
        </p:nvSpPr>
        <p:spPr>
          <a:xfrm>
            <a:off x="8046720" y="1920240"/>
            <a:ext cx="1645920" cy="1005840"/>
          </a:xfrm>
          <a:prstGeom prst="roundRect">
            <a:avLst>
              <a:gd name="adj" fmla="val 9091"/>
            </a:avLst>
          </a:prstGeom>
          <a:solidFill>
            <a:srgbClr val="0A1F3A"/>
          </a:solidFill>
          <a:ln w="12700">
            <a:solidFill>
              <a:srgbClr val="22D3EE"/>
            </a:solidFill>
            <a:prstDash val="solid"/>
          </a:ln>
        </p:spPr>
      </p:sp>
      <p:sp>
        <p:nvSpPr>
          <p:cNvPr id="22" name="Text 18"/>
          <p:cNvSpPr txBox="1"/>
          <p:nvPr/>
        </p:nvSpPr>
        <p:spPr>
          <a:xfrm>
            <a:off x="8119872" y="1920240"/>
            <a:ext cx="1499616" cy="10058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Approve exceptions</a:t>
            </a:r>
            <a:endParaRPr lang="en-US" sz="1400" dirty="0"/>
          </a:p>
        </p:txBody>
      </p:sp>
      <p:sp>
        <p:nvSpPr>
          <p:cNvPr id="23" name="Text 19"/>
          <p:cNvSpPr txBox="1"/>
          <p:nvPr/>
        </p:nvSpPr>
        <p:spPr>
          <a:xfrm>
            <a:off x="9692640" y="1920240"/>
            <a:ext cx="228600" cy="1005840"/>
          </a:xfrm>
          <a:prstGeom prst="rect">
            <a:avLst/>
          </a:prstGeom>
          <a:noFill/>
          <a:ln/>
        </p:spPr>
        <p:txBody>
          <a:bodyPr wrap="square" lIns="0" tIns="0" rIns="0" bIns="0" rtlCol="0" anchor="ctr"/>
          <a:lstStyle/>
          <a:p>
            <a:pPr algn="ctr" indent="0" marL="0">
              <a:buNone/>
            </a:pPr>
            <a:r>
              <a:rPr lang="en-US" sz="2000" b="1" dirty="0">
                <a:solidFill>
                  <a:srgbClr val="22D3EE"/>
                </a:solidFill>
                <a:latin typeface="Calibri" pitchFamily="34" charset="0"/>
                <a:ea typeface="Calibri" pitchFamily="34" charset="-122"/>
                <a:cs typeface="Calibri" pitchFamily="34" charset="-120"/>
              </a:rPr>
              <a:t>&gt;</a:t>
            </a:r>
            <a:endParaRPr lang="en-US" sz="2000" dirty="0"/>
          </a:p>
        </p:txBody>
      </p:sp>
      <p:sp>
        <p:nvSpPr>
          <p:cNvPr id="24" name="Shape 20"/>
          <p:cNvSpPr/>
          <p:nvPr/>
        </p:nvSpPr>
        <p:spPr>
          <a:xfrm>
            <a:off x="9921240" y="1920240"/>
            <a:ext cx="1645920" cy="1005840"/>
          </a:xfrm>
          <a:prstGeom prst="roundRect">
            <a:avLst>
              <a:gd name="adj" fmla="val 9091"/>
            </a:avLst>
          </a:prstGeom>
          <a:solidFill>
            <a:srgbClr val="34D399"/>
          </a:solidFill>
          <a:ln w="12700">
            <a:solidFill>
              <a:srgbClr val="34D399"/>
            </a:solidFill>
            <a:prstDash val="solid"/>
          </a:ln>
        </p:spPr>
      </p:sp>
      <p:sp>
        <p:nvSpPr>
          <p:cNvPr id="25" name="Text 21"/>
          <p:cNvSpPr txBox="1"/>
          <p:nvPr/>
        </p:nvSpPr>
        <p:spPr>
          <a:xfrm>
            <a:off x="9994392" y="1920240"/>
            <a:ext cx="1499616" cy="1005840"/>
          </a:xfrm>
          <a:prstGeom prst="rect">
            <a:avLst/>
          </a:prstGeom>
          <a:noFill/>
          <a:ln/>
        </p:spPr>
        <p:txBody>
          <a:bodyPr wrap="square" lIns="0" tIns="0" rIns="0" bIns="0" rtlCol="0" anchor="ctr"/>
          <a:lstStyle/>
          <a:p>
            <a:pPr algn="ctr" indent="0" marL="0">
              <a:buNone/>
            </a:pPr>
            <a:r>
              <a:rPr lang="en-US" sz="1400" b="1" dirty="0">
                <a:solidFill>
                  <a:srgbClr val="02101E"/>
                </a:solidFill>
                <a:latin typeface="Calibri" pitchFamily="34" charset="0"/>
                <a:ea typeface="Calibri" pitchFamily="34" charset="-122"/>
                <a:cs typeface="Calibri" pitchFamily="34" charset="-120"/>
              </a:rPr>
              <a:t>Profitable quote</a:t>
            </a:r>
            <a:endParaRPr lang="en-US" sz="1400" dirty="0"/>
          </a:p>
        </p:txBody>
      </p:sp>
      <p:sp>
        <p:nvSpPr>
          <p:cNvPr id="26" name="Shape 22"/>
          <p:cNvSpPr/>
          <p:nvPr/>
        </p:nvSpPr>
        <p:spPr>
          <a:xfrm>
            <a:off x="548640" y="3383280"/>
            <a:ext cx="3611880" cy="1920240"/>
          </a:xfrm>
          <a:prstGeom prst="roundRect">
            <a:avLst>
              <a:gd name="adj" fmla="val 4762"/>
            </a:avLst>
          </a:prstGeom>
          <a:solidFill>
            <a:srgbClr val="0A1F3A"/>
          </a:solidFill>
          <a:ln w="12700">
            <a:solidFill>
              <a:srgbClr val="17406E"/>
            </a:solidFill>
            <a:prstDash val="solid"/>
          </a:ln>
        </p:spPr>
      </p:sp>
      <p:sp>
        <p:nvSpPr>
          <p:cNvPr id="27" name="Text 23"/>
          <p:cNvSpPr txBox="1"/>
          <p:nvPr/>
        </p:nvSpPr>
        <p:spPr>
          <a:xfrm>
            <a:off x="77724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28% / 30% / 32%</a:t>
            </a:r>
            <a:endParaRPr lang="en-US" sz="2800" dirty="0"/>
          </a:p>
        </p:txBody>
      </p:sp>
      <p:sp>
        <p:nvSpPr>
          <p:cNvPr id="28" name="Text 24"/>
          <p:cNvSpPr txBox="1"/>
          <p:nvPr/>
        </p:nvSpPr>
        <p:spPr>
          <a:xfrm>
            <a:off x="77724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maximum discount for 12-23 / 24-47 / 48+ units</a:t>
            </a:r>
            <a:endParaRPr lang="en-US" sz="1500" dirty="0"/>
          </a:p>
        </p:txBody>
      </p:sp>
      <p:sp>
        <p:nvSpPr>
          <p:cNvPr id="29" name="Shape 25"/>
          <p:cNvSpPr/>
          <p:nvPr/>
        </p:nvSpPr>
        <p:spPr>
          <a:xfrm>
            <a:off x="4343400" y="3383280"/>
            <a:ext cx="3611880" cy="1920240"/>
          </a:xfrm>
          <a:prstGeom prst="roundRect">
            <a:avLst>
              <a:gd name="adj" fmla="val 4762"/>
            </a:avLst>
          </a:prstGeom>
          <a:solidFill>
            <a:srgbClr val="0A1F3A"/>
          </a:solidFill>
          <a:ln w="12700">
            <a:solidFill>
              <a:srgbClr val="17406E"/>
            </a:solidFill>
            <a:prstDash val="solid"/>
          </a:ln>
        </p:spPr>
      </p:sp>
      <p:sp>
        <p:nvSpPr>
          <p:cNvPr id="30" name="Text 26"/>
          <p:cNvSpPr txBox="1"/>
          <p:nvPr/>
        </p:nvSpPr>
        <p:spPr>
          <a:xfrm>
            <a:off x="457200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15%</a:t>
            </a:r>
            <a:endParaRPr lang="en-US" sz="2800" dirty="0"/>
          </a:p>
        </p:txBody>
      </p:sp>
      <p:sp>
        <p:nvSpPr>
          <p:cNvPr id="31" name="Text 27"/>
          <p:cNvSpPr txBox="1"/>
          <p:nvPr/>
        </p:nvSpPr>
        <p:spPr>
          <a:xfrm>
            <a:off x="457200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minimum profit margin on every quote</a:t>
            </a:r>
            <a:endParaRPr lang="en-US" sz="1500" dirty="0"/>
          </a:p>
        </p:txBody>
      </p:sp>
      <p:sp>
        <p:nvSpPr>
          <p:cNvPr id="32" name="Shape 28"/>
          <p:cNvSpPr/>
          <p:nvPr/>
        </p:nvSpPr>
        <p:spPr>
          <a:xfrm>
            <a:off x="8138160" y="3383280"/>
            <a:ext cx="3611880" cy="1920240"/>
          </a:xfrm>
          <a:prstGeom prst="roundRect">
            <a:avLst>
              <a:gd name="adj" fmla="val 4762"/>
            </a:avLst>
          </a:prstGeom>
          <a:solidFill>
            <a:srgbClr val="0A1F3A"/>
          </a:solidFill>
          <a:ln w="12700">
            <a:solidFill>
              <a:srgbClr val="17406E"/>
            </a:solidFill>
            <a:prstDash val="solid"/>
          </a:ln>
        </p:spPr>
      </p:sp>
      <p:sp>
        <p:nvSpPr>
          <p:cNvPr id="33" name="Text 29"/>
          <p:cNvSpPr txBox="1"/>
          <p:nvPr/>
        </p:nvSpPr>
        <p:spPr>
          <a:xfrm>
            <a:off x="8366760" y="3566160"/>
            <a:ext cx="3200400" cy="640080"/>
          </a:xfrm>
          <a:prstGeom prst="rect">
            <a:avLst/>
          </a:prstGeom>
          <a:noFill/>
          <a:ln/>
        </p:spPr>
        <p:txBody>
          <a:bodyPr wrap="square" lIns="0" tIns="0" rIns="0" bIns="0" rtlCol="0" anchor="t"/>
          <a:lstStyle/>
          <a:p>
            <a:pPr indent="0" marL="0">
              <a:buNone/>
            </a:pPr>
            <a:r>
              <a:rPr lang="en-US" sz="2800" b="1" dirty="0">
                <a:solidFill>
                  <a:srgbClr val="22D3EE"/>
                </a:solidFill>
                <a:latin typeface="Calibri" pitchFamily="34" charset="0"/>
                <a:ea typeface="Calibri" pitchFamily="34" charset="-122"/>
                <a:cs typeface="Calibri" pitchFamily="34" charset="-120"/>
              </a:rPr>
              <a:t>Never below cost</a:t>
            </a:r>
            <a:endParaRPr lang="en-US" sz="2800" dirty="0"/>
          </a:p>
        </p:txBody>
      </p:sp>
      <p:sp>
        <p:nvSpPr>
          <p:cNvPr id="34" name="Text 30"/>
          <p:cNvSpPr txBox="1"/>
          <p:nvPr/>
        </p:nvSpPr>
        <p:spPr>
          <a:xfrm>
            <a:off x="8366760" y="4343400"/>
            <a:ext cx="3200400" cy="822960"/>
          </a:xfrm>
          <a:prstGeom prst="rect">
            <a:avLst/>
          </a:prstGeom>
          <a:noFill/>
          <a:ln/>
        </p:spPr>
        <p:txBody>
          <a:bodyPr wrap="square" lIns="0" tIns="0" rIns="0" bIns="0" rtlCol="0" anchor="t"/>
          <a:lstStyle/>
          <a:p>
            <a:pPr indent="0" marL="0">
              <a:buNone/>
            </a:pPr>
            <a:r>
              <a:rPr lang="en-US" sz="1500" dirty="0">
                <a:solidFill>
                  <a:srgbClr val="A9B8D0"/>
                </a:solidFill>
                <a:latin typeface="Calibri" pitchFamily="34" charset="0"/>
                <a:ea typeface="Calibri" pitchFamily="34" charset="-122"/>
                <a:cs typeface="Calibri" pitchFamily="34" charset="-120"/>
              </a:rPr>
              <a:t>exceptions go to a manager, then a director</a:t>
            </a:r>
            <a:endParaRPr lang="en-US" sz="1500" dirty="0"/>
          </a:p>
        </p:txBody>
      </p:sp>
      <p:sp>
        <p:nvSpPr>
          <p:cNvPr id="35" name="Shape 31"/>
          <p:cNvSpPr/>
          <p:nvPr/>
        </p:nvSpPr>
        <p:spPr>
          <a:xfrm>
            <a:off x="548640" y="5440680"/>
            <a:ext cx="5440680" cy="411480"/>
          </a:xfrm>
          <a:prstGeom prst="roundRect">
            <a:avLst>
              <a:gd name="adj" fmla="val 17778"/>
            </a:avLst>
          </a:prstGeom>
          <a:solidFill>
            <a:srgbClr val="34D399">
              <a:alpha val="15000"/>
            </a:srgbClr>
          </a:solidFill>
          <a:ln w="12700">
            <a:solidFill>
              <a:srgbClr val="34D399"/>
            </a:solidFill>
            <a:prstDash val="solid"/>
          </a:ln>
        </p:spPr>
      </p:sp>
      <p:sp>
        <p:nvSpPr>
          <p:cNvPr id="36" name="Text 32"/>
          <p:cNvSpPr txBox="1"/>
          <p:nvPr/>
        </p:nvSpPr>
        <p:spPr>
          <a:xfrm>
            <a:off x="685800" y="5440680"/>
            <a:ext cx="516636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BUILT: working prototype in the project (quote checker in the dashboard)</a:t>
            </a:r>
            <a:endParaRPr lang="en-US" sz="1200" dirty="0"/>
          </a:p>
        </p:txBody>
      </p:sp>
      <p:sp>
        <p:nvSpPr>
          <p:cNvPr id="37" name="Shape 33"/>
          <p:cNvSpPr/>
          <p:nvPr/>
        </p:nvSpPr>
        <p:spPr>
          <a:xfrm>
            <a:off x="6172200" y="5440680"/>
            <a:ext cx="5440680" cy="411480"/>
          </a:xfrm>
          <a:prstGeom prst="roundRect">
            <a:avLst>
              <a:gd name="adj" fmla="val 17778"/>
            </a:avLst>
          </a:prstGeom>
          <a:solidFill>
            <a:srgbClr val="F5B942">
              <a:alpha val="15000"/>
            </a:srgbClr>
          </a:solidFill>
          <a:ln w="12700">
            <a:solidFill>
              <a:srgbClr val="F5B942"/>
            </a:solidFill>
            <a:prstDash val="solid"/>
          </a:ln>
        </p:spPr>
      </p:sp>
      <p:sp>
        <p:nvSpPr>
          <p:cNvPr id="38" name="Text 34"/>
          <p:cNvSpPr txBox="1"/>
          <p:nvPr/>
        </p:nvSpPr>
        <p:spPr>
          <a:xfrm>
            <a:off x="6309360" y="5440680"/>
            <a:ext cx="516636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NOT YET DEPLOYED: link to the real quoting process and approval workflow</a:t>
            </a:r>
            <a:endParaRPr lang="en-US" sz="1200" dirty="0"/>
          </a:p>
        </p:txBody>
      </p:sp>
      <p:sp>
        <p:nvSpPr>
          <p:cNvPr id="39" name="Text 35"/>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500" b="1" dirty="0">
                <a:solidFill>
                  <a:srgbClr val="34D399"/>
                </a:solidFill>
                <a:latin typeface="Calibri" pitchFamily="34" charset="0"/>
                <a:ea typeface="Calibri" pitchFamily="34" charset="-122"/>
                <a:cs typeface="Calibri" pitchFamily="34" charset="-120"/>
              </a:rPr>
              <a:t>Estimated value of Phase 1 in simulation on past invoices: EGP 2.9-4.9M profit a year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ACTION PLAN</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 three-step plan: pricing first, then customers and stock, then monitoring</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Value shown is annual gross profit, base case unless stated.</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15</a:t>
            </a:r>
            <a:endParaRPr lang="en-US" sz="1100" dirty="0"/>
          </a:p>
        </p:txBody>
      </p:sp>
      <p:sp>
        <p:nvSpPr>
          <p:cNvPr id="9" name="Shape 5"/>
          <p:cNvSpPr/>
          <p:nvPr/>
        </p:nvSpPr>
        <p:spPr>
          <a:xfrm>
            <a:off x="548640" y="1920240"/>
            <a:ext cx="3611880" cy="2468880"/>
          </a:xfrm>
          <a:prstGeom prst="roundRect">
            <a:avLst>
              <a:gd name="adj" fmla="val 3704"/>
            </a:avLst>
          </a:prstGeom>
          <a:solidFill>
            <a:srgbClr val="0A1F3A"/>
          </a:solidFill>
          <a:ln w="12700">
            <a:solidFill>
              <a:srgbClr val="34D399"/>
            </a:solidFill>
            <a:prstDash val="solid"/>
          </a:ln>
        </p:spPr>
      </p:sp>
      <p:sp>
        <p:nvSpPr>
          <p:cNvPr id="10" name="Text 6"/>
          <p:cNvSpPr txBox="1"/>
          <p:nvPr/>
        </p:nvSpPr>
        <p:spPr>
          <a:xfrm>
            <a:off x="822960" y="2103120"/>
            <a:ext cx="3108960" cy="548640"/>
          </a:xfrm>
          <a:prstGeom prst="rect">
            <a:avLst/>
          </a:prstGeom>
          <a:noFill/>
          <a:ln/>
        </p:spPr>
        <p:txBody>
          <a:bodyPr wrap="square" lIns="0" tIns="0" rIns="0" bIns="0" rtlCol="0" anchor="t"/>
          <a:lstStyle/>
          <a:p>
            <a:pPr indent="0" marL="0">
              <a:buNone/>
            </a:pPr>
            <a:r>
              <a:rPr lang="en-US" sz="3000" b="1" dirty="0">
                <a:solidFill>
                  <a:srgbClr val="34D399"/>
                </a:solidFill>
                <a:latin typeface="Calibri" pitchFamily="34" charset="0"/>
                <a:ea typeface="Calibri" pitchFamily="34" charset="-122"/>
                <a:cs typeface="Calibri" pitchFamily="34" charset="-120"/>
              </a:rPr>
              <a:t>NOW</a:t>
            </a:r>
            <a:endParaRPr lang="en-US" sz="3000" dirty="0"/>
          </a:p>
        </p:txBody>
      </p:sp>
      <p:sp>
        <p:nvSpPr>
          <p:cNvPr id="11" name="Text 7"/>
          <p:cNvSpPr txBox="1"/>
          <p:nvPr/>
        </p:nvSpPr>
        <p:spPr>
          <a:xfrm>
            <a:off x="822960" y="2834640"/>
            <a:ext cx="3108960" cy="1463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Pilot the Deal Desk. Block below-cost quotes. Stop influencer spend. Enforce SUP04 contract.</a:t>
            </a:r>
            <a:endParaRPr lang="en-US" sz="1700" dirty="0"/>
          </a:p>
        </p:txBody>
      </p:sp>
      <p:sp>
        <p:nvSpPr>
          <p:cNvPr id="12" name="Shape 8"/>
          <p:cNvSpPr/>
          <p:nvPr/>
        </p:nvSpPr>
        <p:spPr>
          <a:xfrm>
            <a:off x="4343400" y="1920240"/>
            <a:ext cx="3611880" cy="2468880"/>
          </a:xfrm>
          <a:prstGeom prst="roundRect">
            <a:avLst>
              <a:gd name="adj" fmla="val 3704"/>
            </a:avLst>
          </a:prstGeom>
          <a:solidFill>
            <a:srgbClr val="0A1F3A"/>
          </a:solidFill>
          <a:ln w="12700">
            <a:solidFill>
              <a:srgbClr val="22D3EE"/>
            </a:solidFill>
            <a:prstDash val="solid"/>
          </a:ln>
        </p:spPr>
      </p:sp>
      <p:sp>
        <p:nvSpPr>
          <p:cNvPr id="13" name="Text 9"/>
          <p:cNvSpPr txBox="1"/>
          <p:nvPr/>
        </p:nvSpPr>
        <p:spPr>
          <a:xfrm>
            <a:off x="4617720" y="2103120"/>
            <a:ext cx="3108960" cy="548640"/>
          </a:xfrm>
          <a:prstGeom prst="rect">
            <a:avLst/>
          </a:prstGeom>
          <a:noFill/>
          <a:ln/>
        </p:spPr>
        <p:txBody>
          <a:bodyPr wrap="square" lIns="0" tIns="0" rIns="0" bIns="0" rtlCol="0" anchor="t"/>
          <a:lstStyle/>
          <a:p>
            <a:pPr indent="0" marL="0">
              <a:buNone/>
            </a:pPr>
            <a:r>
              <a:rPr lang="en-US" sz="3000" b="1" dirty="0">
                <a:solidFill>
                  <a:srgbClr val="22D3EE"/>
                </a:solidFill>
                <a:latin typeface="Calibri" pitchFamily="34" charset="0"/>
                <a:ea typeface="Calibri" pitchFamily="34" charset="-122"/>
                <a:cs typeface="Calibri" pitchFamily="34" charset="-120"/>
              </a:rPr>
              <a:t>NEXT</a:t>
            </a:r>
            <a:endParaRPr lang="en-US" sz="3000" dirty="0"/>
          </a:p>
        </p:txBody>
      </p:sp>
      <p:sp>
        <p:nvSpPr>
          <p:cNvPr id="14" name="Text 10"/>
          <p:cNvSpPr txBox="1"/>
          <p:nvPr/>
        </p:nvSpPr>
        <p:spPr>
          <a:xfrm>
            <a:off x="4617720" y="2834640"/>
            <a:ext cx="3108960" cy="1463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Win back the 3,745 quiet customers. Plan wholesale stock with the forecast. Stop buying overstocked products.</a:t>
            </a:r>
            <a:endParaRPr lang="en-US" sz="1700" dirty="0"/>
          </a:p>
        </p:txBody>
      </p:sp>
      <p:sp>
        <p:nvSpPr>
          <p:cNvPr id="15" name="Shape 11"/>
          <p:cNvSpPr/>
          <p:nvPr/>
        </p:nvSpPr>
        <p:spPr>
          <a:xfrm>
            <a:off x="8138160" y="1920240"/>
            <a:ext cx="3611880" cy="2468880"/>
          </a:xfrm>
          <a:prstGeom prst="roundRect">
            <a:avLst>
              <a:gd name="adj" fmla="val 3704"/>
            </a:avLst>
          </a:prstGeom>
          <a:solidFill>
            <a:srgbClr val="0A1F3A"/>
          </a:solidFill>
          <a:ln w="12700">
            <a:solidFill>
              <a:srgbClr val="3B82F6"/>
            </a:solidFill>
            <a:prstDash val="solid"/>
          </a:ln>
        </p:spPr>
      </p:sp>
      <p:sp>
        <p:nvSpPr>
          <p:cNvPr id="16" name="Text 12"/>
          <p:cNvSpPr txBox="1"/>
          <p:nvPr/>
        </p:nvSpPr>
        <p:spPr>
          <a:xfrm>
            <a:off x="8412480" y="2103120"/>
            <a:ext cx="3108960" cy="548640"/>
          </a:xfrm>
          <a:prstGeom prst="rect">
            <a:avLst/>
          </a:prstGeom>
          <a:noFill/>
          <a:ln/>
        </p:spPr>
        <p:txBody>
          <a:bodyPr wrap="square" lIns="0" tIns="0" rIns="0" bIns="0" rtlCol="0" anchor="t"/>
          <a:lstStyle/>
          <a:p>
            <a:pPr indent="0" marL="0">
              <a:buNone/>
            </a:pPr>
            <a:r>
              <a:rPr lang="en-US" sz="3000" b="1" dirty="0">
                <a:solidFill>
                  <a:srgbClr val="3B82F6"/>
                </a:solidFill>
                <a:latin typeface="Calibri" pitchFamily="34" charset="0"/>
                <a:ea typeface="Calibri" pitchFamily="34" charset="-122"/>
                <a:cs typeface="Calibri" pitchFamily="34" charset="-120"/>
              </a:rPr>
              <a:t>THEN</a:t>
            </a:r>
            <a:endParaRPr lang="en-US" sz="3000" dirty="0"/>
          </a:p>
        </p:txBody>
      </p:sp>
      <p:sp>
        <p:nvSpPr>
          <p:cNvPr id="17" name="Text 13"/>
          <p:cNvSpPr txBox="1"/>
          <p:nvPr/>
        </p:nvSpPr>
        <p:spPr>
          <a:xfrm>
            <a:off x="8412480" y="2834640"/>
            <a:ext cx="3108960" cy="14630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Add the 15% margin rule. Monitor suppliers, factory and quality. Add an online size guide.</a:t>
            </a:r>
            <a:endParaRPr lang="en-US" sz="1700" dirty="0"/>
          </a:p>
        </p:txBody>
      </p:sp>
      <p:sp>
        <p:nvSpPr>
          <p:cNvPr id="18" name="Shape 14"/>
          <p:cNvSpPr/>
          <p:nvPr/>
        </p:nvSpPr>
        <p:spPr>
          <a:xfrm>
            <a:off x="548640" y="4663440"/>
            <a:ext cx="11064240" cy="868680"/>
          </a:xfrm>
          <a:prstGeom prst="roundRect">
            <a:avLst>
              <a:gd name="adj" fmla="val 10526"/>
            </a:avLst>
          </a:prstGeom>
          <a:solidFill>
            <a:srgbClr val="34D399">
              <a:alpha val="15000"/>
            </a:srgbClr>
          </a:solidFill>
          <a:ln w="12700">
            <a:solidFill>
              <a:srgbClr val="34D399"/>
            </a:solidFill>
            <a:prstDash val="solid"/>
          </a:ln>
        </p:spPr>
      </p:sp>
      <p:sp>
        <p:nvSpPr>
          <p:cNvPr id="19" name="Text 15"/>
          <p:cNvSpPr txBox="1"/>
          <p:nvPr/>
        </p:nvSpPr>
        <p:spPr>
          <a:xfrm>
            <a:off x="777240" y="4663440"/>
            <a:ext cx="10607040" cy="8686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Biggest opportunity: EGP 2.9-4.9M more profit every year from wholesale pricing alone</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101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2D3EE"/>
          </a:solidFill>
          <a:ln/>
        </p:spPr>
      </p:sp>
      <p:sp>
        <p:nvSpPr>
          <p:cNvPr id="3" name="Text 1"/>
          <p:cNvSpPr txBox="1"/>
          <p:nvPr/>
        </p:nvSpPr>
        <p:spPr>
          <a:xfrm>
            <a:off x="548640" y="320040"/>
            <a:ext cx="9144000" cy="274320"/>
          </a:xfrm>
          <a:prstGeom prst="rect">
            <a:avLst/>
          </a:prstGeom>
          <a:noFill/>
          <a:ln/>
        </p:spPr>
        <p:txBody>
          <a:bodyPr wrap="square" lIns="0" tIns="0" rIns="0" bIns="0" rtlCol="0" anchor="t"/>
          <a:lstStyle/>
          <a:p>
            <a:pPr indent="0" marL="0">
              <a:buNone/>
            </a:pPr>
            <a:r>
              <a:rPr lang="en-US" sz="1200" b="1" spc="300" kern="0" dirty="0">
                <a:solidFill>
                  <a:srgbClr val="22D3EE"/>
                </a:solidFill>
                <a:latin typeface="Calibri" pitchFamily="34" charset="0"/>
                <a:ea typeface="Calibri" pitchFamily="34" charset="-122"/>
                <a:cs typeface="Calibri" pitchFamily="34" charset="-120"/>
              </a:rPr>
              <a:t>MANAGEMENT DECISION</a:t>
            </a:r>
            <a:endParaRPr lang="en-US" sz="1200" dirty="0"/>
          </a:p>
        </p:txBody>
      </p:sp>
      <p:sp>
        <p:nvSpPr>
          <p:cNvPr id="4" name="Text 2"/>
          <p:cNvSpPr txBox="1"/>
          <p:nvPr/>
        </p:nvSpPr>
        <p:spPr>
          <a:xfrm>
            <a:off x="548640" y="640080"/>
            <a:ext cx="11064240" cy="10972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Decision requested: approve a 90-day Deal Desk pilot, and confirm four things first</a:t>
            </a:r>
            <a:endParaRPr lang="en-US" sz="3200" dirty="0"/>
          </a:p>
        </p:txBody>
      </p:sp>
      <p:pic>
        <p:nvPicPr>
          <p:cNvPr id="5" name="Image 0" descr="logo.png">    </p:cNvPr>
          <p:cNvPicPr>
            <a:picLocks noChangeAspect="1"/>
          </p:cNvPicPr>
          <p:nvPr/>
        </p:nvPicPr>
        <p:blipFill>
          <a:blip r:embed="rId1"/>
          <a:stretch>
            <a:fillRect/>
          </a:stretch>
        </p:blipFill>
        <p:spPr>
          <a:xfrm>
            <a:off x="548640" y="6355080"/>
            <a:ext cx="868680" cy="365760"/>
          </a:xfrm>
          <a:prstGeom prst="rect">
            <a:avLst/>
          </a:prstGeom>
        </p:spPr>
      </p:pic>
      <p:sp>
        <p:nvSpPr>
          <p:cNvPr id="6" name="Text 3"/>
          <p:cNvSpPr txBox="1"/>
          <p:nvPr/>
        </p:nvSpPr>
        <p:spPr>
          <a:xfrm>
            <a:off x="1645920" y="6382512"/>
            <a:ext cx="9326880" cy="320040"/>
          </a:xfrm>
          <a:prstGeom prst="rect">
            <a:avLst/>
          </a:prstGeom>
          <a:noFill/>
          <a:ln/>
        </p:spPr>
        <p:txBody>
          <a:bodyPr wrap="square" lIns="0" tIns="0" rIns="0" bIns="0" rtlCol="0" anchor="ctr"/>
          <a:lstStyle/>
          <a:p>
            <a:pPr indent="0" marL="0">
              <a:buNone/>
            </a:pPr>
            <a:r>
              <a:rPr lang="en-US" sz="1050" dirty="0">
                <a:solidFill>
                  <a:srgbClr val="A9B8D0"/>
                </a:solidFill>
                <a:latin typeface="Calibri" pitchFamily="34" charset="0"/>
                <a:ea typeface="Calibri" pitchFamily="34" charset="-122"/>
                <a:cs typeface="Calibri" pitchFamily="34" charset="-120"/>
              </a:rPr>
              <a:t>Estimates are based on Oct 2023 - Sep 2026 history. Details: project report, section 11.</a:t>
            </a:r>
            <a:endParaRPr lang="en-US" sz="1050" dirty="0"/>
          </a:p>
        </p:txBody>
      </p:sp>
      <p:sp>
        <p:nvSpPr>
          <p:cNvPr id="7" name="Text 4"/>
          <p:cNvSpPr txBox="1"/>
          <p:nvPr/>
        </p:nvSpPr>
        <p:spPr>
          <a:xfrm>
            <a:off x="11155680" y="6382512"/>
            <a:ext cx="548640" cy="320040"/>
          </a:xfrm>
          <a:prstGeom prst="rect">
            <a:avLst/>
          </a:prstGeom>
          <a:noFill/>
          <a:ln/>
        </p:spPr>
        <p:txBody>
          <a:bodyPr wrap="square" lIns="0" tIns="0" rIns="0" bIns="0" rtlCol="0" anchor="ctr"/>
          <a:lstStyle/>
          <a:p>
            <a:pPr algn="r" indent="0" marL="0">
              <a:buNone/>
            </a:pPr>
            <a:r>
              <a:rPr lang="en-US" sz="1100" dirty="0">
                <a:solidFill>
                  <a:srgbClr val="A9B8D0"/>
                </a:solidFill>
                <a:latin typeface="Calibri" pitchFamily="34" charset="0"/>
                <a:ea typeface="Calibri" pitchFamily="34" charset="-122"/>
                <a:cs typeface="Calibri" pitchFamily="34" charset="-120"/>
              </a:rPr>
              <a:t>16</a:t>
            </a:r>
            <a:endParaRPr lang="en-US" sz="1100" dirty="0"/>
          </a:p>
        </p:txBody>
      </p:sp>
      <p:sp>
        <p:nvSpPr>
          <p:cNvPr id="9" name="Shape 5"/>
          <p:cNvSpPr/>
          <p:nvPr/>
        </p:nvSpPr>
        <p:spPr>
          <a:xfrm>
            <a:off x="548640" y="1920240"/>
            <a:ext cx="5486400" cy="4297680"/>
          </a:xfrm>
          <a:prstGeom prst="roundRect">
            <a:avLst>
              <a:gd name="adj" fmla="val 2128"/>
            </a:avLst>
          </a:prstGeom>
          <a:solidFill>
            <a:srgbClr val="0A1F3A"/>
          </a:solidFill>
          <a:ln w="12700">
            <a:solidFill>
              <a:srgbClr val="34D399"/>
            </a:solidFill>
            <a:prstDash val="solid"/>
          </a:ln>
        </p:spPr>
      </p:sp>
      <p:sp>
        <p:nvSpPr>
          <p:cNvPr id="10" name="Text 6"/>
          <p:cNvSpPr txBox="1"/>
          <p:nvPr/>
        </p:nvSpPr>
        <p:spPr>
          <a:xfrm>
            <a:off x="822960" y="2103120"/>
            <a:ext cx="4937760" cy="320040"/>
          </a:xfrm>
          <a:prstGeom prst="rect">
            <a:avLst/>
          </a:prstGeom>
          <a:noFill/>
          <a:ln/>
        </p:spPr>
        <p:txBody>
          <a:bodyPr wrap="square" lIns="0" tIns="0" rIns="0" bIns="0" rtlCol="0" anchor="t"/>
          <a:lstStyle/>
          <a:p>
            <a:pPr indent="0" marL="0">
              <a:buNone/>
            </a:pPr>
            <a:r>
              <a:rPr lang="en-US" sz="1300" b="1" spc="200" kern="0" dirty="0">
                <a:solidFill>
                  <a:srgbClr val="34D399"/>
                </a:solidFill>
                <a:latin typeface="Calibri" pitchFamily="34" charset="0"/>
                <a:ea typeface="Calibri" pitchFamily="34" charset="-122"/>
                <a:cs typeface="Calibri" pitchFamily="34" charset="-120"/>
              </a:rPr>
              <a:t>WE ASK MANAGEMENT TO</a:t>
            </a:r>
            <a:endParaRPr lang="en-US" sz="1300" dirty="0"/>
          </a:p>
        </p:txBody>
      </p:sp>
      <p:sp>
        <p:nvSpPr>
          <p:cNvPr id="11" name="Text 7"/>
          <p:cNvSpPr/>
          <p:nvPr/>
        </p:nvSpPr>
        <p:spPr>
          <a:xfrm>
            <a:off x="822960" y="2560320"/>
            <a:ext cx="4937760" cy="27432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700" dirty="0">
                <a:solidFill>
                  <a:srgbClr val="FFFFFF"/>
                </a:solidFill>
                <a:latin typeface="Calibri" pitchFamily="34" charset="0"/>
                <a:ea typeface="Calibri" pitchFamily="34" charset="-122"/>
                <a:cs typeface="Calibri" pitchFamily="34" charset="-120"/>
              </a:rPr>
              <a:t>Approve a 90-day pilot of wholesale discount limits with a comparison group</a:t>
            </a:r>
            <a:endParaRPr lang="en-US" sz="1700" dirty="0"/>
          </a:p>
          <a:p>
            <a:pPr marL="342900" indent="-342900">
              <a:spcAft>
                <a:spcPts val="1200"/>
              </a:spcAft>
              <a:buSzPct val="100000"/>
              <a:buFont typeface="+mj-lt"/>
              <a:buAutoNum type="arabicPeriod" startAt="1"/>
            </a:pPr>
            <a:r>
              <a:rPr lang="en-US" sz="1700" dirty="0">
                <a:solidFill>
                  <a:srgbClr val="FFFFFF"/>
                </a:solidFill>
                <a:latin typeface="Calibri" pitchFamily="34" charset="0"/>
                <a:ea typeface="Calibri" pitchFamily="34" charset="-122"/>
                <a:cs typeface="Calibri" pitchFamily="34" charset="-120"/>
              </a:rPr>
              <a:t>Start with the 25 customers who receive the most excess discount</a:t>
            </a:r>
            <a:endParaRPr lang="en-US" sz="1700" dirty="0"/>
          </a:p>
          <a:p>
            <a:pPr marL="342900" indent="-342900">
              <a:spcAft>
                <a:spcPts val="1200"/>
              </a:spcAft>
              <a:buSzPct val="100000"/>
              <a:buFont typeface="+mj-lt"/>
              <a:buAutoNum type="arabicPeriod" startAt="1"/>
            </a:pPr>
            <a:r>
              <a:rPr lang="en-US" sz="1700" dirty="0">
                <a:solidFill>
                  <a:srgbClr val="FFFFFF"/>
                </a:solidFill>
                <a:latin typeface="Calibri" pitchFamily="34" charset="0"/>
                <a:ea typeface="Calibri" pitchFamily="34" charset="-122"/>
                <a:cs typeface="Calibri" pitchFamily="34" charset="-120"/>
              </a:rPr>
              <a:t>Block quotes that are below cost, from day one</a:t>
            </a:r>
            <a:endParaRPr lang="en-US" sz="1700" dirty="0"/>
          </a:p>
          <a:p>
            <a:pPr marL="342900" indent="-342900">
              <a:spcAft>
                <a:spcPts val="1200"/>
              </a:spcAft>
              <a:buSzPct val="100000"/>
              <a:buFont typeface="+mj-lt"/>
              <a:buAutoNum type="arabicPeriod" startAt="1"/>
            </a:pPr>
            <a:r>
              <a:rPr lang="en-US" sz="1700" dirty="0">
                <a:solidFill>
                  <a:srgbClr val="FFFFFF"/>
                </a:solidFill>
                <a:latin typeface="Calibri" pitchFamily="34" charset="0"/>
                <a:ea typeface="Calibri" pitchFamily="34" charset="-122"/>
                <a:cs typeface="Calibri" pitchFamily="34" charset="-120"/>
              </a:rPr>
              <a:t>Ask Finance to confirm product costs within the first 30 days</a:t>
            </a:r>
            <a:endParaRPr lang="en-US" sz="1700" dirty="0"/>
          </a:p>
        </p:txBody>
      </p:sp>
      <p:sp>
        <p:nvSpPr>
          <p:cNvPr id="12" name="Text 8"/>
          <p:cNvSpPr txBox="1"/>
          <p:nvPr/>
        </p:nvSpPr>
        <p:spPr>
          <a:xfrm>
            <a:off x="822960" y="5349240"/>
            <a:ext cx="4937760" cy="77724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Success test: margin up, volume holds. Estimated value if confirmed: EGP 2.9-4.9M a year.</a:t>
            </a:r>
            <a:endParaRPr lang="en-US" sz="1400" dirty="0"/>
          </a:p>
        </p:txBody>
      </p:sp>
      <p:sp>
        <p:nvSpPr>
          <p:cNvPr id="13" name="Shape 9"/>
          <p:cNvSpPr/>
          <p:nvPr/>
        </p:nvSpPr>
        <p:spPr>
          <a:xfrm>
            <a:off x="6309360" y="1920240"/>
            <a:ext cx="5303520" cy="1005840"/>
          </a:xfrm>
          <a:prstGeom prst="roundRect">
            <a:avLst>
              <a:gd name="adj" fmla="val 9091"/>
            </a:avLst>
          </a:prstGeom>
          <a:solidFill>
            <a:srgbClr val="0A1F3A"/>
          </a:solidFill>
          <a:ln w="12700">
            <a:solidFill>
              <a:srgbClr val="F5B942"/>
            </a:solidFill>
            <a:prstDash val="solid"/>
          </a:ln>
        </p:spPr>
      </p:sp>
      <p:sp>
        <p:nvSpPr>
          <p:cNvPr id="14" name="Text 10"/>
          <p:cNvSpPr txBox="1"/>
          <p:nvPr/>
        </p:nvSpPr>
        <p:spPr>
          <a:xfrm>
            <a:off x="6492240" y="1920240"/>
            <a:ext cx="457200" cy="1005840"/>
          </a:xfrm>
          <a:prstGeom prst="rect">
            <a:avLst/>
          </a:prstGeom>
          <a:noFill/>
          <a:ln/>
        </p:spPr>
        <p:txBody>
          <a:bodyPr wrap="square" lIns="0" tIns="0" rIns="0" bIns="0" rtlCol="0" anchor="ctr"/>
          <a:lstStyle/>
          <a:p>
            <a:pPr indent="0" marL="0">
              <a:buNone/>
            </a:pPr>
            <a:r>
              <a:rPr lang="en-US" sz="2800" b="1" dirty="0">
                <a:solidFill>
                  <a:srgbClr val="F5B942"/>
                </a:solidFill>
                <a:latin typeface="Calibri" pitchFamily="34" charset="0"/>
                <a:ea typeface="Calibri" pitchFamily="34" charset="-122"/>
                <a:cs typeface="Calibri" pitchFamily="34" charset="-120"/>
              </a:rPr>
              <a:t>1</a:t>
            </a:r>
            <a:endParaRPr lang="en-US" sz="2800" dirty="0"/>
          </a:p>
        </p:txBody>
      </p:sp>
      <p:sp>
        <p:nvSpPr>
          <p:cNvPr id="15" name="Text 11"/>
          <p:cNvSpPr txBox="1"/>
          <p:nvPr/>
        </p:nvSpPr>
        <p:spPr>
          <a:xfrm>
            <a:off x="7040880" y="2011680"/>
            <a:ext cx="448056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Product costs are estimates</a:t>
            </a:r>
            <a:endParaRPr lang="en-US" sz="1500" dirty="0"/>
          </a:p>
        </p:txBody>
      </p:sp>
      <p:sp>
        <p:nvSpPr>
          <p:cNvPr id="16" name="Text 12"/>
          <p:cNvSpPr txBox="1"/>
          <p:nvPr/>
        </p:nvSpPr>
        <p:spPr>
          <a:xfrm>
            <a:off x="7040880" y="2377440"/>
            <a:ext cx="4480560" cy="50292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Finance to confirm the real cost per product.</a:t>
            </a:r>
            <a:endParaRPr lang="en-US" sz="1200" dirty="0"/>
          </a:p>
        </p:txBody>
      </p:sp>
      <p:sp>
        <p:nvSpPr>
          <p:cNvPr id="17" name="Shape 13"/>
          <p:cNvSpPr/>
          <p:nvPr/>
        </p:nvSpPr>
        <p:spPr>
          <a:xfrm>
            <a:off x="6309360" y="3017520"/>
            <a:ext cx="5303520" cy="1005840"/>
          </a:xfrm>
          <a:prstGeom prst="roundRect">
            <a:avLst>
              <a:gd name="adj" fmla="val 9091"/>
            </a:avLst>
          </a:prstGeom>
          <a:solidFill>
            <a:srgbClr val="0A1F3A"/>
          </a:solidFill>
          <a:ln w="12700">
            <a:solidFill>
              <a:srgbClr val="F5B942"/>
            </a:solidFill>
            <a:prstDash val="solid"/>
          </a:ln>
        </p:spPr>
      </p:sp>
      <p:sp>
        <p:nvSpPr>
          <p:cNvPr id="18" name="Text 14"/>
          <p:cNvSpPr txBox="1"/>
          <p:nvPr/>
        </p:nvSpPr>
        <p:spPr>
          <a:xfrm>
            <a:off x="6492240" y="3017520"/>
            <a:ext cx="457200" cy="1005840"/>
          </a:xfrm>
          <a:prstGeom prst="rect">
            <a:avLst/>
          </a:prstGeom>
          <a:noFill/>
          <a:ln/>
        </p:spPr>
        <p:txBody>
          <a:bodyPr wrap="square" lIns="0" tIns="0" rIns="0" bIns="0" rtlCol="0" anchor="ctr"/>
          <a:lstStyle/>
          <a:p>
            <a:pPr indent="0" marL="0">
              <a:buNone/>
            </a:pPr>
            <a:r>
              <a:rPr lang="en-US" sz="2800" b="1" dirty="0">
                <a:solidFill>
                  <a:srgbClr val="F5B942"/>
                </a:solidFill>
                <a:latin typeface="Calibri" pitchFamily="34" charset="0"/>
                <a:ea typeface="Calibri" pitchFamily="34" charset="-122"/>
                <a:cs typeface="Calibri" pitchFamily="34" charset="-120"/>
              </a:rPr>
              <a:t>2</a:t>
            </a:r>
            <a:endParaRPr lang="en-US" sz="2800" dirty="0"/>
          </a:p>
        </p:txBody>
      </p:sp>
      <p:sp>
        <p:nvSpPr>
          <p:cNvPr id="19" name="Text 15"/>
          <p:cNvSpPr txBox="1"/>
          <p:nvPr/>
        </p:nvSpPr>
        <p:spPr>
          <a:xfrm>
            <a:off x="7040880" y="3108960"/>
            <a:ext cx="448056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Discount reaction tested only at 28-38%</a:t>
            </a:r>
            <a:endParaRPr lang="en-US" sz="1500" dirty="0"/>
          </a:p>
        </p:txBody>
      </p:sp>
      <p:sp>
        <p:nvSpPr>
          <p:cNvPr id="20" name="Text 16"/>
          <p:cNvSpPr txBox="1"/>
          <p:nvPr/>
        </p:nvSpPr>
        <p:spPr>
          <a:xfrm>
            <a:off x="7040880" y="3474720"/>
            <a:ext cx="4480560" cy="50292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Pilot with a comparison group before a full rollout.</a:t>
            </a:r>
            <a:endParaRPr lang="en-US" sz="1200" dirty="0"/>
          </a:p>
        </p:txBody>
      </p:sp>
      <p:sp>
        <p:nvSpPr>
          <p:cNvPr id="21" name="Shape 17"/>
          <p:cNvSpPr/>
          <p:nvPr/>
        </p:nvSpPr>
        <p:spPr>
          <a:xfrm>
            <a:off x="6309360" y="4114800"/>
            <a:ext cx="5303520" cy="1005840"/>
          </a:xfrm>
          <a:prstGeom prst="roundRect">
            <a:avLst>
              <a:gd name="adj" fmla="val 9091"/>
            </a:avLst>
          </a:prstGeom>
          <a:solidFill>
            <a:srgbClr val="0A1F3A"/>
          </a:solidFill>
          <a:ln w="12700">
            <a:solidFill>
              <a:srgbClr val="F5B942"/>
            </a:solidFill>
            <a:prstDash val="solid"/>
          </a:ln>
        </p:spPr>
      </p:sp>
      <p:sp>
        <p:nvSpPr>
          <p:cNvPr id="22" name="Text 18"/>
          <p:cNvSpPr txBox="1"/>
          <p:nvPr/>
        </p:nvSpPr>
        <p:spPr>
          <a:xfrm>
            <a:off x="6492240" y="4114800"/>
            <a:ext cx="457200" cy="1005840"/>
          </a:xfrm>
          <a:prstGeom prst="rect">
            <a:avLst/>
          </a:prstGeom>
          <a:noFill/>
          <a:ln/>
        </p:spPr>
        <p:txBody>
          <a:bodyPr wrap="square" lIns="0" tIns="0" rIns="0" bIns="0" rtlCol="0" anchor="ctr"/>
          <a:lstStyle/>
          <a:p>
            <a:pPr indent="0" marL="0">
              <a:buNone/>
            </a:pPr>
            <a:r>
              <a:rPr lang="en-US" sz="2800" b="1" dirty="0">
                <a:solidFill>
                  <a:srgbClr val="F5B942"/>
                </a:solidFill>
                <a:latin typeface="Calibri" pitchFamily="34" charset="0"/>
                <a:ea typeface="Calibri" pitchFamily="34" charset="-122"/>
                <a:cs typeface="Calibri" pitchFamily="34" charset="-120"/>
              </a:rPr>
              <a:t>3</a:t>
            </a:r>
            <a:endParaRPr lang="en-US" sz="2800" dirty="0"/>
          </a:p>
        </p:txBody>
      </p:sp>
      <p:sp>
        <p:nvSpPr>
          <p:cNvPr id="23" name="Text 19"/>
          <p:cNvSpPr txBox="1"/>
          <p:nvPr/>
        </p:nvSpPr>
        <p:spPr>
          <a:xfrm>
            <a:off x="7040880" y="4206240"/>
            <a:ext cx="448056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Three data sets do not fully match</a:t>
            </a:r>
            <a:endParaRPr lang="en-US" sz="1500" dirty="0"/>
          </a:p>
        </p:txBody>
      </p:sp>
      <p:sp>
        <p:nvSpPr>
          <p:cNvPr id="24" name="Text 20"/>
          <p:cNvSpPr txBox="1"/>
          <p:nvPr/>
        </p:nvSpPr>
        <p:spPr>
          <a:xfrm>
            <a:off x="7040880" y="4572000"/>
            <a:ext cx="4480560" cy="50292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Ad platforms vs online sales; factory orders vs units sold; purchases vs product recipes.</a:t>
            </a:r>
            <a:endParaRPr lang="en-US" sz="1200" dirty="0"/>
          </a:p>
        </p:txBody>
      </p:sp>
      <p:sp>
        <p:nvSpPr>
          <p:cNvPr id="25" name="Shape 21"/>
          <p:cNvSpPr/>
          <p:nvPr/>
        </p:nvSpPr>
        <p:spPr>
          <a:xfrm>
            <a:off x="6309360" y="5212080"/>
            <a:ext cx="5303520" cy="1005840"/>
          </a:xfrm>
          <a:prstGeom prst="roundRect">
            <a:avLst>
              <a:gd name="adj" fmla="val 9091"/>
            </a:avLst>
          </a:prstGeom>
          <a:solidFill>
            <a:srgbClr val="0A1F3A"/>
          </a:solidFill>
          <a:ln w="12700">
            <a:solidFill>
              <a:srgbClr val="F5B942"/>
            </a:solidFill>
            <a:prstDash val="solid"/>
          </a:ln>
        </p:spPr>
      </p:sp>
      <p:sp>
        <p:nvSpPr>
          <p:cNvPr id="26" name="Text 22"/>
          <p:cNvSpPr txBox="1"/>
          <p:nvPr/>
        </p:nvSpPr>
        <p:spPr>
          <a:xfrm>
            <a:off x="6492240" y="5212080"/>
            <a:ext cx="457200" cy="1005840"/>
          </a:xfrm>
          <a:prstGeom prst="rect">
            <a:avLst/>
          </a:prstGeom>
          <a:noFill/>
          <a:ln/>
        </p:spPr>
        <p:txBody>
          <a:bodyPr wrap="square" lIns="0" tIns="0" rIns="0" bIns="0" rtlCol="0" anchor="ctr"/>
          <a:lstStyle/>
          <a:p>
            <a:pPr indent="0" marL="0">
              <a:buNone/>
            </a:pPr>
            <a:r>
              <a:rPr lang="en-US" sz="2800" b="1" dirty="0">
                <a:solidFill>
                  <a:srgbClr val="F5B942"/>
                </a:solidFill>
                <a:latin typeface="Calibri" pitchFamily="34" charset="0"/>
                <a:ea typeface="Calibri" pitchFamily="34" charset="-122"/>
                <a:cs typeface="Calibri" pitchFamily="34" charset="-120"/>
              </a:rPr>
              <a:t>4</a:t>
            </a:r>
            <a:endParaRPr lang="en-US" sz="2800" dirty="0"/>
          </a:p>
        </p:txBody>
      </p:sp>
      <p:sp>
        <p:nvSpPr>
          <p:cNvPr id="27" name="Text 23"/>
          <p:cNvSpPr txBox="1"/>
          <p:nvPr/>
        </p:nvSpPr>
        <p:spPr>
          <a:xfrm>
            <a:off x="7040880" y="5303520"/>
            <a:ext cx="448056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New-customer return rate</a:t>
            </a:r>
            <a:endParaRPr lang="en-US" sz="1500" dirty="0"/>
          </a:p>
        </p:txBody>
      </p:sp>
      <p:sp>
        <p:nvSpPr>
          <p:cNvPr id="28" name="Text 24"/>
          <p:cNvSpPr txBox="1"/>
          <p:nvPr/>
        </p:nvSpPr>
        <p:spPr>
          <a:xfrm>
            <a:off x="7040880" y="5669280"/>
            <a:ext cx="4480560" cy="502920"/>
          </a:xfrm>
          <a:prstGeom prst="rect">
            <a:avLst/>
          </a:prstGeom>
          <a:noFill/>
          <a:ln/>
        </p:spPr>
        <p:txBody>
          <a:bodyPr wrap="square" lIns="0" tIns="0" rIns="0" bIns="0" rtlCol="0" anchor="t"/>
          <a:lstStyle/>
          <a:p>
            <a:pPr indent="0" marL="0">
              <a:buNone/>
            </a:pPr>
            <a:r>
              <a:rPr lang="en-US" sz="1200" dirty="0">
                <a:solidFill>
                  <a:srgbClr val="A9B8D0"/>
                </a:solidFill>
                <a:latin typeface="Calibri" pitchFamily="34" charset="0"/>
                <a:ea typeface="Calibri" pitchFamily="34" charset="-122"/>
                <a:cs typeface="Calibri" pitchFamily="34" charset="-120"/>
              </a:rPr>
              <a:t>Check the drop (91% to 44%) in your customer system.</a:t>
            </a:r>
            <a:endParaRPr lang="en-US" sz="1200" dirty="0"/>
          </a:p>
        </p:txBody>
      </p:sp>
      <p:sp>
        <p:nvSpPr>
          <p:cNvPr id="29" name="Text 25"/>
          <p:cNvSpPr txBox="1"/>
          <p:nvPr/>
        </p:nvSpPr>
        <p:spPr>
          <a:xfrm>
            <a:off x="6309360" y="6263640"/>
            <a:ext cx="4572000" cy="9144"/>
          </a:xfrm>
          <a:prstGeom prst="rect">
            <a:avLst/>
          </a:prstGeom>
          <a:noFill/>
          <a:ln/>
        </p:spPr>
        <p:txBody>
          <a:bodyPr wrap="square" lIns="0" tIns="0" rIns="0" bIns="0" rtlCol="0" anchor="t"/>
          <a:lstStyle/>
          <a:p>
            <a:pPr indent="0" marL="0">
              <a:buNone/>
            </a:pPr>
            <a:r>
              <a:rPr lang="en-US" sz="100" dirty="0">
                <a:solidFill>
                  <a:srgbClr val="FFFFFF"/>
                </a:solidFill>
                <a:latin typeface="Calibri" pitchFamily="34" charset="0"/>
                <a:ea typeface="Calibri" pitchFamily="34" charset="-122"/>
                <a:cs typeface="Calibri" pitchFamily="34" charset="-120"/>
              </a:rPr>
              <a:t>TO CONFIRM BEFORE ROLLOUT</a:t>
            </a:r>
            <a:endParaRPr lang="en-US" sz="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SHARNOUBY GROUP - Where the money is</dc:title>
  <dc:subject>PptxGenJS Presentation</dc:subject>
  <dc:creator>PptxGenJS</dc:creator>
  <cp:lastModifiedBy>PptxGenJS</cp:lastModifiedBy>
  <cp:revision>1</cp:revision>
  <dcterms:created xsi:type="dcterms:W3CDTF">2026-10-10T12:00:27Z</dcterms:created>
  <dcterms:modified xsi:type="dcterms:W3CDTF">2026-10-10T12:00:27Z</dcterms:modified>
</cp:coreProperties>
</file>