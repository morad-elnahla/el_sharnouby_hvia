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0.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Yearly sales</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3B82F6"/>
            </a:solidFill>
            <a:effectLst/>
          </c:spPr>
          <c:invertIfNegative val="0"/>
          <c:dLbls>
            <c:numFmt formatCode="&quot;EGP &quot;0.0&quot;M&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FY24</c:v>
                  </c:pt>
                  <c:pt idx="1">
                    <c:v>FY25</c:v>
                  </c:pt>
                  <c:pt idx="2">
                    <c:v>FY26</c:v>
                  </c:pt>
                </c:lvl>
              </c:multiLvlStrCache>
            </c:multiLvlStrRef>
          </c:cat>
          <c:val>
            <c:numRef>
              <c:f>Sheet1!$B$2:$B$4</c:f>
              <c:numCache>
                <c:formatCode>General</c:formatCode>
                <c:ptCount val="3"/>
                <c:pt idx="0">
                  <c:v>129.5</c:v>
                </c:pt>
                <c:pt idx="1">
                  <c:v>143.5</c:v>
                </c:pt>
                <c:pt idx="2">
                  <c:v>148.3</c:v>
                </c:pt>
              </c:numCache>
            </c:numRef>
          </c:val>
        </c:ser>
        <c:dLbls>
          <c:numFmt formatCode="&quot;EGP &quot;0.0&quot;M&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17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sales</c:v>
                </c:pt>
              </c:strCache>
            </c:strRef>
          </c:tx>
          <c:spPr>
            <a:solidFill>
              <a:srgbClr val="A9B8D0"/>
            </a:solidFill>
            <a:effectLst/>
          </c:spPr>
          <c:invertIfNegative val="0"/>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Wholesale</c:v>
                  </c:pt>
                  <c:pt idx="1">
                    <c:v>Retail</c:v>
                  </c:pt>
                  <c:pt idx="2">
                    <c:v>Online</c:v>
                  </c:pt>
                </c:lvl>
              </c:multiLvlStrCache>
            </c:multiLvlStrRef>
          </c:cat>
          <c:val>
            <c:numRef>
              <c:f>Sheet1!$B$2:$B$4</c:f>
              <c:numCache>
                <c:formatCode>General</c:formatCode>
                <c:ptCount val="3"/>
                <c:pt idx="0">
                  <c:v>85</c:v>
                </c:pt>
                <c:pt idx="1">
                  <c:v>7</c:v>
                </c:pt>
                <c:pt idx="2">
                  <c:v>8</c:v>
                </c:pt>
              </c:numCache>
            </c:numRef>
          </c:val>
        </c:ser>
        <c:ser>
          <c:idx val="1"/>
          <c:order val="1"/>
          <c:tx>
            <c:strRef>
              <c:f>Sheet1!$C$1</c:f>
              <c:strCache>
                <c:ptCount val="1"/>
                <c:pt idx="0">
                  <c:v>Share of profit</c:v>
                </c:pt>
              </c:strCache>
            </c:strRef>
          </c:tx>
          <c:spPr>
            <a:solidFill>
              <a:srgbClr val="22D3EE"/>
            </a:solidFill>
            <a:effectLst/>
          </c:spPr>
          <c:invertIfNegative val="0"/>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Wholesale</c:v>
                  </c:pt>
                  <c:pt idx="1">
                    <c:v>Retail</c:v>
                  </c:pt>
                  <c:pt idx="2">
                    <c:v>Online</c:v>
                  </c:pt>
                </c:lvl>
              </c:multiLvlStrCache>
            </c:multiLvlStrRef>
          </c:cat>
          <c:val>
            <c:numRef>
              <c:f>Sheet1!$C$2:$C$4</c:f>
              <c:numCache>
                <c:formatCode>General</c:formatCode>
                <c:ptCount val="3"/>
                <c:pt idx="0">
                  <c:v>66</c:v>
                </c:pt>
                <c:pt idx="1">
                  <c:v>17</c:v>
                </c:pt>
                <c:pt idx="2">
                  <c:v>18</c:v>
                </c:pt>
              </c:numCache>
            </c:numRef>
          </c:val>
        </c:ser>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A9B8D0"/>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Profit margin on wholesale orders</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34D399"/>
            </a:solidFill>
            <a:effectLst/>
          </c:spPr>
          <c:invertIfNegative val="0"/>
          <c:dLbls>
            <c:numFmt formatCode="0.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34D399"/>
              </a:solidFill>
              <a:effectLst/>
            </c:spPr>
          </c:dPt>
          <c:dPt>
            <c:idx val="1"/>
            <c:invertIfNegative val="0"/>
            <c:bubble3D val="0"/>
            <c:spPr>
              <a:solidFill>
                <a:srgbClr val="34D399"/>
              </a:solidFill>
              <a:effectLst/>
            </c:spPr>
          </c:dPt>
          <c:dPt>
            <c:idx val="2"/>
            <c:invertIfNegative val="0"/>
            <c:bubble3D val="0"/>
            <c:spPr>
              <a:solidFill>
                <a:srgbClr val="F5B942"/>
              </a:solidFill>
              <a:effectLst/>
            </c:spPr>
          </c:dPt>
          <c:dPt>
            <c:idx val="3"/>
            <c:invertIfNegative val="0"/>
            <c:bubble3D val="0"/>
            <c:spPr>
              <a:solidFill>
                <a:srgbClr val="F87171"/>
              </a:solidFill>
              <a:effectLst/>
            </c:spPr>
          </c:dPt>
          <c:dPt>
            <c:idx val="4"/>
            <c:invertIfNegative val="0"/>
            <c:bubble3D val="0"/>
            <c:spPr>
              <a:solidFill>
                <a:srgbClr val="F87171"/>
              </a:solidFill>
              <a:effectLst/>
            </c:spPr>
          </c:dPt>
          <c:cat>
            <c:multiLvlStrRef>
              <c:f>Sheet1!$A$2:$A$6</c:f>
              <c:multiLvlStrCache>
                <c:ptCount val="5"/>
                <c:lvl>
                  <c:pt idx="0">
                    <c:v>28% off</c:v>
                  </c:pt>
                  <c:pt idx="1">
                    <c:v>30% off</c:v>
                  </c:pt>
                  <c:pt idx="2">
                    <c:v>32% off</c:v>
                  </c:pt>
                  <c:pt idx="3">
                    <c:v>35% off</c:v>
                  </c:pt>
                  <c:pt idx="4">
                    <c:v>38% off</c:v>
                  </c:pt>
                </c:lvl>
              </c:multiLvlStrCache>
            </c:multiLvlStrRef>
          </c:cat>
          <c:val>
            <c:numRef>
              <c:f>Sheet1!$B$2:$B$6</c:f>
              <c:numCache>
                <c:formatCode>General</c:formatCode>
                <c:ptCount val="5"/>
                <c:pt idx="0">
                  <c:v>17.6</c:v>
                </c:pt>
                <c:pt idx="1">
                  <c:v>15.2</c:v>
                </c:pt>
                <c:pt idx="2">
                  <c:v>12.6</c:v>
                </c:pt>
                <c:pt idx="3">
                  <c:v>8.6</c:v>
                </c:pt>
                <c:pt idx="4">
                  <c:v>4.2</c:v>
                </c:pt>
              </c:numCache>
            </c:numRef>
          </c:val>
        </c:ser>
        <c:dLbls>
          <c:numFmt formatCode="0.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2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Extra sales volume in Jun-Jul</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A9B8D0"/>
            </a:solidFill>
            <a:effectLst/>
          </c:spPr>
          <c:invertIfNegative val="0"/>
          <c:dLbls>
            <c:numFmt formatCode="&quot;+&quot;0.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8D0"/>
              </a:solidFill>
              <a:effectLst/>
            </c:spPr>
          </c:dPt>
          <c:dPt>
            <c:idx val="1"/>
            <c:invertIfNegative val="0"/>
            <c:bubble3D val="0"/>
            <c:spPr>
              <a:solidFill>
                <a:srgbClr val="A9B8D0"/>
              </a:solidFill>
              <a:effectLst/>
            </c:spPr>
          </c:dPt>
          <c:dPt>
            <c:idx val="2"/>
            <c:invertIfNegative val="0"/>
            <c:bubble3D val="0"/>
            <c:spPr>
              <a:solidFill>
                <a:srgbClr val="F5B942"/>
              </a:solidFill>
              <a:effectLst/>
            </c:spPr>
          </c:dPt>
          <c:cat>
            <c:multiLvlStrRef>
              <c:f>Sheet1!$A$2:$A$4</c:f>
              <c:multiLvlStrCache>
                <c:ptCount val="3"/>
                <c:lvl>
                  <c:pt idx="0">
                    <c:v>2024 (no extra discount)</c:v>
                  </c:pt>
                  <c:pt idx="1">
                    <c:v>2025 (no extra discount)</c:v>
                  </c:pt>
                  <c:pt idx="2">
                    <c:v>2026 (discount 7.3% to 9.7%)</c:v>
                  </c:pt>
                </c:lvl>
              </c:multiLvlStrCache>
            </c:multiLvlStrRef>
          </c:cat>
          <c:val>
            <c:numRef>
              <c:f>Sheet1!$B$2:$B$4</c:f>
              <c:numCache>
                <c:formatCode>General</c:formatCode>
                <c:ptCount val="3"/>
                <c:pt idx="0">
                  <c:v>5.7</c:v>
                </c:pt>
                <c:pt idx="1">
                  <c:v>5.9</c:v>
                </c:pt>
                <c:pt idx="2">
                  <c:v>5.2</c:v>
                </c:pt>
              </c:numCache>
            </c:numRef>
          </c:val>
        </c:ser>
        <c:dLbls>
          <c:numFmt formatCode="&quot;+&quot;0.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New customers who buy again the next quarter</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22D3EE"/>
            </a:solidFill>
            <a:effectLst/>
          </c:spPr>
          <c:invertIfNegative val="0"/>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22D3EE"/>
              </a:solidFill>
              <a:effectLst/>
            </c:spPr>
          </c:dPt>
          <c:dPt>
            <c:idx val="1"/>
            <c:invertIfNegative val="0"/>
            <c:bubble3D val="0"/>
            <c:spPr>
              <a:solidFill>
                <a:srgbClr val="F5B942"/>
              </a:solidFill>
              <a:effectLst/>
            </c:spPr>
          </c:dPt>
          <c:cat>
            <c:multiLvlStrRef>
              <c:f>Sheet1!$A$2:$A$3</c:f>
              <c:multiLvlStrCache>
                <c:ptCount val="2"/>
                <c:lvl>
                  <c:pt idx="0">
                    <c:v>First customer group (Q4 2023)</c:v>
                  </c:pt>
                  <c:pt idx="1">
                    <c:v>Recent groups (2025+)</c:v>
                  </c:pt>
                </c:lvl>
              </c:multiLvlStrCache>
            </c:multiLvlStrRef>
          </c:cat>
          <c:val>
            <c:numRef>
              <c:f>Sheet1!$B$2:$B$3</c:f>
              <c:numCache>
                <c:formatCode>General</c:formatCode>
                <c:ptCount val="2"/>
                <c:pt idx="0">
                  <c:v>91</c:v>
                </c:pt>
                <c:pt idx="1">
                  <c:v>44</c:v>
                </c:pt>
              </c:numCache>
            </c:numRef>
          </c:val>
        </c:ser>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Days of stock on hand</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F87171"/>
            </a:solidFill>
            <a:effectLst/>
          </c:spPr>
          <c:invertIfNegative val="0"/>
          <c:dLbls>
            <c:numFmt formatCode="0&quot; days&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F87171"/>
              </a:solidFill>
              <a:effectLst/>
            </c:spPr>
          </c:dPt>
          <c:dPt>
            <c:idx val="1"/>
            <c:invertIfNegative val="0"/>
            <c:bubble3D val="0"/>
            <c:spPr>
              <a:solidFill>
                <a:srgbClr val="3B82F6"/>
              </a:solidFill>
              <a:effectLst/>
            </c:spPr>
          </c:dPt>
          <c:dPt>
            <c:idx val="2"/>
            <c:invertIfNegative val="0"/>
            <c:bubble3D val="0"/>
            <c:spPr>
              <a:solidFill>
                <a:srgbClr val="3B82F6"/>
              </a:solidFill>
              <a:effectLst/>
            </c:spPr>
          </c:dPt>
          <c:cat>
            <c:multiLvlStrRef>
              <c:f>Sheet1!$A$2:$A$4</c:f>
              <c:multiLvlStrCache>
                <c:ptCount val="3"/>
                <c:lvl>
                  <c:pt idx="0">
                    <c:v>Wholesale</c:v>
                  </c:pt>
                  <c:pt idx="1">
                    <c:v>Retail store</c:v>
                  </c:pt>
                  <c:pt idx="2">
                    <c:v>Online store</c:v>
                  </c:pt>
                </c:lvl>
              </c:multiLvlStrCache>
            </c:multiLvlStrRef>
          </c:cat>
          <c:val>
            <c:numRef>
              <c:f>Sheet1!$B$2:$B$4</c:f>
              <c:numCache>
                <c:formatCode>General</c:formatCode>
                <c:ptCount val="3"/>
                <c:pt idx="0">
                  <c:v>11</c:v>
                </c:pt>
                <c:pt idx="1">
                  <c:v>118</c:v>
                </c:pt>
                <c:pt idx="2">
                  <c:v>113</c:v>
                </c:pt>
              </c:numCache>
            </c:numRef>
          </c:val>
        </c:ser>
        <c:dLbls>
          <c:numFmt formatCode="0&quot; days&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1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Share of orders delivered on time (approx.)</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A9B8D0"/>
            </a:solidFill>
            <a:effectLst/>
          </c:spPr>
          <c:invertIfNegative val="0"/>
          <c:dLbls>
            <c:numFmt formatCode="&quot;~&quot;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8D0"/>
              </a:solidFill>
              <a:effectLst/>
            </c:spPr>
          </c:dPt>
          <c:dPt>
            <c:idx val="1"/>
            <c:invertIfNegative val="0"/>
            <c:bubble3D val="0"/>
            <c:spPr>
              <a:solidFill>
                <a:srgbClr val="F87171"/>
              </a:solidFill>
              <a:effectLst/>
            </c:spPr>
          </c:dPt>
          <c:dPt>
            <c:idx val="2"/>
            <c:invertIfNegative val="0"/>
            <c:bubble3D val="0"/>
            <c:spPr>
              <a:solidFill>
                <a:srgbClr val="34D399"/>
              </a:solidFill>
              <a:effectLst/>
            </c:spPr>
          </c:dPt>
          <c:cat>
            <c:multiLvlStrRef>
              <c:f>Sheet1!$A$2:$A$4</c:f>
              <c:multiLvlStrCache>
                <c:ptCount val="3"/>
                <c:lvl>
                  <c:pt idx="0">
                    <c:v>SUP04 &amp; SUP09 before 2025</c:v>
                  </c:pt>
                  <c:pt idx="1">
                    <c:v>SUP04 &amp; SUP09 since 2025</c:v>
                  </c:pt>
                  <c:pt idx="2">
                    <c:v>Other 10 suppliers</c:v>
                  </c:pt>
                </c:lvl>
              </c:multiLvlStrCache>
            </c:multiLvlStrRef>
          </c:cat>
          <c:val>
            <c:numRef>
              <c:f>Sheet1!$B$2:$B$4</c:f>
              <c:numCache>
                <c:formatCode>General</c:formatCode>
                <c:ptCount val="3"/>
                <c:pt idx="0">
                  <c:v>65</c:v>
                </c:pt>
                <c:pt idx="1">
                  <c:v>15</c:v>
                </c:pt>
                <c:pt idx="2">
                  <c:v>71</c:v>
                </c:pt>
              </c:numCache>
            </c:numRef>
          </c:val>
        </c:ser>
        <c:dLbls>
          <c:numFmt formatCode="&quot;~&quot;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Share of delay days by stage</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F87171"/>
            </a:solidFill>
            <a:effectLst/>
          </c:spPr>
          <c:invertIfNegative val="0"/>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F87171"/>
              </a:solidFill>
              <a:effectLst/>
            </c:spPr>
          </c:dPt>
          <c:dPt>
            <c:idx val="1"/>
            <c:invertIfNegative val="0"/>
            <c:bubble3D val="0"/>
            <c:spPr>
              <a:solidFill>
                <a:srgbClr val="F5B942"/>
              </a:solidFill>
              <a:effectLst/>
            </c:spPr>
          </c:dPt>
          <c:dPt>
            <c:idx val="2"/>
            <c:invertIfNegative val="0"/>
            <c:bubble3D val="0"/>
            <c:spPr>
              <a:solidFill>
                <a:srgbClr val="A9B8D0"/>
              </a:solidFill>
              <a:effectLst/>
            </c:spPr>
          </c:dPt>
          <c:cat>
            <c:multiLvlStrRef>
              <c:f>Sheet1!$A$2:$A$4</c:f>
              <c:multiLvlStrCache>
                <c:ptCount val="3"/>
                <c:lvl>
                  <c:pt idx="0">
                    <c:v>Sewing</c:v>
                  </c:pt>
                  <c:pt idx="1">
                    <c:v>Finishing</c:v>
                  </c:pt>
                  <c:pt idx="2">
                    <c:v>All other stages</c:v>
                  </c:pt>
                </c:lvl>
              </c:multiLvlStrCache>
            </c:multiLvlStrRef>
          </c:cat>
          <c:val>
            <c:numRef>
              <c:f>Sheet1!$B$2:$B$4</c:f>
              <c:numCache>
                <c:formatCode>General</c:formatCode>
                <c:ptCount val="3"/>
                <c:pt idx="0">
                  <c:v>42</c:v>
                </c:pt>
                <c:pt idx="1">
                  <c:v>26</c:v>
                </c:pt>
                <c:pt idx="2">
                  <c:v>32</c:v>
                </c:pt>
              </c:numCache>
            </c:numRef>
          </c:val>
        </c:ser>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5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Estimated cost of poor quality (3 years)</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F87171"/>
            </a:solidFill>
            <a:effectLst/>
          </c:spPr>
          <c:invertIfNegative val="0"/>
          <c:dLbls>
            <c:numFmt formatCode="&quot;EGP &quot;0.0&quot;M&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F87171"/>
              </a:solidFill>
              <a:effectLst/>
            </c:spPr>
          </c:dPt>
          <c:dPt>
            <c:idx val="1"/>
            <c:invertIfNegative val="0"/>
            <c:bubble3D val="0"/>
            <c:spPr>
              <a:solidFill>
                <a:srgbClr val="A78BFA"/>
              </a:solidFill>
              <a:effectLst/>
            </c:spPr>
          </c:dPt>
          <c:dPt>
            <c:idx val="2"/>
            <c:invertIfNegative val="0"/>
            <c:bubble3D val="0"/>
            <c:spPr>
              <a:solidFill>
                <a:srgbClr val="F5B942"/>
              </a:solidFill>
              <a:effectLst/>
            </c:spPr>
          </c:dPt>
          <c:dPt>
            <c:idx val="3"/>
            <c:invertIfNegative val="0"/>
            <c:bubble3D val="0"/>
            <c:spPr>
              <a:solidFill>
                <a:srgbClr val="F5B942"/>
              </a:solidFill>
              <a:effectLst/>
            </c:spPr>
          </c:dPt>
          <c:cat>
            <c:multiLvlStrRef>
              <c:f>Sheet1!$A$2:$A$5</c:f>
              <c:multiLvlStrCache>
                <c:ptCount val="4"/>
                <c:lvl>
                  <c:pt idx="0">
                    <c:v>Rejected at inspection</c:v>
                  </c:pt>
                  <c:pt idx="1">
                    <c:v>Refunds for quality returns</c:v>
                  </c:pt>
                  <c:pt idx="2">
                    <c:v>Print rework</c:v>
                  </c:pt>
                  <c:pt idx="3">
                    <c:v>Wasted print materials</c:v>
                  </c:pt>
                </c:lvl>
              </c:multiLvlStrCache>
            </c:multiLvlStrRef>
          </c:cat>
          <c:val>
            <c:numRef>
              <c:f>Sheet1!$B$2:$B$5</c:f>
              <c:numCache>
                <c:formatCode>General</c:formatCode>
                <c:ptCount val="4"/>
                <c:pt idx="0">
                  <c:v>16.3</c:v>
                </c:pt>
                <c:pt idx="1">
                  <c:v>2.5</c:v>
                </c:pt>
                <c:pt idx="2">
                  <c:v>0.8</c:v>
                </c:pt>
                <c:pt idx="3">
                  <c:v>0.7</c:v>
                </c:pt>
              </c:numCache>
            </c:numRef>
          </c:val>
        </c:ser>
        <c:dLbls>
          <c:numFmt formatCode="&quot;EGP &quot;0.0&quot;M&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2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Reported sales per EGP 1 of ad spend</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34D399"/>
            </a:solidFill>
            <a:effectLst/>
          </c:spPr>
          <c:invertIfNegative val="0"/>
          <c:dLbls>
            <c:numFmt formatCode="&quot;EGP &quot;0.0"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34D399"/>
              </a:solidFill>
              <a:effectLst/>
            </c:spPr>
          </c:dPt>
          <c:dPt>
            <c:idx val="1"/>
            <c:invertIfNegative val="0"/>
            <c:bubble3D val="0"/>
            <c:spPr>
              <a:solidFill>
                <a:srgbClr val="34D399"/>
              </a:solidFill>
              <a:effectLst/>
            </c:spPr>
          </c:dPt>
          <c:dPt>
            <c:idx val="2"/>
            <c:invertIfNegative val="0"/>
            <c:bubble3D val="0"/>
            <c:spPr>
              <a:solidFill>
                <a:srgbClr val="F5B942"/>
              </a:solidFill>
              <a:effectLst/>
            </c:spPr>
          </c:dPt>
          <c:dPt>
            <c:idx val="3"/>
            <c:invertIfNegative val="0"/>
            <c:bubble3D val="0"/>
            <c:spPr>
              <a:solidFill>
                <a:srgbClr val="F5B942"/>
              </a:solidFill>
              <a:effectLst/>
            </c:spPr>
          </c:dPt>
          <c:dPt>
            <c:idx val="4"/>
            <c:invertIfNegative val="0"/>
            <c:bubble3D val="0"/>
            <c:spPr>
              <a:solidFill>
                <a:srgbClr val="F87171"/>
              </a:solidFill>
              <a:effectLst/>
            </c:spPr>
          </c:dPt>
          <c:cat>
            <c:multiLvlStrRef>
              <c:f>Sheet1!$A$2:$A$6</c:f>
              <c:multiLvlStrCache>
                <c:ptCount val="5"/>
                <c:lvl>
                  <c:pt idx="0">
                    <c:v>WhatsApp / CRM msgs</c:v>
                  </c:pt>
                  <c:pt idx="1">
                    <c:v>Google</c:v>
                  </c:pt>
                  <c:pt idx="2">
                    <c:v>TikTok</c:v>
                  </c:pt>
                  <c:pt idx="3">
                    <c:v>Meta</c:v>
                  </c:pt>
                  <c:pt idx="4">
                    <c:v>Influencer</c:v>
                  </c:pt>
                </c:lvl>
              </c:multiLvlStrCache>
            </c:multiLvlStrRef>
          </c:cat>
          <c:val>
            <c:numRef>
              <c:f>Sheet1!$B$2:$B$6</c:f>
              <c:numCache>
                <c:formatCode>General</c:formatCode>
                <c:ptCount val="5"/>
                <c:pt idx="0">
                  <c:v>67</c:v>
                </c:pt>
                <c:pt idx="1">
                  <c:v>10.3</c:v>
                </c:pt>
                <c:pt idx="2">
                  <c:v>4.9</c:v>
                </c:pt>
                <c:pt idx="3">
                  <c:v>4.4</c:v>
                </c:pt>
                <c:pt idx="4">
                  <c:v>1.1</c:v>
                </c:pt>
              </c:numCache>
            </c:numRef>
          </c:val>
        </c:ser>
        <c:dLbls>
          <c:numFmt formatCode="&quot;EGP &quot;0.0"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c:v>
                </c:pt>
              </c:strCache>
            </c:strRef>
          </c:tx>
          <c:spPr>
            <a:solidFill>
              <a:srgbClr val="34D399"/>
            </a:solidFill>
            <a:effectLst/>
          </c:spPr>
          <c:invertIfNegative val="0"/>
          <c:dLbls>
            <c:numFmt formatCode="&quot;EGP &quot;0.00&quot;M&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34D399"/>
              </a:solidFill>
              <a:effectLst/>
            </c:spPr>
          </c:dPt>
          <c:dPt>
            <c:idx val="1"/>
            <c:invertIfNegative val="0"/>
            <c:bubble3D val="0"/>
            <c:spPr>
              <a:solidFill>
                <a:srgbClr val="34D399"/>
              </a:solidFill>
              <a:effectLst/>
            </c:spPr>
          </c:dPt>
          <c:dPt>
            <c:idx val="2"/>
            <c:invertIfNegative val="0"/>
            <c:bubble3D val="0"/>
            <c:spPr>
              <a:solidFill>
                <a:srgbClr val="22D3EE"/>
              </a:solidFill>
              <a:effectLst/>
            </c:spPr>
          </c:dPt>
          <c:dPt>
            <c:idx val="3"/>
            <c:invertIfNegative val="0"/>
            <c:bubble3D val="0"/>
            <c:spPr>
              <a:solidFill>
                <a:srgbClr val="A9B8D0"/>
              </a:solidFill>
              <a:effectLst/>
            </c:spPr>
          </c:dPt>
          <c:dPt>
            <c:idx val="4"/>
            <c:invertIfNegative val="0"/>
            <c:bubble3D val="0"/>
            <c:spPr>
              <a:solidFill>
                <a:srgbClr val="A9B8D0"/>
              </a:solidFill>
              <a:effectLst/>
            </c:spPr>
          </c:dPt>
          <c:dPt>
            <c:idx val="5"/>
            <c:invertIfNegative val="0"/>
            <c:bubble3D val="0"/>
            <c:spPr>
              <a:solidFill>
                <a:srgbClr val="A9B8D0"/>
              </a:solidFill>
              <a:effectLst/>
            </c:spPr>
          </c:dPt>
          <c:dPt>
            <c:idx val="6"/>
            <c:invertIfNegative val="0"/>
            <c:bubble3D val="0"/>
            <c:spPr>
              <a:solidFill>
                <a:srgbClr val="A9B8D0"/>
              </a:solidFill>
              <a:effectLst/>
            </c:spPr>
          </c:dPt>
          <c:cat>
            <c:multiLvlStrRef>
              <c:f>Sheet1!$A$2:$A$8</c:f>
              <c:multiLvlStrCache>
                <c:ptCount val="7"/>
                <c:lvl>
                  <c:pt idx="0">
                    <c:v>Wholesale discount limits</c:v>
                  </c:pt>
                  <c:pt idx="1">
                    <c:v>Protect minimum margin</c:v>
                  </c:pt>
                  <c:pt idx="2">
                    <c:v>Reduce poor quality</c:v>
                  </c:pt>
                  <c:pt idx="3">
                    <c:v>Win back quiet customers</c:v>
                  </c:pt>
                  <c:pt idx="4">
                    <c:v>Fewer wholesale stockouts</c:v>
                  </c:pt>
                  <c:pt idx="5">
                    <c:v>Shift ad budget</c:v>
                  </c:pt>
                  <c:pt idx="6">
                    <c:v>Fewer size / fit returns</c:v>
                  </c:pt>
                </c:lvl>
              </c:multiLvlStrCache>
            </c:multiLvlStrRef>
          </c:cat>
          <c:val>
            <c:numRef>
              <c:f>Sheet1!$B$2:$B$8</c:f>
              <c:numCache>
                <c:formatCode>General</c:formatCode>
                <c:ptCount val="7"/>
                <c:pt idx="0">
                  <c:v>3.87</c:v>
                </c:pt>
                <c:pt idx="1">
                  <c:v>3.29</c:v>
                </c:pt>
                <c:pt idx="2">
                  <c:v>1.09</c:v>
                </c:pt>
                <c:pt idx="3">
                  <c:v>0.24</c:v>
                </c:pt>
                <c:pt idx="4">
                  <c:v>0.18</c:v>
                </c:pt>
                <c:pt idx="5">
                  <c:v>0.09</c:v>
                </c:pt>
                <c:pt idx="6">
                  <c:v>0.02</c:v>
                </c:pt>
              </c:numCache>
            </c:numRef>
          </c:val>
        </c:ser>
        <c:dLbls>
          <c:numFmt formatCode="&quot;EGP &quot;0.00&quot;M&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In the next 15 minutes I will show you three things: where your business stands, where money is being lost, and what to do first. Everything comes from your own sales, stock, factory, supplier and marketing data over three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Over three years you sold EGP 421 million and kept EGP 65 million as gross profit, a 15.4 percent margin. Our base-case estimate is that EGP 8.8 million a year of profit is being lost, mostly through discounts. That is about 38 percent of last year's gross profit of around EGP 23 million. The next slides show where it goes and what to do. Note: profit here is gross profit using estimated product costs, and the 8.8 million is a base-case estimate before the cost of making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grew almost 11 percent in the second year but only 3 percent in the last year. The profit margin stayed flat at about 15 and a half percent. So we are working harder to sell more but not keeping more of each riyal. The reason is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Wholesale is your volume engine: EGP 359 million of sales. But it earns only 11.9 piasters on each riyal, while retail earns 37 and online 35. The product costs the same everywhere, so the difference is price, mainly discounts. A unit sold at retail earns EGP 126 profit, one sold wholesale earns EGP 29. Also note online grew 60 percent in two years, wholesale 13 percent, and the retail store shrank 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Wholesale discounts range from 28 to 38 percent. At 28 percent off we still earn about 18 percent margin; at 38 percent off, about 4 percent. 4,876 wholesale invoices, about one in ten, were sold below cost, losing EGP 1.4 million. Overall, wholesale gave away EGP 173.9 million in discounts, which is 80 percent of the profit it could have made before discounts.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tests. First, wholesale discount has no link to order size: a 60-unit order is as likely to get 28 percent off as a 12-unit order is to get 38. There is no volume rule today. Second, last summer's promotion: discount went from 7.3 to 9.7 percent, but sales volume rose 5.2 percent, the same as in 2024 and 2025 when we gave no extra discount. So profit per day fell 2.7 percent instead of rising. The message: we are giving margin away without clear proof that it creates extra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retail customers who used to buy often and have not bought for a median of 229 days. They are 16 percent of customers but 32 percent of sales, and 65 percent agreed to WhatsApp or SMS messages, so we can contact them. Also, new customers come back much less than before: next-quarter return fell from 91 percent for the first group to about 44 percent for recent groups. In addition, 6,625 retail customers have not bought for more than six months, worth EGP 22 million of past sales. A win-back campaign through WhatsApp is cheap, about EGP 7 per order. Base-case value EGP 0.24 million a year, range 0.12 to 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Wholesale holds only about 11 days of stock, and 36 of 59 products are below the reorder level or out of stock. Retail and online hold nearly four months. That means EGP 7.5 million of excess stock, about half of all stock value, while wholesale loses sales: we estimate EGP 1.06 million of profit lost to stockouts over three years. We built a forecast that is accurate enough to plan with, about 23 percent error per product and location versus 54 percent for a simple rule. It says wholesale needs about EGP 10 million of orders, and buying should stop on overstocked retail and online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Supplier SUP04, who supplies printing consumables, and SUP09, who supplies trims, delivered on time about 65 percent of the time until 2024, then fell to about 15 percent in 2025. The other ten suppliers stayed steady near 71 percent. These two carry 16 percent of purchase spend, and thread, ink and rib cotton are the highest shortage risks. An important point: we tested whether late suppliers cause late factory orders and found no link so far. So this is a risk to fix before it hits production, not yet the cause of today's delays. Actions: enforce the contract with SUP04, contract or replace SUP09, hold safety stock of thread and 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factory orders finish late, 68 percent of the lost days come from sewing and finishing. Production line 4 is late 20 percent of the time versus 15 percent on the other lines, which is a real difference and not chance. Orders that need more than 15 hours of overtime are late two thirds of the time, so overtime is a symptom, not a cure. All lines produce about 91 percent of plan with about 2.5 percent rejects. Actions: rebalance sewing and finishing, review line 4, cap overtime. One caution: production-order volumes are about 3.8 times the units we sold, so the factory likely also produces for others or builds stock; this needs to be clarified.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estimate the cost of poor quality at EGP 20.3 million over three years, 31 percent of gross profit. Most of it, EGP 16.3 million, is products rejected at inspection. No single defect dominates: losses are spread evenly across nine types, so the fix is better process control, not one quick repair. Also 12 percent of the loss is not classified, which makes it hard to manage. Customer returns tell a second story: 36 percent are about size and fit, which is a product-information issue, not a factory one. Printer PR-M03 rejects the most and PR-M02 loses the most hours to breakdowns. Estimated reduction of 20 percent is worth about EGP 1.1 million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sales that each platform reports for each riyal of ad spend. WhatsApp and CRM messages and Google are efficient; Meta and TikTok are middle; influencers barely return their cost. Please be careful: the platforms together claim 5.5 times more sales than our online store actually made, so the true returns are lower. As a rule, an ad must bring about 2.8 riyals of sales per riyal spent just to cover itself from profit. Recommendation: cut half of influencer spend, pause the seven weakest campaigns, give Google 30 percent more, and test Meta and TikTok before spending more. This is a small, uncertain gain, from minus 20 thousand to plus 1 million a year. Also, the website sells 2.9 percent of visits, falling to 2.0 percent when pages load slower than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to act first. In the base case, EGP 8.8 million of annual gross profit is at stake. The top two items, both about wholesale pricing, are EGP 3.9 million for discount limits by order size and EGP 3.3 million for protecting minimum margins, together 82 percent. Next is quality at EGP 1.1 million. Everything else is below EGP 0.3 million each. The ranges: pricing assumes customers might buy up to 20 percent less on repriced orders; we observed no such reaction, and the plan stays profitable even if customers buy 48 percent less. Ranges are low to high: discount limits 2.9 to 4.9, margin floor 2.7 to 3.9, quality 0.5 to 1.6, win-back 0.1 to 0.4, stockouts 0.1 to 0.3, marketing minus 0.02 to 1.0, size/fit 0.01 to 0.04, all in EGP millions.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fix. When a salesperson prepares a wholesale quote, the Deal Desk checks the order size and customer, suggests the maximum discount, checks the margin, and sends exceptions for approval. The rules: up to 28 percent off for 12 to 23 units, 30 percent for 24 to 47, 32 percent for 48 and above, so bigger orders earn bigger discounts, which does not happen today. Phase two adds a minimum 15 percent margin, with manager approval if margin is at least 8 percent, director approval below that, and never below cost. A working prototype exists. Tested on three years of real invoices it would have added EGP 2.9 to 4.9 million a year for phase one. The same approach, using data to give a recommendation that a manager acts on, can later support win-back, stock planning, supplier warnings, factory monitoring and ad budgets. It supports decisions, it does not replace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pilot the Deal Desk with the 25 customers who receive the most excess discount, block below-cost quotes, stop influencer spending, and enforce the contract with SUP04. Next: win back the 3,745 quiet customers, start forecast-based ordering for wholesale, and stop buying overstocked retail and online products. Then: add the minimum margin rule, and build monitoring for suppliers, factory delays and quality, plus a size guide online. To close: HVIA did not only analyse your data. We found where value is being lost, where profitable growth is available, and how to turn those decisions into daily practice. The strongest opportunity is EGP 2.9 to 4.9 million of profit per year from pricing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honest limits of the analysis, and none of them cancels the opportunity. First, product costs are estimates, so Finance should confirm them. Second, we saw no customer reaction to discounts only between 28 and 38 percent off, so we pilot before a full rollout. Third, three data sets do not fully match each other: ad platforms versus real online sales, factory orders versus units sold, and purchases versus product recipes. Fourth, the drop in how many new customers return should be checked against your customer system. Please let us validate these in the first 30 days of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7.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8.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9.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10.xm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11.xm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7863840" y="-1097280"/>
            <a:ext cx="6400800" cy="6400800"/>
          </a:xfrm>
          <a:prstGeom prst="ellipse">
            <a:avLst/>
          </a:prstGeom>
          <a:solidFill>
            <a:srgbClr val="22D3EE">
              <a:alpha val="7000"/>
            </a:srgbClr>
          </a:solidFill>
          <a:ln w="12700">
            <a:solidFill>
              <a:srgbClr val="22D3EE">
                <a:alpha val="30000"/>
              </a:srgbClr>
            </a:solidFill>
            <a:prstDash val="solid"/>
          </a:ln>
        </p:spPr>
      </p:sp>
      <p:pic>
        <p:nvPicPr>
          <p:cNvPr id="3" name="Image 0" descr="logo.png">    </p:cNvPr>
          <p:cNvPicPr>
            <a:picLocks noChangeAspect="1"/>
          </p:cNvPicPr>
          <p:nvPr/>
        </p:nvPicPr>
        <p:blipFill>
          <a:blip r:embed="rId1"/>
          <a:stretch>
            <a:fillRect/>
          </a:stretch>
        </p:blipFill>
        <p:spPr>
          <a:xfrm>
            <a:off x="731520" y="640080"/>
            <a:ext cx="2377440" cy="996696"/>
          </a:xfrm>
          <a:prstGeom prst="rect">
            <a:avLst/>
          </a:prstGeom>
        </p:spPr>
      </p:pic>
      <p:sp>
        <p:nvSpPr>
          <p:cNvPr id="4" name="Text 1"/>
          <p:cNvSpPr txBox="1"/>
          <p:nvPr/>
        </p:nvSpPr>
        <p:spPr>
          <a:xfrm>
            <a:off x="731520" y="2468880"/>
            <a:ext cx="10058400" cy="82296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EL SHARNOUBY GROUP</a:t>
            </a:r>
            <a:endParaRPr lang="en-US" sz="4800" dirty="0"/>
          </a:p>
        </p:txBody>
      </p:sp>
      <p:sp>
        <p:nvSpPr>
          <p:cNvPr id="5" name="Text 2"/>
          <p:cNvSpPr txBox="1"/>
          <p:nvPr/>
        </p:nvSpPr>
        <p:spPr>
          <a:xfrm>
            <a:off x="731520" y="3383280"/>
            <a:ext cx="10515600" cy="457200"/>
          </a:xfrm>
          <a:prstGeom prst="rect">
            <a:avLst/>
          </a:prstGeom>
          <a:noFill/>
          <a:ln/>
        </p:spPr>
        <p:txBody>
          <a:bodyPr wrap="square" lIns="0" tIns="0" rIns="0" bIns="0" rtlCol="0" anchor="t"/>
          <a:lstStyle/>
          <a:p>
            <a:pPr indent="0" marL="0">
              <a:buNone/>
            </a:pPr>
            <a:r>
              <a:rPr lang="en-US" sz="2200" dirty="0">
                <a:solidFill>
                  <a:srgbClr val="22D3EE"/>
                </a:solidFill>
                <a:latin typeface="Calibri" pitchFamily="34" charset="0"/>
                <a:ea typeface="Calibri" pitchFamily="34" charset="-122"/>
                <a:cs typeface="Calibri" pitchFamily="34" charset="-120"/>
              </a:rPr>
              <a:t>Executive Business Intelligence &amp; AI Opportunity Assessment</a:t>
            </a:r>
            <a:endParaRPr lang="en-US" sz="2200" dirty="0"/>
          </a:p>
        </p:txBody>
      </p:sp>
      <p:sp>
        <p:nvSpPr>
          <p:cNvPr id="6" name="Shape 3"/>
          <p:cNvSpPr/>
          <p:nvPr/>
        </p:nvSpPr>
        <p:spPr>
          <a:xfrm>
            <a:off x="731520" y="4114800"/>
            <a:ext cx="1097280" cy="45720"/>
          </a:xfrm>
          <a:prstGeom prst="rect">
            <a:avLst/>
          </a:prstGeom>
          <a:solidFill>
            <a:srgbClr val="22D3EE"/>
          </a:solidFill>
          <a:ln/>
        </p:spPr>
      </p:sp>
      <p:sp>
        <p:nvSpPr>
          <p:cNvPr id="7" name="Text 4"/>
          <p:cNvSpPr txBox="1"/>
          <p:nvPr/>
        </p:nvSpPr>
        <p:spPr>
          <a:xfrm>
            <a:off x="731520" y="4343400"/>
            <a:ext cx="7315200" cy="365760"/>
          </a:xfrm>
          <a:prstGeom prst="rect">
            <a:avLst/>
          </a:prstGeom>
          <a:noFill/>
          <a:ln/>
        </p:spPr>
        <p:txBody>
          <a:bodyPr wrap="square" lIns="0" tIns="0" rIns="0" bIns="0" rtlCol="0" anchor="t"/>
          <a:lstStyle/>
          <a:p>
            <a:pPr indent="0" marL="0">
              <a:buNone/>
            </a:pPr>
            <a:r>
              <a:rPr lang="en-US" sz="1800" dirty="0">
                <a:solidFill>
                  <a:srgbClr val="A9B8D0"/>
                </a:solidFill>
                <a:latin typeface="Calibri" pitchFamily="34" charset="0"/>
                <a:ea typeface="Calibri" pitchFamily="34" charset="-122"/>
                <a:cs typeface="Calibri" pitchFamily="34" charset="-120"/>
              </a:rPr>
              <a:t>From Data to Decisions</a:t>
            </a:r>
            <a:endParaRPr lang="en-US" sz="1800" dirty="0"/>
          </a:p>
        </p:txBody>
      </p:sp>
      <p:sp>
        <p:nvSpPr>
          <p:cNvPr id="8" name="Text 5"/>
          <p:cNvSpPr txBox="1"/>
          <p:nvPr/>
        </p:nvSpPr>
        <p:spPr>
          <a:xfrm>
            <a:off x="731520" y="6217920"/>
            <a:ext cx="1051560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Prepared by HVIA Data &amp; AI Solutions  |  Data: Oct 2023 - Sep 2026 (three years, Oct-Sep)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THE 30-SECOND PICTURE</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We sell a lot, we earn little - and about EGP 8.8M a year can be won back</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3 years, Oct 2023 - Sep 2026, all channels. Profit = gross profit (estimated product cost). Win-back = base-case estimate per year.</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2</a:t>
            </a:r>
            <a:endParaRPr lang="en-US" sz="1100" dirty="0"/>
          </a:p>
        </p:txBody>
      </p:sp>
      <p:sp>
        <p:nvSpPr>
          <p:cNvPr id="9" name="Shape 5"/>
          <p:cNvSpPr/>
          <p:nvPr/>
        </p:nvSpPr>
        <p:spPr>
          <a:xfrm>
            <a:off x="548640" y="2103120"/>
            <a:ext cx="3566160" cy="3291840"/>
          </a:xfrm>
          <a:prstGeom prst="roundRect">
            <a:avLst>
              <a:gd name="adj" fmla="val 2778"/>
            </a:avLst>
          </a:prstGeom>
          <a:solidFill>
            <a:srgbClr val="0A1F3A"/>
          </a:solidFill>
          <a:ln w="12700">
            <a:solidFill>
              <a:srgbClr val="22D3EE"/>
            </a:solidFill>
            <a:prstDash val="solid"/>
          </a:ln>
        </p:spPr>
      </p:sp>
      <p:sp>
        <p:nvSpPr>
          <p:cNvPr id="10" name="Text 6"/>
          <p:cNvSpPr txBox="1"/>
          <p:nvPr/>
        </p:nvSpPr>
        <p:spPr>
          <a:xfrm>
            <a:off x="822960" y="2651760"/>
            <a:ext cx="3108960" cy="868680"/>
          </a:xfrm>
          <a:prstGeom prst="rect">
            <a:avLst/>
          </a:prstGeom>
          <a:noFill/>
          <a:ln/>
        </p:spPr>
        <p:txBody>
          <a:bodyPr wrap="square" lIns="0" tIns="0" rIns="0" bIns="0" rtlCol="0" anchor="t"/>
          <a:lstStyle/>
          <a:p>
            <a:pPr indent="0" marL="0">
              <a:buNone/>
            </a:pPr>
            <a:r>
              <a:rPr lang="en-US" sz="4600" b="1" dirty="0">
                <a:solidFill>
                  <a:srgbClr val="22D3EE"/>
                </a:solidFill>
                <a:latin typeface="Calibri" pitchFamily="34" charset="0"/>
                <a:ea typeface="Calibri" pitchFamily="34" charset="-122"/>
                <a:cs typeface="Calibri" pitchFamily="34" charset="-120"/>
              </a:rPr>
              <a:t>EGP 421M</a:t>
            </a:r>
            <a:endParaRPr lang="en-US" sz="4600" dirty="0"/>
          </a:p>
        </p:txBody>
      </p:sp>
      <p:sp>
        <p:nvSpPr>
          <p:cNvPr id="11" name="Text 7"/>
          <p:cNvSpPr txBox="1"/>
          <p:nvPr/>
        </p:nvSpPr>
        <p:spPr>
          <a:xfrm>
            <a:off x="822960" y="3566160"/>
            <a:ext cx="310896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sales in three years</a:t>
            </a:r>
            <a:endParaRPr lang="en-US" sz="1600" dirty="0"/>
          </a:p>
        </p:txBody>
      </p:sp>
      <p:sp>
        <p:nvSpPr>
          <p:cNvPr id="12" name="Shape 8"/>
          <p:cNvSpPr/>
          <p:nvPr/>
        </p:nvSpPr>
        <p:spPr>
          <a:xfrm>
            <a:off x="4343400" y="2103120"/>
            <a:ext cx="3566160" cy="3291840"/>
          </a:xfrm>
          <a:prstGeom prst="roundRect">
            <a:avLst>
              <a:gd name="adj" fmla="val 2778"/>
            </a:avLst>
          </a:prstGeom>
          <a:solidFill>
            <a:srgbClr val="0A1F3A"/>
          </a:solidFill>
          <a:ln w="12700">
            <a:solidFill>
              <a:srgbClr val="3B82F6"/>
            </a:solidFill>
            <a:prstDash val="solid"/>
          </a:ln>
        </p:spPr>
      </p:sp>
      <p:sp>
        <p:nvSpPr>
          <p:cNvPr id="13" name="Text 9"/>
          <p:cNvSpPr txBox="1"/>
          <p:nvPr/>
        </p:nvSpPr>
        <p:spPr>
          <a:xfrm>
            <a:off x="4617720" y="2651760"/>
            <a:ext cx="3108960" cy="868680"/>
          </a:xfrm>
          <a:prstGeom prst="rect">
            <a:avLst/>
          </a:prstGeom>
          <a:noFill/>
          <a:ln/>
        </p:spPr>
        <p:txBody>
          <a:bodyPr wrap="square" lIns="0" tIns="0" rIns="0" bIns="0" rtlCol="0" anchor="t"/>
          <a:lstStyle/>
          <a:p>
            <a:pPr indent="0" marL="0">
              <a:buNone/>
            </a:pPr>
            <a:r>
              <a:rPr lang="en-US" sz="4600" b="1" dirty="0">
                <a:solidFill>
                  <a:srgbClr val="3B82F6"/>
                </a:solidFill>
                <a:latin typeface="Calibri" pitchFamily="34" charset="0"/>
                <a:ea typeface="Calibri" pitchFamily="34" charset="-122"/>
                <a:cs typeface="Calibri" pitchFamily="34" charset="-120"/>
              </a:rPr>
              <a:t>EGP 65M</a:t>
            </a:r>
            <a:endParaRPr lang="en-US" sz="4600" dirty="0"/>
          </a:p>
        </p:txBody>
      </p:sp>
      <p:sp>
        <p:nvSpPr>
          <p:cNvPr id="14" name="Text 10"/>
          <p:cNvSpPr txBox="1"/>
          <p:nvPr/>
        </p:nvSpPr>
        <p:spPr>
          <a:xfrm>
            <a:off x="4617720" y="3566160"/>
            <a:ext cx="310896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gross profit (only 15.4 piasters per EGP 1 sold)</a:t>
            </a:r>
            <a:endParaRPr lang="en-US" sz="1600" dirty="0"/>
          </a:p>
        </p:txBody>
      </p:sp>
      <p:sp>
        <p:nvSpPr>
          <p:cNvPr id="15" name="Shape 11"/>
          <p:cNvSpPr/>
          <p:nvPr/>
        </p:nvSpPr>
        <p:spPr>
          <a:xfrm>
            <a:off x="8138160" y="2103120"/>
            <a:ext cx="3566160" cy="3291840"/>
          </a:xfrm>
          <a:prstGeom prst="roundRect">
            <a:avLst>
              <a:gd name="adj" fmla="val 2778"/>
            </a:avLst>
          </a:prstGeom>
          <a:solidFill>
            <a:srgbClr val="0A1F3A"/>
          </a:solidFill>
          <a:ln w="12700">
            <a:solidFill>
              <a:srgbClr val="34D399"/>
            </a:solidFill>
            <a:prstDash val="solid"/>
          </a:ln>
        </p:spPr>
      </p:sp>
      <p:sp>
        <p:nvSpPr>
          <p:cNvPr id="16" name="Text 12"/>
          <p:cNvSpPr txBox="1"/>
          <p:nvPr/>
        </p:nvSpPr>
        <p:spPr>
          <a:xfrm>
            <a:off x="8412480" y="2651760"/>
            <a:ext cx="3108960" cy="868680"/>
          </a:xfrm>
          <a:prstGeom prst="rect">
            <a:avLst/>
          </a:prstGeom>
          <a:noFill/>
          <a:ln/>
        </p:spPr>
        <p:txBody>
          <a:bodyPr wrap="square" lIns="0" tIns="0" rIns="0" bIns="0" rtlCol="0" anchor="t"/>
          <a:lstStyle/>
          <a:p>
            <a:pPr indent="0" marL="0">
              <a:buNone/>
            </a:pPr>
            <a:r>
              <a:rPr lang="en-US" sz="4600" b="1" dirty="0">
                <a:solidFill>
                  <a:srgbClr val="34D399"/>
                </a:solidFill>
                <a:latin typeface="Calibri" pitchFamily="34" charset="0"/>
                <a:ea typeface="Calibri" pitchFamily="34" charset="-122"/>
                <a:cs typeface="Calibri" pitchFamily="34" charset="-120"/>
              </a:rPr>
              <a:t>EGP 8.8M</a:t>
            </a:r>
            <a:endParaRPr lang="en-US" sz="4600" dirty="0"/>
          </a:p>
        </p:txBody>
      </p:sp>
      <p:sp>
        <p:nvSpPr>
          <p:cNvPr id="17" name="Text 13"/>
          <p:cNvSpPr txBox="1"/>
          <p:nvPr/>
        </p:nvSpPr>
        <p:spPr>
          <a:xfrm>
            <a:off x="8412480" y="3566160"/>
            <a:ext cx="310896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profit we can win back every year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SALES VS PROFIT</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Growth is slowing, and profit is not growing with it</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Net sales by fiscal year (Oct-Sep). FY24 = Oct 2023 - Sep 2024. Margin = gross profit / net sales.</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3</a:t>
            </a:r>
            <a:endParaRPr lang="en-US" sz="1100" dirty="0"/>
          </a:p>
        </p:txBody>
      </p:sp>
      <p:graphicFrame>
        <p:nvGraphicFramePr>
          <p:cNvPr id="9" name="Chart 0" descr=""/>
          <p:cNvGraphicFramePr/>
          <p:nvPr/>
        </p:nvGraphicFramePr>
        <p:xfrm>
          <a:off x="548640" y="1828800"/>
          <a:ext cx="6217920" cy="429768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7315200" y="2011680"/>
            <a:ext cx="4389120" cy="868680"/>
          </a:xfrm>
          <a:prstGeom prst="rect">
            <a:avLst/>
          </a:prstGeom>
          <a:noFill/>
          <a:ln/>
        </p:spPr>
        <p:txBody>
          <a:bodyPr wrap="square" lIns="0" tIns="0" rIns="0" bIns="0" rtlCol="0" anchor="t"/>
          <a:lstStyle/>
          <a:p>
            <a:pPr indent="0" marL="0">
              <a:buNone/>
            </a:pPr>
            <a:r>
              <a:rPr lang="en-US" sz="5400" b="1" dirty="0">
                <a:solidFill>
                  <a:srgbClr val="F5B942"/>
                </a:solidFill>
                <a:latin typeface="Calibri" pitchFamily="34" charset="0"/>
                <a:ea typeface="Calibri" pitchFamily="34" charset="-122"/>
                <a:cs typeface="Calibri" pitchFamily="34" charset="-120"/>
              </a:rPr>
              <a:t>+3.3%</a:t>
            </a:r>
            <a:endParaRPr lang="en-US" sz="5400" dirty="0"/>
          </a:p>
        </p:txBody>
      </p:sp>
      <p:sp>
        <p:nvSpPr>
          <p:cNvPr id="11" name="Text 6"/>
          <p:cNvSpPr txBox="1"/>
          <p:nvPr/>
        </p:nvSpPr>
        <p:spPr>
          <a:xfrm>
            <a:off x="7315200" y="2926080"/>
            <a:ext cx="438912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growth in the latest year (it was +10.8% the year before)</a:t>
            </a:r>
            <a:endParaRPr lang="en-US" sz="1600" dirty="0"/>
          </a:p>
        </p:txBody>
      </p:sp>
      <p:sp>
        <p:nvSpPr>
          <p:cNvPr id="12" name="Text 7"/>
          <p:cNvSpPr txBox="1"/>
          <p:nvPr/>
        </p:nvSpPr>
        <p:spPr>
          <a:xfrm>
            <a:off x="7315200" y="4023360"/>
            <a:ext cx="4389120" cy="868680"/>
          </a:xfrm>
          <a:prstGeom prst="rect">
            <a:avLst/>
          </a:prstGeom>
          <a:noFill/>
          <a:ln/>
        </p:spPr>
        <p:txBody>
          <a:bodyPr wrap="square" lIns="0" tIns="0" rIns="0" bIns="0" rtlCol="0" anchor="t"/>
          <a:lstStyle/>
          <a:p>
            <a:pPr indent="0" marL="0">
              <a:buNone/>
            </a:pPr>
            <a:r>
              <a:rPr lang="en-US" sz="5400" b="1" dirty="0">
                <a:solidFill>
                  <a:srgbClr val="22D3EE"/>
                </a:solidFill>
                <a:latin typeface="Calibri" pitchFamily="34" charset="0"/>
                <a:ea typeface="Calibri" pitchFamily="34" charset="-122"/>
                <a:cs typeface="Calibri" pitchFamily="34" charset="-120"/>
              </a:rPr>
              <a:t>~15.5%</a:t>
            </a:r>
            <a:endParaRPr lang="en-US" sz="5400" dirty="0"/>
          </a:p>
        </p:txBody>
      </p:sp>
      <p:sp>
        <p:nvSpPr>
          <p:cNvPr id="13" name="Text 8"/>
          <p:cNvSpPr txBox="1"/>
          <p:nvPr/>
        </p:nvSpPr>
        <p:spPr>
          <a:xfrm>
            <a:off x="7315200" y="4937760"/>
            <a:ext cx="438912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profit margin, flat for three years (15.3% to 15.6%)</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WHERE THE PROFIT COMES FROM</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Wholesale brings 85% of our sales but only 66% of our profit</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Share of 3-year net sales and gross profit by channel. Profit margin: Wholesale 11.9%, Retail 37.0%, Online 34.9%.</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4</a:t>
            </a:r>
            <a:endParaRPr lang="en-US" sz="1100" dirty="0"/>
          </a:p>
        </p:txBody>
      </p:sp>
      <p:graphicFrame>
        <p:nvGraphicFramePr>
          <p:cNvPr id="9" name="Chart 0" descr=""/>
          <p:cNvGraphicFramePr/>
          <p:nvPr/>
        </p:nvGraphicFramePr>
        <p:xfrm>
          <a:off x="548640" y="1828800"/>
          <a:ext cx="6766560" cy="429768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7863840" y="2011680"/>
            <a:ext cx="3840480" cy="868680"/>
          </a:xfrm>
          <a:prstGeom prst="rect">
            <a:avLst/>
          </a:prstGeom>
          <a:noFill/>
          <a:ln/>
        </p:spPr>
        <p:txBody>
          <a:bodyPr wrap="square" lIns="0" tIns="0" rIns="0" bIns="0" rtlCol="0" anchor="t"/>
          <a:lstStyle/>
          <a:p>
            <a:pPr indent="0" marL="0">
              <a:buNone/>
            </a:pPr>
            <a:r>
              <a:rPr lang="en-US" sz="5400" b="1" dirty="0">
                <a:solidFill>
                  <a:srgbClr val="F87171"/>
                </a:solidFill>
                <a:latin typeface="Calibri" pitchFamily="34" charset="0"/>
                <a:ea typeface="Calibri" pitchFamily="34" charset="-122"/>
                <a:cs typeface="Calibri" pitchFamily="34" charset="-120"/>
              </a:rPr>
              <a:t>11.9%</a:t>
            </a:r>
            <a:endParaRPr lang="en-US" sz="5400" dirty="0"/>
          </a:p>
        </p:txBody>
      </p:sp>
      <p:sp>
        <p:nvSpPr>
          <p:cNvPr id="11" name="Text 6"/>
          <p:cNvSpPr txBox="1"/>
          <p:nvPr/>
        </p:nvSpPr>
        <p:spPr>
          <a:xfrm>
            <a:off x="7863840" y="292608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profit margin in wholesale</a:t>
            </a:r>
            <a:endParaRPr lang="en-US" sz="1600" dirty="0"/>
          </a:p>
        </p:txBody>
      </p:sp>
      <p:sp>
        <p:nvSpPr>
          <p:cNvPr id="12" name="Text 7"/>
          <p:cNvSpPr txBox="1"/>
          <p:nvPr/>
        </p:nvSpPr>
        <p:spPr>
          <a:xfrm>
            <a:off x="7863840" y="4023360"/>
            <a:ext cx="3840480" cy="868680"/>
          </a:xfrm>
          <a:prstGeom prst="rect">
            <a:avLst/>
          </a:prstGeom>
          <a:noFill/>
          <a:ln/>
        </p:spPr>
        <p:txBody>
          <a:bodyPr wrap="square" lIns="0" tIns="0" rIns="0" bIns="0" rtlCol="0" anchor="t"/>
          <a:lstStyle/>
          <a:p>
            <a:pPr indent="0" marL="0">
              <a:buNone/>
            </a:pPr>
            <a:r>
              <a:rPr lang="en-US" sz="5400" b="1" dirty="0">
                <a:solidFill>
                  <a:srgbClr val="34D399"/>
                </a:solidFill>
                <a:latin typeface="Calibri" pitchFamily="34" charset="0"/>
                <a:ea typeface="Calibri" pitchFamily="34" charset="-122"/>
                <a:cs typeface="Calibri" pitchFamily="34" charset="-120"/>
              </a:rPr>
              <a:t>35-37%</a:t>
            </a:r>
            <a:endParaRPr lang="en-US" sz="5400" dirty="0"/>
          </a:p>
        </p:txBody>
      </p:sp>
      <p:sp>
        <p:nvSpPr>
          <p:cNvPr id="13" name="Text 8"/>
          <p:cNvSpPr txBox="1"/>
          <p:nvPr/>
        </p:nvSpPr>
        <p:spPr>
          <a:xfrm>
            <a:off x="7863840" y="493776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profit margin in retail and online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THE DISCOUNT PROBLEM</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The deeper the wholesale discount, the closer we get to zero profit</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Wholesale invoices, Oct 2023 - Sep 2026. Margin = gross profit / sales. Product cost is an estimate.</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5</a:t>
            </a:r>
            <a:endParaRPr lang="en-US" sz="1100" dirty="0"/>
          </a:p>
        </p:txBody>
      </p:sp>
      <p:graphicFrame>
        <p:nvGraphicFramePr>
          <p:cNvPr id="9" name="Chart 0" descr=""/>
          <p:cNvGraphicFramePr/>
          <p:nvPr/>
        </p:nvGraphicFramePr>
        <p:xfrm>
          <a:off x="548640" y="1828800"/>
          <a:ext cx="6949440" cy="429768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7955280" y="1920240"/>
            <a:ext cx="3749040" cy="868680"/>
          </a:xfrm>
          <a:prstGeom prst="rect">
            <a:avLst/>
          </a:prstGeom>
          <a:noFill/>
          <a:ln/>
        </p:spPr>
        <p:txBody>
          <a:bodyPr wrap="square" lIns="0" tIns="0" rIns="0" bIns="0" rtlCol="0" anchor="t"/>
          <a:lstStyle/>
          <a:p>
            <a:pPr indent="0" marL="0">
              <a:buNone/>
            </a:pPr>
            <a:r>
              <a:rPr lang="en-US" sz="4800" b="1" dirty="0">
                <a:solidFill>
                  <a:srgbClr val="F87171"/>
                </a:solidFill>
                <a:latin typeface="Calibri" pitchFamily="34" charset="0"/>
                <a:ea typeface="Calibri" pitchFamily="34" charset="-122"/>
                <a:cs typeface="Calibri" pitchFamily="34" charset="-120"/>
              </a:rPr>
              <a:t>4,876</a:t>
            </a:r>
            <a:endParaRPr lang="en-US" sz="4800" dirty="0"/>
          </a:p>
        </p:txBody>
      </p:sp>
      <p:sp>
        <p:nvSpPr>
          <p:cNvPr id="11" name="Text 6"/>
          <p:cNvSpPr txBox="1"/>
          <p:nvPr/>
        </p:nvSpPr>
        <p:spPr>
          <a:xfrm>
            <a:off x="7955280" y="2834640"/>
            <a:ext cx="374904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invoices sold below cost (1 in 10 wholesale invoices), a loss of EGP 1.4M</a:t>
            </a:r>
            <a:endParaRPr lang="en-US" sz="1600" dirty="0"/>
          </a:p>
        </p:txBody>
      </p:sp>
      <p:sp>
        <p:nvSpPr>
          <p:cNvPr id="12" name="Text 7"/>
          <p:cNvSpPr txBox="1"/>
          <p:nvPr/>
        </p:nvSpPr>
        <p:spPr>
          <a:xfrm>
            <a:off x="7955280" y="4023360"/>
            <a:ext cx="3749040" cy="868680"/>
          </a:xfrm>
          <a:prstGeom prst="rect">
            <a:avLst/>
          </a:prstGeom>
          <a:noFill/>
          <a:ln/>
        </p:spPr>
        <p:txBody>
          <a:bodyPr wrap="square" lIns="0" tIns="0" rIns="0" bIns="0" rtlCol="0" anchor="t"/>
          <a:lstStyle/>
          <a:p>
            <a:pPr indent="0" marL="0">
              <a:buNone/>
            </a:pPr>
            <a:r>
              <a:rPr lang="en-US" sz="4800" b="1" dirty="0">
                <a:solidFill>
                  <a:srgbClr val="F5B942"/>
                </a:solidFill>
                <a:latin typeface="Calibri" pitchFamily="34" charset="0"/>
                <a:ea typeface="Calibri" pitchFamily="34" charset="-122"/>
                <a:cs typeface="Calibri" pitchFamily="34" charset="-120"/>
              </a:rPr>
              <a:t>80%</a:t>
            </a:r>
            <a:endParaRPr lang="en-US" sz="4800" dirty="0"/>
          </a:p>
        </p:txBody>
      </p:sp>
      <p:sp>
        <p:nvSpPr>
          <p:cNvPr id="13" name="Text 8"/>
          <p:cNvSpPr txBox="1"/>
          <p:nvPr/>
        </p:nvSpPr>
        <p:spPr>
          <a:xfrm>
            <a:off x="7955280" y="4937760"/>
            <a:ext cx="374904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wholesale's possible profit given away as discount (EGP 173.9M)</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DO DISCOUNTS BUY MORE SALES?</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We cannot see that deeper discounts bring more volume</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Promotion test: Retail + Online, Jun-Jul vs May and Aug of the same year. Wholesale: discount vs order size across 12-60 units.</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6</a:t>
            </a:r>
            <a:endParaRPr lang="en-US" sz="1100" dirty="0"/>
          </a:p>
        </p:txBody>
      </p:sp>
      <p:graphicFrame>
        <p:nvGraphicFramePr>
          <p:cNvPr id="9" name="Chart 0" descr=""/>
          <p:cNvGraphicFramePr/>
          <p:nvPr/>
        </p:nvGraphicFramePr>
        <p:xfrm>
          <a:off x="548640" y="1828800"/>
          <a:ext cx="6766560" cy="429768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7863840" y="2011680"/>
            <a:ext cx="3840480" cy="868680"/>
          </a:xfrm>
          <a:prstGeom prst="rect">
            <a:avLst/>
          </a:prstGeom>
          <a:noFill/>
          <a:ln/>
        </p:spPr>
        <p:txBody>
          <a:bodyPr wrap="square" lIns="0" tIns="0" rIns="0" bIns="0" rtlCol="0" anchor="t"/>
          <a:lstStyle/>
          <a:p>
            <a:pPr indent="0" marL="0">
              <a:buNone/>
            </a:pPr>
            <a:r>
              <a:rPr lang="en-US" sz="4000" b="1" dirty="0">
                <a:solidFill>
                  <a:srgbClr val="F5B942"/>
                </a:solidFill>
                <a:latin typeface="Calibri" pitchFamily="34" charset="0"/>
                <a:ea typeface="Calibri" pitchFamily="34" charset="-122"/>
                <a:cs typeface="Calibri" pitchFamily="34" charset="-120"/>
              </a:rPr>
              <a:t>Same lift</a:t>
            </a:r>
            <a:endParaRPr lang="en-US" sz="4000" dirty="0"/>
          </a:p>
        </p:txBody>
      </p:sp>
      <p:sp>
        <p:nvSpPr>
          <p:cNvPr id="11" name="Text 6"/>
          <p:cNvSpPr txBox="1"/>
          <p:nvPr/>
        </p:nvSpPr>
        <p:spPr>
          <a:xfrm>
            <a:off x="7863840" y="292608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with or without the bigger discount</a:t>
            </a:r>
            <a:endParaRPr lang="en-US" sz="1600" dirty="0"/>
          </a:p>
        </p:txBody>
      </p:sp>
      <p:sp>
        <p:nvSpPr>
          <p:cNvPr id="12" name="Text 7"/>
          <p:cNvSpPr txBox="1"/>
          <p:nvPr/>
        </p:nvSpPr>
        <p:spPr>
          <a:xfrm>
            <a:off x="7863840" y="3931920"/>
            <a:ext cx="3840480" cy="868680"/>
          </a:xfrm>
          <a:prstGeom prst="rect">
            <a:avLst/>
          </a:prstGeom>
          <a:noFill/>
          <a:ln/>
        </p:spPr>
        <p:txBody>
          <a:bodyPr wrap="square" lIns="0" tIns="0" rIns="0" bIns="0" rtlCol="0" anchor="t"/>
          <a:lstStyle/>
          <a:p>
            <a:pPr indent="0" marL="0">
              <a:buNone/>
            </a:pPr>
            <a:r>
              <a:rPr lang="en-US" sz="4000" b="1" dirty="0">
                <a:solidFill>
                  <a:srgbClr val="22D3EE"/>
                </a:solidFill>
                <a:latin typeface="Calibri" pitchFamily="34" charset="0"/>
                <a:ea typeface="Calibri" pitchFamily="34" charset="-122"/>
                <a:cs typeface="Calibri" pitchFamily="34" charset="-120"/>
              </a:rPr>
              <a:t>Random</a:t>
            </a:r>
            <a:endParaRPr lang="en-US" sz="4000" dirty="0"/>
          </a:p>
        </p:txBody>
      </p:sp>
      <p:sp>
        <p:nvSpPr>
          <p:cNvPr id="13" name="Text 8"/>
          <p:cNvSpPr txBox="1"/>
          <p:nvPr/>
        </p:nvSpPr>
        <p:spPr>
          <a:xfrm>
            <a:off x="7863840" y="484632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wholesale discounts do not follow order size: small and large orders get the same mix of 28-38%</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CUSTOMERS</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3,745 of our best customers have gone quiet - and we can reach most of them</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24,035 retail customers (wholesale customers are loyal: 96% re-order). 'Quiet' = bought often before, now silent for months.</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7</a:t>
            </a:r>
            <a:endParaRPr lang="en-US" sz="1100" dirty="0"/>
          </a:p>
        </p:txBody>
      </p:sp>
      <p:sp>
        <p:nvSpPr>
          <p:cNvPr id="9" name="Text 5"/>
          <p:cNvSpPr txBox="1"/>
          <p:nvPr/>
        </p:nvSpPr>
        <p:spPr>
          <a:xfrm>
            <a:off x="548640" y="2011680"/>
            <a:ext cx="5120640" cy="868680"/>
          </a:xfrm>
          <a:prstGeom prst="rect">
            <a:avLst/>
          </a:prstGeom>
          <a:noFill/>
          <a:ln/>
        </p:spPr>
        <p:txBody>
          <a:bodyPr wrap="square" lIns="0" tIns="0" rIns="0" bIns="0" rtlCol="0" anchor="t"/>
          <a:lstStyle/>
          <a:p>
            <a:pPr indent="0" marL="0">
              <a:buNone/>
            </a:pPr>
            <a:r>
              <a:rPr lang="en-US" sz="5400" b="1" dirty="0">
                <a:solidFill>
                  <a:srgbClr val="F5B942"/>
                </a:solidFill>
                <a:latin typeface="Calibri" pitchFamily="34" charset="0"/>
                <a:ea typeface="Calibri" pitchFamily="34" charset="-122"/>
                <a:cs typeface="Calibri" pitchFamily="34" charset="-120"/>
              </a:rPr>
              <a:t>3,745</a:t>
            </a:r>
            <a:endParaRPr lang="en-US" sz="5400" dirty="0"/>
          </a:p>
        </p:txBody>
      </p:sp>
      <p:sp>
        <p:nvSpPr>
          <p:cNvPr id="10" name="Text 6"/>
          <p:cNvSpPr txBox="1"/>
          <p:nvPr/>
        </p:nvSpPr>
        <p:spPr>
          <a:xfrm>
            <a:off x="548640" y="2926080"/>
            <a:ext cx="512064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frequent buyers have gone quiet: 16% of customers, 32% of sales</a:t>
            </a:r>
            <a:endParaRPr lang="en-US" sz="1600" dirty="0"/>
          </a:p>
        </p:txBody>
      </p:sp>
      <p:sp>
        <p:nvSpPr>
          <p:cNvPr id="11" name="Text 7"/>
          <p:cNvSpPr txBox="1"/>
          <p:nvPr/>
        </p:nvSpPr>
        <p:spPr>
          <a:xfrm>
            <a:off x="548640" y="4114800"/>
            <a:ext cx="5120640" cy="868680"/>
          </a:xfrm>
          <a:prstGeom prst="rect">
            <a:avLst/>
          </a:prstGeom>
          <a:noFill/>
          <a:ln/>
        </p:spPr>
        <p:txBody>
          <a:bodyPr wrap="square" lIns="0" tIns="0" rIns="0" bIns="0" rtlCol="0" anchor="t"/>
          <a:lstStyle/>
          <a:p>
            <a:pPr indent="0" marL="0">
              <a:buNone/>
            </a:pPr>
            <a:r>
              <a:rPr lang="en-US" sz="5400" b="1" dirty="0">
                <a:solidFill>
                  <a:srgbClr val="34D399"/>
                </a:solidFill>
                <a:latin typeface="Calibri" pitchFamily="34" charset="0"/>
                <a:ea typeface="Calibri" pitchFamily="34" charset="-122"/>
                <a:cs typeface="Calibri" pitchFamily="34" charset="-120"/>
              </a:rPr>
              <a:t>65%</a:t>
            </a:r>
            <a:endParaRPr lang="en-US" sz="5400" dirty="0"/>
          </a:p>
        </p:txBody>
      </p:sp>
      <p:sp>
        <p:nvSpPr>
          <p:cNvPr id="12" name="Text 8"/>
          <p:cNvSpPr txBox="1"/>
          <p:nvPr/>
        </p:nvSpPr>
        <p:spPr>
          <a:xfrm>
            <a:off x="548640" y="5029200"/>
            <a:ext cx="512064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them agreed to WhatsApp / SMS messages</a:t>
            </a:r>
            <a:endParaRPr lang="en-US" sz="1600" dirty="0"/>
          </a:p>
        </p:txBody>
      </p:sp>
      <p:graphicFrame>
        <p:nvGraphicFramePr>
          <p:cNvPr id="13" name="Chart 0" descr=""/>
          <p:cNvGraphicFramePr/>
          <p:nvPr/>
        </p:nvGraphicFramePr>
        <p:xfrm>
          <a:off x="6217920" y="1828800"/>
          <a:ext cx="5486400" cy="429768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STOCK</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Stock is in the wrong place: too little for wholesale, too much for retail and online</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Median days of stock per product, Sep 2026. Excess = stock above what is needed for lead time + 2 months of sales.</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8</a:t>
            </a:r>
            <a:endParaRPr lang="en-US" sz="1100" dirty="0"/>
          </a:p>
        </p:txBody>
      </p:sp>
      <p:graphicFrame>
        <p:nvGraphicFramePr>
          <p:cNvPr id="9" name="Chart 0" descr=""/>
          <p:cNvGraphicFramePr/>
          <p:nvPr/>
        </p:nvGraphicFramePr>
        <p:xfrm>
          <a:off x="548640" y="1828800"/>
          <a:ext cx="6766560" cy="429768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7863840" y="2011680"/>
            <a:ext cx="3840480" cy="868680"/>
          </a:xfrm>
          <a:prstGeom prst="rect">
            <a:avLst/>
          </a:prstGeom>
          <a:noFill/>
          <a:ln/>
        </p:spPr>
        <p:txBody>
          <a:bodyPr wrap="square" lIns="0" tIns="0" rIns="0" bIns="0" rtlCol="0" anchor="t"/>
          <a:lstStyle/>
          <a:p>
            <a:pPr indent="0" marL="0">
              <a:buNone/>
            </a:pPr>
            <a:r>
              <a:rPr lang="en-US" sz="4400" b="1" dirty="0">
                <a:solidFill>
                  <a:srgbClr val="F5B942"/>
                </a:solidFill>
                <a:latin typeface="Calibri" pitchFamily="34" charset="0"/>
                <a:ea typeface="Calibri" pitchFamily="34" charset="-122"/>
                <a:cs typeface="Calibri" pitchFamily="34" charset="-120"/>
              </a:rPr>
              <a:t>EGP 7.5M</a:t>
            </a:r>
            <a:endParaRPr lang="en-US" sz="4400" dirty="0"/>
          </a:p>
        </p:txBody>
      </p:sp>
      <p:sp>
        <p:nvSpPr>
          <p:cNvPr id="11" name="Text 6"/>
          <p:cNvSpPr txBox="1"/>
          <p:nvPr/>
        </p:nvSpPr>
        <p:spPr>
          <a:xfrm>
            <a:off x="7863840" y="292608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excess stock in retail and online (about half of stock value)</a:t>
            </a:r>
            <a:endParaRPr lang="en-US" sz="1600" dirty="0"/>
          </a:p>
        </p:txBody>
      </p:sp>
      <p:sp>
        <p:nvSpPr>
          <p:cNvPr id="12" name="Text 7"/>
          <p:cNvSpPr txBox="1"/>
          <p:nvPr/>
        </p:nvSpPr>
        <p:spPr>
          <a:xfrm>
            <a:off x="7863840" y="4023360"/>
            <a:ext cx="3840480" cy="868680"/>
          </a:xfrm>
          <a:prstGeom prst="rect">
            <a:avLst/>
          </a:prstGeom>
          <a:noFill/>
          <a:ln/>
        </p:spPr>
        <p:txBody>
          <a:bodyPr wrap="square" lIns="0" tIns="0" rIns="0" bIns="0" rtlCol="0" anchor="t"/>
          <a:lstStyle/>
          <a:p>
            <a:pPr indent="0" marL="0">
              <a:buNone/>
            </a:pPr>
            <a:r>
              <a:rPr lang="en-US" sz="4400" b="1" dirty="0">
                <a:solidFill>
                  <a:srgbClr val="F87171"/>
                </a:solidFill>
                <a:latin typeface="Calibri" pitchFamily="34" charset="0"/>
                <a:ea typeface="Calibri" pitchFamily="34" charset="-122"/>
                <a:cs typeface="Calibri" pitchFamily="34" charset="-120"/>
              </a:rPr>
              <a:t>36 of 59</a:t>
            </a:r>
            <a:endParaRPr lang="en-US" sz="4400" dirty="0"/>
          </a:p>
        </p:txBody>
      </p:sp>
      <p:sp>
        <p:nvSpPr>
          <p:cNvPr id="13" name="Text 8"/>
          <p:cNvSpPr txBox="1"/>
          <p:nvPr/>
        </p:nvSpPr>
        <p:spPr>
          <a:xfrm>
            <a:off x="7863840" y="493776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wholesale products are below reorder level or out of stock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SUPPLIERS</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Two suppliers stopped delivering on time in 2025</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On-time = delivered on or before the promised date. Spend share = share of 3-year purchase-order spend.</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9</a:t>
            </a:r>
            <a:endParaRPr lang="en-US" sz="1100" dirty="0"/>
          </a:p>
        </p:txBody>
      </p:sp>
      <p:graphicFrame>
        <p:nvGraphicFramePr>
          <p:cNvPr id="9" name="Chart 0" descr=""/>
          <p:cNvGraphicFramePr/>
          <p:nvPr/>
        </p:nvGraphicFramePr>
        <p:xfrm>
          <a:off x="548640" y="1828800"/>
          <a:ext cx="6949440" cy="429768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8046720" y="2011680"/>
            <a:ext cx="3657600" cy="868680"/>
          </a:xfrm>
          <a:prstGeom prst="rect">
            <a:avLst/>
          </a:prstGeom>
          <a:noFill/>
          <a:ln/>
        </p:spPr>
        <p:txBody>
          <a:bodyPr wrap="square" lIns="0" tIns="0" rIns="0" bIns="0" rtlCol="0" anchor="t"/>
          <a:lstStyle/>
          <a:p>
            <a:pPr indent="0" marL="0">
              <a:buNone/>
            </a:pPr>
            <a:r>
              <a:rPr lang="en-US" sz="5400" b="1" dirty="0">
                <a:solidFill>
                  <a:srgbClr val="F5B942"/>
                </a:solidFill>
                <a:latin typeface="Calibri" pitchFamily="34" charset="0"/>
                <a:ea typeface="Calibri" pitchFamily="34" charset="-122"/>
                <a:cs typeface="Calibri" pitchFamily="34" charset="-120"/>
              </a:rPr>
              <a:t>16%</a:t>
            </a:r>
            <a:endParaRPr lang="en-US" sz="5400" dirty="0"/>
          </a:p>
        </p:txBody>
      </p:sp>
      <p:sp>
        <p:nvSpPr>
          <p:cNvPr id="11" name="Text 6"/>
          <p:cNvSpPr txBox="1"/>
          <p:nvPr/>
        </p:nvSpPr>
        <p:spPr>
          <a:xfrm>
            <a:off x="8046720" y="2926080"/>
            <a:ext cx="365760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purchase spend sits with these two suppliers</a:t>
            </a:r>
            <a:endParaRPr lang="en-US" sz="1600" dirty="0"/>
          </a:p>
        </p:txBody>
      </p:sp>
      <p:sp>
        <p:nvSpPr>
          <p:cNvPr id="12" name="Text 7"/>
          <p:cNvSpPr txBox="1"/>
          <p:nvPr/>
        </p:nvSpPr>
        <p:spPr>
          <a:xfrm>
            <a:off x="8046720" y="4023360"/>
            <a:ext cx="3657600" cy="868680"/>
          </a:xfrm>
          <a:prstGeom prst="rect">
            <a:avLst/>
          </a:prstGeom>
          <a:noFill/>
          <a:ln/>
        </p:spPr>
        <p:txBody>
          <a:bodyPr wrap="square" lIns="0" tIns="0" rIns="0" bIns="0" rtlCol="0" anchor="t"/>
          <a:lstStyle/>
          <a:p>
            <a:pPr indent="0" marL="0">
              <a:buNone/>
            </a:pPr>
            <a:r>
              <a:rPr lang="en-US" sz="3600" b="1" dirty="0">
                <a:solidFill>
                  <a:srgbClr val="22D3EE"/>
                </a:solidFill>
                <a:latin typeface="Calibri" pitchFamily="34" charset="0"/>
                <a:ea typeface="Calibri" pitchFamily="34" charset="-122"/>
                <a:cs typeface="Calibri" pitchFamily="34" charset="-120"/>
              </a:rPr>
              <a:t>No link yet</a:t>
            </a:r>
            <a:endParaRPr lang="en-US" sz="3600" dirty="0"/>
          </a:p>
        </p:txBody>
      </p:sp>
      <p:sp>
        <p:nvSpPr>
          <p:cNvPr id="13" name="Text 8"/>
          <p:cNvSpPr txBox="1"/>
          <p:nvPr/>
        </p:nvSpPr>
        <p:spPr>
          <a:xfrm>
            <a:off x="8046720" y="4937760"/>
            <a:ext cx="365760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to factory delays - fix it before it spreads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FACTORY</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Factory delays come from two stages: Sewing and Finishing</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Share of total delay days on delayed production orders, Oct 2023 - Sep 2026.</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10</a:t>
            </a:r>
            <a:endParaRPr lang="en-US" sz="1100" dirty="0"/>
          </a:p>
        </p:txBody>
      </p:sp>
      <p:graphicFrame>
        <p:nvGraphicFramePr>
          <p:cNvPr id="9" name="Chart 0" descr=""/>
          <p:cNvGraphicFramePr/>
          <p:nvPr/>
        </p:nvGraphicFramePr>
        <p:xfrm>
          <a:off x="548640" y="1828800"/>
          <a:ext cx="6766560" cy="429768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7863840" y="2011680"/>
            <a:ext cx="3840480" cy="868680"/>
          </a:xfrm>
          <a:prstGeom prst="rect">
            <a:avLst/>
          </a:prstGeom>
          <a:noFill/>
          <a:ln/>
        </p:spPr>
        <p:txBody>
          <a:bodyPr wrap="square" lIns="0" tIns="0" rIns="0" bIns="0" rtlCol="0" anchor="t"/>
          <a:lstStyle/>
          <a:p>
            <a:pPr indent="0" marL="0">
              <a:buNone/>
            </a:pPr>
            <a:r>
              <a:rPr lang="en-US" sz="5400" b="1" dirty="0">
                <a:solidFill>
                  <a:srgbClr val="F87171"/>
                </a:solidFill>
                <a:latin typeface="Calibri" pitchFamily="34" charset="0"/>
                <a:ea typeface="Calibri" pitchFamily="34" charset="-122"/>
                <a:cs typeface="Calibri" pitchFamily="34" charset="-120"/>
              </a:rPr>
              <a:t>68%</a:t>
            </a:r>
            <a:endParaRPr lang="en-US" sz="5400" dirty="0"/>
          </a:p>
        </p:txBody>
      </p:sp>
      <p:sp>
        <p:nvSpPr>
          <p:cNvPr id="11" name="Text 6"/>
          <p:cNvSpPr txBox="1"/>
          <p:nvPr/>
        </p:nvSpPr>
        <p:spPr>
          <a:xfrm>
            <a:off x="7863840" y="292608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delay days come from Sewing + Finishing</a:t>
            </a:r>
            <a:endParaRPr lang="en-US" sz="1600" dirty="0"/>
          </a:p>
        </p:txBody>
      </p:sp>
      <p:sp>
        <p:nvSpPr>
          <p:cNvPr id="12" name="Text 7"/>
          <p:cNvSpPr txBox="1"/>
          <p:nvPr/>
        </p:nvSpPr>
        <p:spPr>
          <a:xfrm>
            <a:off x="7863840" y="4023360"/>
            <a:ext cx="3840480" cy="868680"/>
          </a:xfrm>
          <a:prstGeom prst="rect">
            <a:avLst/>
          </a:prstGeom>
          <a:noFill/>
          <a:ln/>
        </p:spPr>
        <p:txBody>
          <a:bodyPr wrap="square" lIns="0" tIns="0" rIns="0" bIns="0" rtlCol="0" anchor="t"/>
          <a:lstStyle/>
          <a:p>
            <a:pPr indent="0" marL="0">
              <a:buNone/>
            </a:pPr>
            <a:r>
              <a:rPr lang="en-US" sz="4000" b="1" dirty="0">
                <a:solidFill>
                  <a:srgbClr val="F5B942"/>
                </a:solidFill>
                <a:latin typeface="Calibri" pitchFamily="34" charset="0"/>
                <a:ea typeface="Calibri" pitchFamily="34" charset="-122"/>
                <a:cs typeface="Calibri" pitchFamily="34" charset="-120"/>
              </a:rPr>
              <a:t>20% vs 15%</a:t>
            </a:r>
            <a:endParaRPr lang="en-US" sz="4000" dirty="0"/>
          </a:p>
        </p:txBody>
      </p:sp>
      <p:sp>
        <p:nvSpPr>
          <p:cNvPr id="13" name="Text 8"/>
          <p:cNvSpPr txBox="1"/>
          <p:nvPr/>
        </p:nvSpPr>
        <p:spPr>
          <a:xfrm>
            <a:off x="7863840" y="493776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orders late on Line 4 vs the other lines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QUALITY</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Poor quality costs about EGP 20M - almost a third of our gross profit</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Estimate for Oct 2023 - Sep 2026: inspection rejects + print rework and wasted materials + refunds on quality-related returns. 31% = share of gross profit.</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11</a:t>
            </a:r>
            <a:endParaRPr lang="en-US" sz="1100" dirty="0"/>
          </a:p>
        </p:txBody>
      </p:sp>
      <p:graphicFrame>
        <p:nvGraphicFramePr>
          <p:cNvPr id="9" name="Chart 0" descr=""/>
          <p:cNvGraphicFramePr/>
          <p:nvPr/>
        </p:nvGraphicFramePr>
        <p:xfrm>
          <a:off x="548640" y="1828800"/>
          <a:ext cx="6949440" cy="429768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8046720" y="2011680"/>
            <a:ext cx="3657600" cy="868680"/>
          </a:xfrm>
          <a:prstGeom prst="rect">
            <a:avLst/>
          </a:prstGeom>
          <a:noFill/>
          <a:ln/>
        </p:spPr>
        <p:txBody>
          <a:bodyPr wrap="square" lIns="0" tIns="0" rIns="0" bIns="0" rtlCol="0" anchor="t"/>
          <a:lstStyle/>
          <a:p>
            <a:pPr indent="0" marL="0">
              <a:buNone/>
            </a:pPr>
            <a:r>
              <a:rPr lang="en-US" sz="5400" b="1" dirty="0">
                <a:solidFill>
                  <a:srgbClr val="F87171"/>
                </a:solidFill>
                <a:latin typeface="Calibri" pitchFamily="34" charset="0"/>
                <a:ea typeface="Calibri" pitchFamily="34" charset="-122"/>
                <a:cs typeface="Calibri" pitchFamily="34" charset="-120"/>
              </a:rPr>
              <a:t>31%</a:t>
            </a:r>
            <a:endParaRPr lang="en-US" sz="5400" dirty="0"/>
          </a:p>
        </p:txBody>
      </p:sp>
      <p:sp>
        <p:nvSpPr>
          <p:cNvPr id="11" name="Text 6"/>
          <p:cNvSpPr txBox="1"/>
          <p:nvPr/>
        </p:nvSpPr>
        <p:spPr>
          <a:xfrm>
            <a:off x="8046720" y="2926080"/>
            <a:ext cx="365760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gross profit lost to poor quality (EGP 20.3M)</a:t>
            </a:r>
            <a:endParaRPr lang="en-US" sz="1600" dirty="0"/>
          </a:p>
        </p:txBody>
      </p:sp>
      <p:sp>
        <p:nvSpPr>
          <p:cNvPr id="12" name="Text 7"/>
          <p:cNvSpPr txBox="1"/>
          <p:nvPr/>
        </p:nvSpPr>
        <p:spPr>
          <a:xfrm>
            <a:off x="8046720" y="4023360"/>
            <a:ext cx="3657600" cy="868680"/>
          </a:xfrm>
          <a:prstGeom prst="rect">
            <a:avLst/>
          </a:prstGeom>
          <a:noFill/>
          <a:ln/>
        </p:spPr>
        <p:txBody>
          <a:bodyPr wrap="square" lIns="0" tIns="0" rIns="0" bIns="0" rtlCol="0" anchor="t"/>
          <a:lstStyle/>
          <a:p>
            <a:pPr indent="0" marL="0">
              <a:buNone/>
            </a:pPr>
            <a:r>
              <a:rPr lang="en-US" sz="5400" b="1" dirty="0">
                <a:solidFill>
                  <a:srgbClr val="22D3EE"/>
                </a:solidFill>
                <a:latin typeface="Calibri" pitchFamily="34" charset="0"/>
                <a:ea typeface="Calibri" pitchFamily="34" charset="-122"/>
                <a:cs typeface="Calibri" pitchFamily="34" charset="-120"/>
              </a:rPr>
              <a:t>36%</a:t>
            </a:r>
            <a:endParaRPr lang="en-US" sz="5400" dirty="0"/>
          </a:p>
        </p:txBody>
      </p:sp>
      <p:sp>
        <p:nvSpPr>
          <p:cNvPr id="13" name="Text 8"/>
          <p:cNvSpPr txBox="1"/>
          <p:nvPr/>
        </p:nvSpPr>
        <p:spPr>
          <a:xfrm>
            <a:off x="8046720" y="4937760"/>
            <a:ext cx="365760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customer returns are size / fit, not defects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MARKETING</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Some ads clearly work and some do not - but treat the numbers as a ranking, not as profit</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Platform-reported sales per EGP 1 of spend, Oct 2023 - Sep 2026. Platform-reported figures over-claim online sales 5.5x.</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12</a:t>
            </a:r>
            <a:endParaRPr lang="en-US" sz="1100" dirty="0"/>
          </a:p>
        </p:txBody>
      </p:sp>
      <p:graphicFrame>
        <p:nvGraphicFramePr>
          <p:cNvPr id="9" name="Chart 0" descr=""/>
          <p:cNvGraphicFramePr/>
          <p:nvPr/>
        </p:nvGraphicFramePr>
        <p:xfrm>
          <a:off x="548640" y="1828800"/>
          <a:ext cx="6949440" cy="4297680"/>
        </p:xfrm>
        <a:graphic xmlns:a="http://schemas.openxmlformats.org/drawingml/2006/main">
          <a:graphicData uri="http://schemas.openxmlformats.org/drawingml/2006/chart">
            <c:chart xmlns:c="http://schemas.openxmlformats.org/drawingml/2006/chart" r:id="rId2"/>
          </a:graphicData>
        </a:graphic>
      </p:graphicFrame>
      <p:sp>
        <p:nvSpPr>
          <p:cNvPr id="10" name="Shape 5"/>
          <p:cNvSpPr/>
          <p:nvPr/>
        </p:nvSpPr>
        <p:spPr>
          <a:xfrm>
            <a:off x="7955280" y="1920240"/>
            <a:ext cx="3749040" cy="1828800"/>
          </a:xfrm>
          <a:prstGeom prst="roundRect">
            <a:avLst>
              <a:gd name="adj" fmla="val 5000"/>
            </a:avLst>
          </a:prstGeom>
          <a:solidFill>
            <a:srgbClr val="0A1F3A"/>
          </a:solidFill>
          <a:ln w="12700">
            <a:solidFill>
              <a:srgbClr val="F5B942"/>
            </a:solidFill>
            <a:prstDash val="solid"/>
          </a:ln>
        </p:spPr>
      </p:sp>
      <p:sp>
        <p:nvSpPr>
          <p:cNvPr id="11" name="Text 6"/>
          <p:cNvSpPr txBox="1"/>
          <p:nvPr/>
        </p:nvSpPr>
        <p:spPr>
          <a:xfrm>
            <a:off x="8183880" y="2057400"/>
            <a:ext cx="3383280" cy="365760"/>
          </a:xfrm>
          <a:prstGeom prst="rect">
            <a:avLst/>
          </a:prstGeom>
          <a:noFill/>
          <a:ln/>
        </p:spPr>
        <p:txBody>
          <a:bodyPr wrap="square" lIns="0" tIns="0" rIns="0" bIns="0" rtlCol="0" anchor="t"/>
          <a:lstStyle/>
          <a:p>
            <a:pPr indent="0" marL="0">
              <a:buNone/>
            </a:pPr>
            <a:r>
              <a:rPr lang="en-US" sz="1400" b="1" dirty="0">
                <a:solidFill>
                  <a:srgbClr val="F5B942"/>
                </a:solidFill>
                <a:latin typeface="Calibri" pitchFamily="34" charset="0"/>
                <a:ea typeface="Calibri" pitchFamily="34" charset="-122"/>
                <a:cs typeface="Calibri" pitchFamily="34" charset="-120"/>
              </a:rPr>
              <a:t>Be careful</a:t>
            </a:r>
            <a:endParaRPr lang="en-US" sz="1400" dirty="0"/>
          </a:p>
        </p:txBody>
      </p:sp>
      <p:sp>
        <p:nvSpPr>
          <p:cNvPr id="12" name="Text 7"/>
          <p:cNvSpPr txBox="1"/>
          <p:nvPr/>
        </p:nvSpPr>
        <p:spPr>
          <a:xfrm>
            <a:off x="8183880" y="2468880"/>
            <a:ext cx="333756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Platforms claim 5.5x more sales than our online store really made. Use this as a ranking.</a:t>
            </a:r>
            <a:endParaRPr lang="en-US" sz="1500" dirty="0"/>
          </a:p>
        </p:txBody>
      </p:sp>
      <p:sp>
        <p:nvSpPr>
          <p:cNvPr id="13" name="Text 8"/>
          <p:cNvSpPr txBox="1"/>
          <p:nvPr/>
        </p:nvSpPr>
        <p:spPr>
          <a:xfrm>
            <a:off x="7955280" y="3977640"/>
            <a:ext cx="3749040" cy="868680"/>
          </a:xfrm>
          <a:prstGeom prst="rect">
            <a:avLst/>
          </a:prstGeom>
          <a:noFill/>
          <a:ln/>
        </p:spPr>
        <p:txBody>
          <a:bodyPr wrap="square" lIns="0" tIns="0" rIns="0" bIns="0" rtlCol="0" anchor="t"/>
          <a:lstStyle/>
          <a:p>
            <a:pPr indent="0" marL="0">
              <a:buNone/>
            </a:pPr>
            <a:r>
              <a:rPr lang="en-US" sz="4400" b="1" dirty="0">
                <a:solidFill>
                  <a:srgbClr val="22D3EE"/>
                </a:solidFill>
                <a:latin typeface="Calibri" pitchFamily="34" charset="0"/>
                <a:ea typeface="Calibri" pitchFamily="34" charset="-122"/>
                <a:cs typeface="Calibri" pitchFamily="34" charset="-120"/>
              </a:rPr>
              <a:t>2.8</a:t>
            </a:r>
            <a:endParaRPr lang="en-US" sz="4400" dirty="0"/>
          </a:p>
        </p:txBody>
      </p:sp>
      <p:sp>
        <p:nvSpPr>
          <p:cNvPr id="14" name="Text 9"/>
          <p:cNvSpPr txBox="1"/>
          <p:nvPr/>
        </p:nvSpPr>
        <p:spPr>
          <a:xfrm>
            <a:off x="7955280" y="4892040"/>
            <a:ext cx="374904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is the break-even: every ad must return at least EGP 2.8 per EGP 1 spent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WHERE THE MONEY IS</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Fixing wholesale pricing is worth more than everything else combined</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Annual gross profit, base case, before the cost of making the changes. Ranges are in the speaker notes.</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13</a:t>
            </a:r>
            <a:endParaRPr lang="en-US" sz="1100" dirty="0"/>
          </a:p>
        </p:txBody>
      </p:sp>
      <p:graphicFrame>
        <p:nvGraphicFramePr>
          <p:cNvPr id="9" name="Chart 0" descr=""/>
          <p:cNvGraphicFramePr/>
          <p:nvPr/>
        </p:nvGraphicFramePr>
        <p:xfrm>
          <a:off x="548640" y="1828800"/>
          <a:ext cx="7498080" cy="429768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8412480" y="2103120"/>
            <a:ext cx="3383280" cy="868680"/>
          </a:xfrm>
          <a:prstGeom prst="rect">
            <a:avLst/>
          </a:prstGeom>
          <a:noFill/>
          <a:ln/>
        </p:spPr>
        <p:txBody>
          <a:bodyPr wrap="square" lIns="0" tIns="0" rIns="0" bIns="0" rtlCol="0" anchor="t"/>
          <a:lstStyle/>
          <a:p>
            <a:pPr indent="0" marL="0">
              <a:buNone/>
            </a:pPr>
            <a:r>
              <a:rPr lang="en-US" sz="4000" b="1" dirty="0">
                <a:solidFill>
                  <a:srgbClr val="34D399"/>
                </a:solidFill>
                <a:latin typeface="Calibri" pitchFamily="34" charset="0"/>
                <a:ea typeface="Calibri" pitchFamily="34" charset="-122"/>
                <a:cs typeface="Calibri" pitchFamily="34" charset="-120"/>
              </a:rPr>
              <a:t>EGP 8.8M</a:t>
            </a:r>
            <a:endParaRPr lang="en-US" sz="4000" dirty="0"/>
          </a:p>
        </p:txBody>
      </p:sp>
      <p:sp>
        <p:nvSpPr>
          <p:cNvPr id="11" name="Text 6"/>
          <p:cNvSpPr txBox="1"/>
          <p:nvPr/>
        </p:nvSpPr>
        <p:spPr>
          <a:xfrm>
            <a:off x="8412480" y="3017520"/>
            <a:ext cx="33832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per year, base case = 38% of last year's gross profit</a:t>
            </a:r>
            <a:endParaRPr lang="en-US" sz="1600" dirty="0"/>
          </a:p>
        </p:txBody>
      </p:sp>
      <p:sp>
        <p:nvSpPr>
          <p:cNvPr id="12" name="Text 7"/>
          <p:cNvSpPr txBox="1"/>
          <p:nvPr/>
        </p:nvSpPr>
        <p:spPr>
          <a:xfrm>
            <a:off x="8412480" y="4114800"/>
            <a:ext cx="3383280" cy="868680"/>
          </a:xfrm>
          <a:prstGeom prst="rect">
            <a:avLst/>
          </a:prstGeom>
          <a:noFill/>
          <a:ln/>
        </p:spPr>
        <p:txBody>
          <a:bodyPr wrap="square" lIns="0" tIns="0" rIns="0" bIns="0" rtlCol="0" anchor="t"/>
          <a:lstStyle/>
          <a:p>
            <a:pPr indent="0" marL="0">
              <a:buNone/>
            </a:pPr>
            <a:r>
              <a:rPr lang="en-US" sz="4000" b="1" dirty="0">
                <a:solidFill>
                  <a:srgbClr val="22D3EE"/>
                </a:solidFill>
                <a:latin typeface="Calibri" pitchFamily="34" charset="0"/>
                <a:ea typeface="Calibri" pitchFamily="34" charset="-122"/>
                <a:cs typeface="Calibri" pitchFamily="34" charset="-120"/>
              </a:rPr>
              <a:t>82%</a:t>
            </a:r>
            <a:endParaRPr lang="en-US" sz="4000" dirty="0"/>
          </a:p>
        </p:txBody>
      </p:sp>
      <p:sp>
        <p:nvSpPr>
          <p:cNvPr id="13" name="Text 8"/>
          <p:cNvSpPr txBox="1"/>
          <p:nvPr/>
        </p:nvSpPr>
        <p:spPr>
          <a:xfrm>
            <a:off x="8412480" y="5029200"/>
            <a:ext cx="33832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it comes from wholesale pricing</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THE SOLUTION</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A Wholesale Deal Desk: every discount checked against a clear rule before the quote goes out</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Simulated on Oct 2023 - Sep 2026 wholesale invoices. Phase 1 value: EGP 2.9-4.9M a year (base 3.9M).</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14</a:t>
            </a:r>
            <a:endParaRPr lang="en-US" sz="1100" dirty="0"/>
          </a:p>
        </p:txBody>
      </p:sp>
      <p:sp>
        <p:nvSpPr>
          <p:cNvPr id="9" name="Shape 5"/>
          <p:cNvSpPr/>
          <p:nvPr/>
        </p:nvSpPr>
        <p:spPr>
          <a:xfrm>
            <a:off x="548640" y="1920240"/>
            <a:ext cx="1645920" cy="1005840"/>
          </a:xfrm>
          <a:prstGeom prst="roundRect">
            <a:avLst>
              <a:gd name="adj" fmla="val 9091"/>
            </a:avLst>
          </a:prstGeom>
          <a:solidFill>
            <a:srgbClr val="0A1F3A"/>
          </a:solidFill>
          <a:ln w="12700">
            <a:solidFill>
              <a:srgbClr val="22D3EE"/>
            </a:solidFill>
            <a:prstDash val="solid"/>
          </a:ln>
        </p:spPr>
      </p:sp>
      <p:sp>
        <p:nvSpPr>
          <p:cNvPr id="10" name="Text 6"/>
          <p:cNvSpPr txBox="1"/>
          <p:nvPr/>
        </p:nvSpPr>
        <p:spPr>
          <a:xfrm>
            <a:off x="621792" y="1920240"/>
            <a:ext cx="1499616"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Quote request</a:t>
            </a:r>
            <a:endParaRPr lang="en-US" sz="1400" dirty="0"/>
          </a:p>
        </p:txBody>
      </p:sp>
      <p:sp>
        <p:nvSpPr>
          <p:cNvPr id="11" name="Text 7"/>
          <p:cNvSpPr txBox="1"/>
          <p:nvPr/>
        </p:nvSpPr>
        <p:spPr>
          <a:xfrm>
            <a:off x="2194560" y="1920240"/>
            <a:ext cx="228600" cy="100584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&gt;</a:t>
            </a:r>
            <a:endParaRPr lang="en-US" sz="2000" dirty="0"/>
          </a:p>
        </p:txBody>
      </p:sp>
      <p:sp>
        <p:nvSpPr>
          <p:cNvPr id="12" name="Shape 8"/>
          <p:cNvSpPr/>
          <p:nvPr/>
        </p:nvSpPr>
        <p:spPr>
          <a:xfrm>
            <a:off x="2423160" y="1920240"/>
            <a:ext cx="1645920" cy="1005840"/>
          </a:xfrm>
          <a:prstGeom prst="roundRect">
            <a:avLst>
              <a:gd name="adj" fmla="val 9091"/>
            </a:avLst>
          </a:prstGeom>
          <a:solidFill>
            <a:srgbClr val="0A1F3A"/>
          </a:solidFill>
          <a:ln w="12700">
            <a:solidFill>
              <a:srgbClr val="22D3EE"/>
            </a:solidFill>
            <a:prstDash val="solid"/>
          </a:ln>
        </p:spPr>
      </p:sp>
      <p:sp>
        <p:nvSpPr>
          <p:cNvPr id="13" name="Text 9"/>
          <p:cNvSpPr txBox="1"/>
          <p:nvPr/>
        </p:nvSpPr>
        <p:spPr>
          <a:xfrm>
            <a:off x="2496312" y="1920240"/>
            <a:ext cx="1499616"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 order size &amp; customer</a:t>
            </a:r>
            <a:endParaRPr lang="en-US" sz="1400" dirty="0"/>
          </a:p>
        </p:txBody>
      </p:sp>
      <p:sp>
        <p:nvSpPr>
          <p:cNvPr id="14" name="Text 10"/>
          <p:cNvSpPr txBox="1"/>
          <p:nvPr/>
        </p:nvSpPr>
        <p:spPr>
          <a:xfrm>
            <a:off x="4069080" y="1920240"/>
            <a:ext cx="228600" cy="100584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&gt;</a:t>
            </a:r>
            <a:endParaRPr lang="en-US" sz="2000" dirty="0"/>
          </a:p>
        </p:txBody>
      </p:sp>
      <p:sp>
        <p:nvSpPr>
          <p:cNvPr id="15" name="Shape 11"/>
          <p:cNvSpPr/>
          <p:nvPr/>
        </p:nvSpPr>
        <p:spPr>
          <a:xfrm>
            <a:off x="4297680" y="1920240"/>
            <a:ext cx="1645920" cy="1005840"/>
          </a:xfrm>
          <a:prstGeom prst="roundRect">
            <a:avLst>
              <a:gd name="adj" fmla="val 9091"/>
            </a:avLst>
          </a:prstGeom>
          <a:solidFill>
            <a:srgbClr val="0A1F3A"/>
          </a:solidFill>
          <a:ln w="12700">
            <a:solidFill>
              <a:srgbClr val="22D3EE"/>
            </a:solidFill>
            <a:prstDash val="solid"/>
          </a:ln>
        </p:spPr>
      </p:sp>
      <p:sp>
        <p:nvSpPr>
          <p:cNvPr id="16" name="Text 12"/>
          <p:cNvSpPr txBox="1"/>
          <p:nvPr/>
        </p:nvSpPr>
        <p:spPr>
          <a:xfrm>
            <a:off x="4370832" y="1920240"/>
            <a:ext cx="1499616"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Suggest max discount</a:t>
            </a:r>
            <a:endParaRPr lang="en-US" sz="1400" dirty="0"/>
          </a:p>
        </p:txBody>
      </p:sp>
      <p:sp>
        <p:nvSpPr>
          <p:cNvPr id="17" name="Text 13"/>
          <p:cNvSpPr txBox="1"/>
          <p:nvPr/>
        </p:nvSpPr>
        <p:spPr>
          <a:xfrm>
            <a:off x="5943600" y="1920240"/>
            <a:ext cx="228600" cy="100584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&gt;</a:t>
            </a:r>
            <a:endParaRPr lang="en-US" sz="2000" dirty="0"/>
          </a:p>
        </p:txBody>
      </p:sp>
      <p:sp>
        <p:nvSpPr>
          <p:cNvPr id="18" name="Shape 14"/>
          <p:cNvSpPr/>
          <p:nvPr/>
        </p:nvSpPr>
        <p:spPr>
          <a:xfrm>
            <a:off x="6172200" y="1920240"/>
            <a:ext cx="1645920" cy="1005840"/>
          </a:xfrm>
          <a:prstGeom prst="roundRect">
            <a:avLst>
              <a:gd name="adj" fmla="val 9091"/>
            </a:avLst>
          </a:prstGeom>
          <a:solidFill>
            <a:srgbClr val="0A1F3A"/>
          </a:solidFill>
          <a:ln w="12700">
            <a:solidFill>
              <a:srgbClr val="22D3EE"/>
            </a:solidFill>
            <a:prstDash val="solid"/>
          </a:ln>
        </p:spPr>
      </p:sp>
      <p:sp>
        <p:nvSpPr>
          <p:cNvPr id="19" name="Text 15"/>
          <p:cNvSpPr txBox="1"/>
          <p:nvPr/>
        </p:nvSpPr>
        <p:spPr>
          <a:xfrm>
            <a:off x="6245352" y="1920240"/>
            <a:ext cx="1499616"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 margin</a:t>
            </a:r>
            <a:endParaRPr lang="en-US" sz="1400" dirty="0"/>
          </a:p>
        </p:txBody>
      </p:sp>
      <p:sp>
        <p:nvSpPr>
          <p:cNvPr id="20" name="Text 16"/>
          <p:cNvSpPr txBox="1"/>
          <p:nvPr/>
        </p:nvSpPr>
        <p:spPr>
          <a:xfrm>
            <a:off x="7818120" y="1920240"/>
            <a:ext cx="228600" cy="100584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&gt;</a:t>
            </a:r>
            <a:endParaRPr lang="en-US" sz="2000" dirty="0"/>
          </a:p>
        </p:txBody>
      </p:sp>
      <p:sp>
        <p:nvSpPr>
          <p:cNvPr id="21" name="Shape 17"/>
          <p:cNvSpPr/>
          <p:nvPr/>
        </p:nvSpPr>
        <p:spPr>
          <a:xfrm>
            <a:off x="8046720" y="1920240"/>
            <a:ext cx="1645920" cy="1005840"/>
          </a:xfrm>
          <a:prstGeom prst="roundRect">
            <a:avLst>
              <a:gd name="adj" fmla="val 9091"/>
            </a:avLst>
          </a:prstGeom>
          <a:solidFill>
            <a:srgbClr val="0A1F3A"/>
          </a:solidFill>
          <a:ln w="12700">
            <a:solidFill>
              <a:srgbClr val="22D3EE"/>
            </a:solidFill>
            <a:prstDash val="solid"/>
          </a:ln>
        </p:spPr>
      </p:sp>
      <p:sp>
        <p:nvSpPr>
          <p:cNvPr id="22" name="Text 18"/>
          <p:cNvSpPr txBox="1"/>
          <p:nvPr/>
        </p:nvSpPr>
        <p:spPr>
          <a:xfrm>
            <a:off x="8119872" y="1920240"/>
            <a:ext cx="1499616"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Approve exceptions</a:t>
            </a:r>
            <a:endParaRPr lang="en-US" sz="1400" dirty="0"/>
          </a:p>
        </p:txBody>
      </p:sp>
      <p:sp>
        <p:nvSpPr>
          <p:cNvPr id="23" name="Text 19"/>
          <p:cNvSpPr txBox="1"/>
          <p:nvPr/>
        </p:nvSpPr>
        <p:spPr>
          <a:xfrm>
            <a:off x="9692640" y="1920240"/>
            <a:ext cx="228600" cy="100584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&gt;</a:t>
            </a:r>
            <a:endParaRPr lang="en-US" sz="2000" dirty="0"/>
          </a:p>
        </p:txBody>
      </p:sp>
      <p:sp>
        <p:nvSpPr>
          <p:cNvPr id="24" name="Shape 20"/>
          <p:cNvSpPr/>
          <p:nvPr/>
        </p:nvSpPr>
        <p:spPr>
          <a:xfrm>
            <a:off x="9921240" y="1920240"/>
            <a:ext cx="1645920" cy="1005840"/>
          </a:xfrm>
          <a:prstGeom prst="roundRect">
            <a:avLst>
              <a:gd name="adj" fmla="val 9091"/>
            </a:avLst>
          </a:prstGeom>
          <a:solidFill>
            <a:srgbClr val="34D399"/>
          </a:solidFill>
          <a:ln w="12700">
            <a:solidFill>
              <a:srgbClr val="34D399"/>
            </a:solidFill>
            <a:prstDash val="solid"/>
          </a:ln>
        </p:spPr>
      </p:sp>
      <p:sp>
        <p:nvSpPr>
          <p:cNvPr id="25" name="Text 21"/>
          <p:cNvSpPr txBox="1"/>
          <p:nvPr/>
        </p:nvSpPr>
        <p:spPr>
          <a:xfrm>
            <a:off x="9994392" y="1920240"/>
            <a:ext cx="1499616" cy="1005840"/>
          </a:xfrm>
          <a:prstGeom prst="rect">
            <a:avLst/>
          </a:prstGeom>
          <a:noFill/>
          <a:ln/>
        </p:spPr>
        <p:txBody>
          <a:bodyPr wrap="square" lIns="0" tIns="0" rIns="0" bIns="0" rtlCol="0" anchor="ctr"/>
          <a:lstStyle/>
          <a:p>
            <a:pPr algn="ctr" indent="0" marL="0">
              <a:buNone/>
            </a:pPr>
            <a:r>
              <a:rPr lang="en-US" sz="1400" b="1" dirty="0">
                <a:solidFill>
                  <a:srgbClr val="02101E"/>
                </a:solidFill>
                <a:latin typeface="Calibri" pitchFamily="34" charset="0"/>
                <a:ea typeface="Calibri" pitchFamily="34" charset="-122"/>
                <a:cs typeface="Calibri" pitchFamily="34" charset="-120"/>
              </a:rPr>
              <a:t>Profitable quote</a:t>
            </a:r>
            <a:endParaRPr lang="en-US" sz="1400" dirty="0"/>
          </a:p>
        </p:txBody>
      </p:sp>
      <p:sp>
        <p:nvSpPr>
          <p:cNvPr id="26" name="Shape 22"/>
          <p:cNvSpPr/>
          <p:nvPr/>
        </p:nvSpPr>
        <p:spPr>
          <a:xfrm>
            <a:off x="548640" y="3383280"/>
            <a:ext cx="3611880" cy="1920240"/>
          </a:xfrm>
          <a:prstGeom prst="roundRect">
            <a:avLst>
              <a:gd name="adj" fmla="val 4762"/>
            </a:avLst>
          </a:prstGeom>
          <a:solidFill>
            <a:srgbClr val="0A1F3A"/>
          </a:solidFill>
          <a:ln w="12700">
            <a:solidFill>
              <a:srgbClr val="17406E"/>
            </a:solidFill>
            <a:prstDash val="solid"/>
          </a:ln>
        </p:spPr>
      </p:sp>
      <p:sp>
        <p:nvSpPr>
          <p:cNvPr id="27" name="Text 23"/>
          <p:cNvSpPr txBox="1"/>
          <p:nvPr/>
        </p:nvSpPr>
        <p:spPr>
          <a:xfrm>
            <a:off x="777240" y="3566160"/>
            <a:ext cx="3200400" cy="640080"/>
          </a:xfrm>
          <a:prstGeom prst="rect">
            <a:avLst/>
          </a:prstGeom>
          <a:noFill/>
          <a:ln/>
        </p:spPr>
        <p:txBody>
          <a:bodyPr wrap="square" lIns="0" tIns="0" rIns="0" bIns="0" rtlCol="0" anchor="t"/>
          <a:lstStyle/>
          <a:p>
            <a:pPr indent="0" marL="0">
              <a:buNone/>
            </a:pPr>
            <a:r>
              <a:rPr lang="en-US" sz="2800" b="1" dirty="0">
                <a:solidFill>
                  <a:srgbClr val="22D3EE"/>
                </a:solidFill>
                <a:latin typeface="Calibri" pitchFamily="34" charset="0"/>
                <a:ea typeface="Calibri" pitchFamily="34" charset="-122"/>
                <a:cs typeface="Calibri" pitchFamily="34" charset="-120"/>
              </a:rPr>
              <a:t>28% / 30% / 32%</a:t>
            </a:r>
            <a:endParaRPr lang="en-US" sz="2800" dirty="0"/>
          </a:p>
        </p:txBody>
      </p:sp>
      <p:sp>
        <p:nvSpPr>
          <p:cNvPr id="28" name="Text 24"/>
          <p:cNvSpPr txBox="1"/>
          <p:nvPr/>
        </p:nvSpPr>
        <p:spPr>
          <a:xfrm>
            <a:off x="777240" y="4343400"/>
            <a:ext cx="3200400" cy="822960"/>
          </a:xfrm>
          <a:prstGeom prst="rect">
            <a:avLst/>
          </a:prstGeom>
          <a:noFill/>
          <a:ln/>
        </p:spPr>
        <p:txBody>
          <a:bodyPr wrap="square" lIns="0" tIns="0" rIns="0" bIns="0" rtlCol="0" anchor="t"/>
          <a:lstStyle/>
          <a:p>
            <a:pPr indent="0" marL="0">
              <a:buNone/>
            </a:pPr>
            <a:r>
              <a:rPr lang="en-US" sz="1500" dirty="0">
                <a:solidFill>
                  <a:srgbClr val="A9B8D0"/>
                </a:solidFill>
                <a:latin typeface="Calibri" pitchFamily="34" charset="0"/>
                <a:ea typeface="Calibri" pitchFamily="34" charset="-122"/>
                <a:cs typeface="Calibri" pitchFamily="34" charset="-120"/>
              </a:rPr>
              <a:t>maximum discount for 12-23 / 24-47 / 48+ units</a:t>
            </a:r>
            <a:endParaRPr lang="en-US" sz="1500" dirty="0"/>
          </a:p>
        </p:txBody>
      </p:sp>
      <p:sp>
        <p:nvSpPr>
          <p:cNvPr id="29" name="Shape 25"/>
          <p:cNvSpPr/>
          <p:nvPr/>
        </p:nvSpPr>
        <p:spPr>
          <a:xfrm>
            <a:off x="4343400" y="3383280"/>
            <a:ext cx="3611880" cy="1920240"/>
          </a:xfrm>
          <a:prstGeom prst="roundRect">
            <a:avLst>
              <a:gd name="adj" fmla="val 4762"/>
            </a:avLst>
          </a:prstGeom>
          <a:solidFill>
            <a:srgbClr val="0A1F3A"/>
          </a:solidFill>
          <a:ln w="12700">
            <a:solidFill>
              <a:srgbClr val="17406E"/>
            </a:solidFill>
            <a:prstDash val="solid"/>
          </a:ln>
        </p:spPr>
      </p:sp>
      <p:sp>
        <p:nvSpPr>
          <p:cNvPr id="30" name="Text 26"/>
          <p:cNvSpPr txBox="1"/>
          <p:nvPr/>
        </p:nvSpPr>
        <p:spPr>
          <a:xfrm>
            <a:off x="4572000" y="3566160"/>
            <a:ext cx="3200400" cy="640080"/>
          </a:xfrm>
          <a:prstGeom prst="rect">
            <a:avLst/>
          </a:prstGeom>
          <a:noFill/>
          <a:ln/>
        </p:spPr>
        <p:txBody>
          <a:bodyPr wrap="square" lIns="0" tIns="0" rIns="0" bIns="0" rtlCol="0" anchor="t"/>
          <a:lstStyle/>
          <a:p>
            <a:pPr indent="0" marL="0">
              <a:buNone/>
            </a:pPr>
            <a:r>
              <a:rPr lang="en-US" sz="2800" b="1" dirty="0">
                <a:solidFill>
                  <a:srgbClr val="22D3EE"/>
                </a:solidFill>
                <a:latin typeface="Calibri" pitchFamily="34" charset="0"/>
                <a:ea typeface="Calibri" pitchFamily="34" charset="-122"/>
                <a:cs typeface="Calibri" pitchFamily="34" charset="-120"/>
              </a:rPr>
              <a:t>15%</a:t>
            </a:r>
            <a:endParaRPr lang="en-US" sz="2800" dirty="0"/>
          </a:p>
        </p:txBody>
      </p:sp>
      <p:sp>
        <p:nvSpPr>
          <p:cNvPr id="31" name="Text 27"/>
          <p:cNvSpPr txBox="1"/>
          <p:nvPr/>
        </p:nvSpPr>
        <p:spPr>
          <a:xfrm>
            <a:off x="4572000" y="4343400"/>
            <a:ext cx="3200400" cy="822960"/>
          </a:xfrm>
          <a:prstGeom prst="rect">
            <a:avLst/>
          </a:prstGeom>
          <a:noFill/>
          <a:ln/>
        </p:spPr>
        <p:txBody>
          <a:bodyPr wrap="square" lIns="0" tIns="0" rIns="0" bIns="0" rtlCol="0" anchor="t"/>
          <a:lstStyle/>
          <a:p>
            <a:pPr indent="0" marL="0">
              <a:buNone/>
            </a:pPr>
            <a:r>
              <a:rPr lang="en-US" sz="1500" dirty="0">
                <a:solidFill>
                  <a:srgbClr val="A9B8D0"/>
                </a:solidFill>
                <a:latin typeface="Calibri" pitchFamily="34" charset="0"/>
                <a:ea typeface="Calibri" pitchFamily="34" charset="-122"/>
                <a:cs typeface="Calibri" pitchFamily="34" charset="-120"/>
              </a:rPr>
              <a:t>minimum profit margin on every quote</a:t>
            </a:r>
            <a:endParaRPr lang="en-US" sz="1500" dirty="0"/>
          </a:p>
        </p:txBody>
      </p:sp>
      <p:sp>
        <p:nvSpPr>
          <p:cNvPr id="32" name="Shape 28"/>
          <p:cNvSpPr/>
          <p:nvPr/>
        </p:nvSpPr>
        <p:spPr>
          <a:xfrm>
            <a:off x="8138160" y="3383280"/>
            <a:ext cx="3611880" cy="1920240"/>
          </a:xfrm>
          <a:prstGeom prst="roundRect">
            <a:avLst>
              <a:gd name="adj" fmla="val 4762"/>
            </a:avLst>
          </a:prstGeom>
          <a:solidFill>
            <a:srgbClr val="0A1F3A"/>
          </a:solidFill>
          <a:ln w="12700">
            <a:solidFill>
              <a:srgbClr val="17406E"/>
            </a:solidFill>
            <a:prstDash val="solid"/>
          </a:ln>
        </p:spPr>
      </p:sp>
      <p:sp>
        <p:nvSpPr>
          <p:cNvPr id="33" name="Text 29"/>
          <p:cNvSpPr txBox="1"/>
          <p:nvPr/>
        </p:nvSpPr>
        <p:spPr>
          <a:xfrm>
            <a:off x="8366760" y="3566160"/>
            <a:ext cx="3200400" cy="640080"/>
          </a:xfrm>
          <a:prstGeom prst="rect">
            <a:avLst/>
          </a:prstGeom>
          <a:noFill/>
          <a:ln/>
        </p:spPr>
        <p:txBody>
          <a:bodyPr wrap="square" lIns="0" tIns="0" rIns="0" bIns="0" rtlCol="0" anchor="t"/>
          <a:lstStyle/>
          <a:p>
            <a:pPr indent="0" marL="0">
              <a:buNone/>
            </a:pPr>
            <a:r>
              <a:rPr lang="en-US" sz="2800" b="1" dirty="0">
                <a:solidFill>
                  <a:srgbClr val="22D3EE"/>
                </a:solidFill>
                <a:latin typeface="Calibri" pitchFamily="34" charset="0"/>
                <a:ea typeface="Calibri" pitchFamily="34" charset="-122"/>
                <a:cs typeface="Calibri" pitchFamily="34" charset="-120"/>
              </a:rPr>
              <a:t>Never below cost</a:t>
            </a:r>
            <a:endParaRPr lang="en-US" sz="2800" dirty="0"/>
          </a:p>
        </p:txBody>
      </p:sp>
      <p:sp>
        <p:nvSpPr>
          <p:cNvPr id="34" name="Text 30"/>
          <p:cNvSpPr txBox="1"/>
          <p:nvPr/>
        </p:nvSpPr>
        <p:spPr>
          <a:xfrm>
            <a:off x="8366760" y="4343400"/>
            <a:ext cx="3200400" cy="822960"/>
          </a:xfrm>
          <a:prstGeom prst="rect">
            <a:avLst/>
          </a:prstGeom>
          <a:noFill/>
          <a:ln/>
        </p:spPr>
        <p:txBody>
          <a:bodyPr wrap="square" lIns="0" tIns="0" rIns="0" bIns="0" rtlCol="0" anchor="t"/>
          <a:lstStyle/>
          <a:p>
            <a:pPr indent="0" marL="0">
              <a:buNone/>
            </a:pPr>
            <a:r>
              <a:rPr lang="en-US" sz="1500" dirty="0">
                <a:solidFill>
                  <a:srgbClr val="A9B8D0"/>
                </a:solidFill>
                <a:latin typeface="Calibri" pitchFamily="34" charset="0"/>
                <a:ea typeface="Calibri" pitchFamily="34" charset="-122"/>
                <a:cs typeface="Calibri" pitchFamily="34" charset="-120"/>
              </a:rPr>
              <a:t>exceptions go to a manager, then a director</a:t>
            </a:r>
            <a:endParaRPr lang="en-US" sz="1500" dirty="0"/>
          </a:p>
        </p:txBody>
      </p:sp>
      <p:sp>
        <p:nvSpPr>
          <p:cNvPr id="35" name="Text 31"/>
          <p:cNvSpPr txBox="1"/>
          <p:nvPr/>
        </p:nvSpPr>
        <p:spPr>
          <a:xfrm>
            <a:off x="548640" y="5577840"/>
            <a:ext cx="11064240" cy="457200"/>
          </a:xfrm>
          <a:prstGeom prst="rect">
            <a:avLst/>
          </a:prstGeom>
          <a:noFill/>
          <a:ln/>
        </p:spPr>
        <p:txBody>
          <a:bodyPr wrap="square" lIns="0" tIns="0" rIns="0" bIns="0" rtlCol="0" anchor="t"/>
          <a:lstStyle/>
          <a:p>
            <a:pPr indent="0" marL="0">
              <a:buNone/>
            </a:pPr>
            <a:r>
              <a:rPr lang="en-US" sz="2000" b="1" dirty="0">
                <a:solidFill>
                  <a:srgbClr val="34D399"/>
                </a:solidFill>
                <a:latin typeface="Calibri" pitchFamily="34" charset="0"/>
                <a:ea typeface="Calibri" pitchFamily="34" charset="-122"/>
                <a:cs typeface="Calibri" pitchFamily="34" charset="-120"/>
              </a:rPr>
              <a:t>Value of phase 1 alone: EGP 2.9-4.9M profit per year</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ACTION PLAN</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Start with pricing, then customers and stock, then build the monitoring</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Value shown is annual gross profit, base case unless stated.</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15</a:t>
            </a:r>
            <a:endParaRPr lang="en-US" sz="1100" dirty="0"/>
          </a:p>
        </p:txBody>
      </p:sp>
      <p:sp>
        <p:nvSpPr>
          <p:cNvPr id="9" name="Shape 5"/>
          <p:cNvSpPr/>
          <p:nvPr/>
        </p:nvSpPr>
        <p:spPr>
          <a:xfrm>
            <a:off x="548640" y="1920240"/>
            <a:ext cx="3611880" cy="3017520"/>
          </a:xfrm>
          <a:prstGeom prst="roundRect">
            <a:avLst>
              <a:gd name="adj" fmla="val 3030"/>
            </a:avLst>
          </a:prstGeom>
          <a:solidFill>
            <a:srgbClr val="0A1F3A"/>
          </a:solidFill>
          <a:ln w="12700">
            <a:solidFill>
              <a:srgbClr val="34D399"/>
            </a:solidFill>
            <a:prstDash val="solid"/>
          </a:ln>
        </p:spPr>
      </p:sp>
      <p:sp>
        <p:nvSpPr>
          <p:cNvPr id="10" name="Text 6"/>
          <p:cNvSpPr txBox="1"/>
          <p:nvPr/>
        </p:nvSpPr>
        <p:spPr>
          <a:xfrm>
            <a:off x="822960" y="2103120"/>
            <a:ext cx="3108960" cy="548640"/>
          </a:xfrm>
          <a:prstGeom prst="rect">
            <a:avLst/>
          </a:prstGeom>
          <a:noFill/>
          <a:ln/>
        </p:spPr>
        <p:txBody>
          <a:bodyPr wrap="square" lIns="0" tIns="0" rIns="0" bIns="0" rtlCol="0" anchor="t"/>
          <a:lstStyle/>
          <a:p>
            <a:pPr indent="0" marL="0">
              <a:buNone/>
            </a:pPr>
            <a:r>
              <a:rPr lang="en-US" sz="3000" b="1" dirty="0">
                <a:solidFill>
                  <a:srgbClr val="34D399"/>
                </a:solidFill>
                <a:latin typeface="Calibri" pitchFamily="34" charset="0"/>
                <a:ea typeface="Calibri" pitchFamily="34" charset="-122"/>
                <a:cs typeface="Calibri" pitchFamily="34" charset="-120"/>
              </a:rPr>
              <a:t>NOW</a:t>
            </a:r>
            <a:endParaRPr lang="en-US" sz="3000" dirty="0"/>
          </a:p>
        </p:txBody>
      </p:sp>
      <p:sp>
        <p:nvSpPr>
          <p:cNvPr id="11" name="Text 7"/>
          <p:cNvSpPr txBox="1"/>
          <p:nvPr/>
        </p:nvSpPr>
        <p:spPr>
          <a:xfrm>
            <a:off x="822960" y="2834640"/>
            <a:ext cx="3108960" cy="201168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Pilot the Deal Desk. Block below-cost quotes. Stop influencer spend. Enforce SUP04 contract.</a:t>
            </a:r>
            <a:endParaRPr lang="en-US" sz="1700" dirty="0"/>
          </a:p>
        </p:txBody>
      </p:sp>
      <p:sp>
        <p:nvSpPr>
          <p:cNvPr id="12" name="Shape 8"/>
          <p:cNvSpPr/>
          <p:nvPr/>
        </p:nvSpPr>
        <p:spPr>
          <a:xfrm>
            <a:off x="4343400" y="1920240"/>
            <a:ext cx="3611880" cy="3017520"/>
          </a:xfrm>
          <a:prstGeom prst="roundRect">
            <a:avLst>
              <a:gd name="adj" fmla="val 3030"/>
            </a:avLst>
          </a:prstGeom>
          <a:solidFill>
            <a:srgbClr val="0A1F3A"/>
          </a:solidFill>
          <a:ln w="12700">
            <a:solidFill>
              <a:srgbClr val="22D3EE"/>
            </a:solidFill>
            <a:prstDash val="solid"/>
          </a:ln>
        </p:spPr>
      </p:sp>
      <p:sp>
        <p:nvSpPr>
          <p:cNvPr id="13" name="Text 9"/>
          <p:cNvSpPr txBox="1"/>
          <p:nvPr/>
        </p:nvSpPr>
        <p:spPr>
          <a:xfrm>
            <a:off x="4617720" y="2103120"/>
            <a:ext cx="3108960" cy="548640"/>
          </a:xfrm>
          <a:prstGeom prst="rect">
            <a:avLst/>
          </a:prstGeom>
          <a:noFill/>
          <a:ln/>
        </p:spPr>
        <p:txBody>
          <a:bodyPr wrap="square" lIns="0" tIns="0" rIns="0" bIns="0" rtlCol="0" anchor="t"/>
          <a:lstStyle/>
          <a:p>
            <a:pPr indent="0" marL="0">
              <a:buNone/>
            </a:pPr>
            <a:r>
              <a:rPr lang="en-US" sz="3000" b="1" dirty="0">
                <a:solidFill>
                  <a:srgbClr val="22D3EE"/>
                </a:solidFill>
                <a:latin typeface="Calibri" pitchFamily="34" charset="0"/>
                <a:ea typeface="Calibri" pitchFamily="34" charset="-122"/>
                <a:cs typeface="Calibri" pitchFamily="34" charset="-120"/>
              </a:rPr>
              <a:t>NEXT</a:t>
            </a:r>
            <a:endParaRPr lang="en-US" sz="3000" dirty="0"/>
          </a:p>
        </p:txBody>
      </p:sp>
      <p:sp>
        <p:nvSpPr>
          <p:cNvPr id="14" name="Text 10"/>
          <p:cNvSpPr txBox="1"/>
          <p:nvPr/>
        </p:nvSpPr>
        <p:spPr>
          <a:xfrm>
            <a:off x="4617720" y="2834640"/>
            <a:ext cx="3108960" cy="201168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Win back the 3,745 quiet customers. Plan wholesale stock with the forecast. Stop buying overstocked products.</a:t>
            </a:r>
            <a:endParaRPr lang="en-US" sz="1700" dirty="0"/>
          </a:p>
        </p:txBody>
      </p:sp>
      <p:sp>
        <p:nvSpPr>
          <p:cNvPr id="15" name="Shape 11"/>
          <p:cNvSpPr/>
          <p:nvPr/>
        </p:nvSpPr>
        <p:spPr>
          <a:xfrm>
            <a:off x="8138160" y="1920240"/>
            <a:ext cx="3611880" cy="3017520"/>
          </a:xfrm>
          <a:prstGeom prst="roundRect">
            <a:avLst>
              <a:gd name="adj" fmla="val 3030"/>
            </a:avLst>
          </a:prstGeom>
          <a:solidFill>
            <a:srgbClr val="0A1F3A"/>
          </a:solidFill>
          <a:ln w="12700">
            <a:solidFill>
              <a:srgbClr val="3B82F6"/>
            </a:solidFill>
            <a:prstDash val="solid"/>
          </a:ln>
        </p:spPr>
      </p:sp>
      <p:sp>
        <p:nvSpPr>
          <p:cNvPr id="16" name="Text 12"/>
          <p:cNvSpPr txBox="1"/>
          <p:nvPr/>
        </p:nvSpPr>
        <p:spPr>
          <a:xfrm>
            <a:off x="8412480" y="2103120"/>
            <a:ext cx="3108960" cy="548640"/>
          </a:xfrm>
          <a:prstGeom prst="rect">
            <a:avLst/>
          </a:prstGeom>
          <a:noFill/>
          <a:ln/>
        </p:spPr>
        <p:txBody>
          <a:bodyPr wrap="square" lIns="0" tIns="0" rIns="0" bIns="0" rtlCol="0" anchor="t"/>
          <a:lstStyle/>
          <a:p>
            <a:pPr indent="0" marL="0">
              <a:buNone/>
            </a:pPr>
            <a:r>
              <a:rPr lang="en-US" sz="3000" b="1" dirty="0">
                <a:solidFill>
                  <a:srgbClr val="3B82F6"/>
                </a:solidFill>
                <a:latin typeface="Calibri" pitchFamily="34" charset="0"/>
                <a:ea typeface="Calibri" pitchFamily="34" charset="-122"/>
                <a:cs typeface="Calibri" pitchFamily="34" charset="-120"/>
              </a:rPr>
              <a:t>THEN</a:t>
            </a:r>
            <a:endParaRPr lang="en-US" sz="3000" dirty="0"/>
          </a:p>
        </p:txBody>
      </p:sp>
      <p:sp>
        <p:nvSpPr>
          <p:cNvPr id="17" name="Text 13"/>
          <p:cNvSpPr txBox="1"/>
          <p:nvPr/>
        </p:nvSpPr>
        <p:spPr>
          <a:xfrm>
            <a:off x="8412480" y="2834640"/>
            <a:ext cx="3108960" cy="201168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Add the 15% margin rule. Monitor suppliers, factory and quality. Add an online size guide.</a:t>
            </a:r>
            <a:endParaRPr lang="en-US" sz="1700" dirty="0"/>
          </a:p>
        </p:txBody>
      </p:sp>
      <p:sp>
        <p:nvSpPr>
          <p:cNvPr id="18" name="Shape 14"/>
          <p:cNvSpPr/>
          <p:nvPr/>
        </p:nvSpPr>
        <p:spPr>
          <a:xfrm>
            <a:off x="548640" y="5257800"/>
            <a:ext cx="11064240" cy="868680"/>
          </a:xfrm>
          <a:prstGeom prst="roundRect">
            <a:avLst>
              <a:gd name="adj" fmla="val 10526"/>
            </a:avLst>
          </a:prstGeom>
          <a:solidFill>
            <a:srgbClr val="34D399">
              <a:alpha val="15000"/>
            </a:srgbClr>
          </a:solidFill>
          <a:ln w="12700">
            <a:solidFill>
              <a:srgbClr val="34D399"/>
            </a:solidFill>
            <a:prstDash val="solid"/>
          </a:ln>
        </p:spPr>
      </p:sp>
      <p:sp>
        <p:nvSpPr>
          <p:cNvPr id="19" name="Text 15"/>
          <p:cNvSpPr txBox="1"/>
          <p:nvPr/>
        </p:nvSpPr>
        <p:spPr>
          <a:xfrm>
            <a:off x="777240" y="5257800"/>
            <a:ext cx="10607040" cy="8686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Biggest opportunity: EGP 2.9-4.9M more profit every year from wholesale pricing alone</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BEFORE WE ROLL OUT</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Four things to confirm first, so the numbers can be trusted</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Validation items from the HVIA analysis. See the project report, section 11, for details.</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16</a:t>
            </a:r>
            <a:endParaRPr lang="en-US" sz="1100" dirty="0"/>
          </a:p>
        </p:txBody>
      </p:sp>
      <p:sp>
        <p:nvSpPr>
          <p:cNvPr id="9" name="Shape 5"/>
          <p:cNvSpPr/>
          <p:nvPr/>
        </p:nvSpPr>
        <p:spPr>
          <a:xfrm>
            <a:off x="548640" y="2011680"/>
            <a:ext cx="5440680" cy="1920240"/>
          </a:xfrm>
          <a:prstGeom prst="roundRect">
            <a:avLst>
              <a:gd name="adj" fmla="val 4762"/>
            </a:avLst>
          </a:prstGeom>
          <a:solidFill>
            <a:srgbClr val="0A1F3A"/>
          </a:solidFill>
          <a:ln w="12700">
            <a:solidFill>
              <a:srgbClr val="F5B942"/>
            </a:solidFill>
            <a:prstDash val="solid"/>
          </a:ln>
        </p:spPr>
      </p:sp>
      <p:sp>
        <p:nvSpPr>
          <p:cNvPr id="10" name="Text 6"/>
          <p:cNvSpPr txBox="1"/>
          <p:nvPr/>
        </p:nvSpPr>
        <p:spPr>
          <a:xfrm>
            <a:off x="822960" y="2240280"/>
            <a:ext cx="640080" cy="731520"/>
          </a:xfrm>
          <a:prstGeom prst="rect">
            <a:avLst/>
          </a:prstGeom>
          <a:noFill/>
          <a:ln/>
        </p:spPr>
        <p:txBody>
          <a:bodyPr wrap="square" lIns="0" tIns="0" rIns="0" bIns="0" rtlCol="0" anchor="t"/>
          <a:lstStyle/>
          <a:p>
            <a:pPr indent="0" marL="0">
              <a:buNone/>
            </a:pPr>
            <a:r>
              <a:rPr lang="en-US" sz="3600" b="1" dirty="0">
                <a:solidFill>
                  <a:srgbClr val="F5B942"/>
                </a:solidFill>
                <a:latin typeface="Calibri" pitchFamily="34" charset="0"/>
                <a:ea typeface="Calibri" pitchFamily="34" charset="-122"/>
                <a:cs typeface="Calibri" pitchFamily="34" charset="-120"/>
              </a:rPr>
              <a:t>1</a:t>
            </a:r>
            <a:endParaRPr lang="en-US" sz="3600" dirty="0"/>
          </a:p>
        </p:txBody>
      </p:sp>
      <p:sp>
        <p:nvSpPr>
          <p:cNvPr id="11" name="Text 7"/>
          <p:cNvSpPr txBox="1"/>
          <p:nvPr/>
        </p:nvSpPr>
        <p:spPr>
          <a:xfrm>
            <a:off x="1554480" y="2286000"/>
            <a:ext cx="4206240" cy="64008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Product costs are estimates</a:t>
            </a:r>
            <a:endParaRPr lang="en-US" sz="1900" dirty="0"/>
          </a:p>
        </p:txBody>
      </p:sp>
      <p:sp>
        <p:nvSpPr>
          <p:cNvPr id="12" name="Text 8"/>
          <p:cNvSpPr txBox="1"/>
          <p:nvPr/>
        </p:nvSpPr>
        <p:spPr>
          <a:xfrm>
            <a:off x="1554480" y="2971800"/>
            <a:ext cx="4206240" cy="868680"/>
          </a:xfrm>
          <a:prstGeom prst="rect">
            <a:avLst/>
          </a:prstGeom>
          <a:noFill/>
          <a:ln/>
        </p:spPr>
        <p:txBody>
          <a:bodyPr wrap="square" lIns="0" tIns="0" rIns="0" bIns="0" rtlCol="0" anchor="t"/>
          <a:lstStyle/>
          <a:p>
            <a:pPr indent="0" marL="0">
              <a:buNone/>
            </a:pPr>
            <a:r>
              <a:rPr lang="en-US" sz="1450" dirty="0">
                <a:solidFill>
                  <a:srgbClr val="A9B8D0"/>
                </a:solidFill>
                <a:latin typeface="Calibri" pitchFamily="34" charset="0"/>
                <a:ea typeface="Calibri" pitchFamily="34" charset="-122"/>
                <a:cs typeface="Calibri" pitchFamily="34" charset="-120"/>
              </a:rPr>
              <a:t>Finance to confirm the real cost per product.</a:t>
            </a:r>
            <a:endParaRPr lang="en-US" sz="1450" dirty="0"/>
          </a:p>
        </p:txBody>
      </p:sp>
      <p:sp>
        <p:nvSpPr>
          <p:cNvPr id="13" name="Shape 9"/>
          <p:cNvSpPr/>
          <p:nvPr/>
        </p:nvSpPr>
        <p:spPr>
          <a:xfrm>
            <a:off x="6172200" y="2011680"/>
            <a:ext cx="5440680" cy="1920240"/>
          </a:xfrm>
          <a:prstGeom prst="roundRect">
            <a:avLst>
              <a:gd name="adj" fmla="val 4762"/>
            </a:avLst>
          </a:prstGeom>
          <a:solidFill>
            <a:srgbClr val="0A1F3A"/>
          </a:solidFill>
          <a:ln w="12700">
            <a:solidFill>
              <a:srgbClr val="F5B942"/>
            </a:solidFill>
            <a:prstDash val="solid"/>
          </a:ln>
        </p:spPr>
      </p:sp>
      <p:sp>
        <p:nvSpPr>
          <p:cNvPr id="14" name="Text 10"/>
          <p:cNvSpPr txBox="1"/>
          <p:nvPr/>
        </p:nvSpPr>
        <p:spPr>
          <a:xfrm>
            <a:off x="6446520" y="2240280"/>
            <a:ext cx="640080" cy="731520"/>
          </a:xfrm>
          <a:prstGeom prst="rect">
            <a:avLst/>
          </a:prstGeom>
          <a:noFill/>
          <a:ln/>
        </p:spPr>
        <p:txBody>
          <a:bodyPr wrap="square" lIns="0" tIns="0" rIns="0" bIns="0" rtlCol="0" anchor="t"/>
          <a:lstStyle/>
          <a:p>
            <a:pPr indent="0" marL="0">
              <a:buNone/>
            </a:pPr>
            <a:r>
              <a:rPr lang="en-US" sz="3600" b="1" dirty="0">
                <a:solidFill>
                  <a:srgbClr val="F5B942"/>
                </a:solidFill>
                <a:latin typeface="Calibri" pitchFamily="34" charset="0"/>
                <a:ea typeface="Calibri" pitchFamily="34" charset="-122"/>
                <a:cs typeface="Calibri" pitchFamily="34" charset="-120"/>
              </a:rPr>
              <a:t>2</a:t>
            </a:r>
            <a:endParaRPr lang="en-US" sz="3600" dirty="0"/>
          </a:p>
        </p:txBody>
      </p:sp>
      <p:sp>
        <p:nvSpPr>
          <p:cNvPr id="15" name="Text 11"/>
          <p:cNvSpPr txBox="1"/>
          <p:nvPr/>
        </p:nvSpPr>
        <p:spPr>
          <a:xfrm>
            <a:off x="7178040" y="2286000"/>
            <a:ext cx="4206240" cy="64008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Discount reaction is tested only at 28-38%</a:t>
            </a:r>
            <a:endParaRPr lang="en-US" sz="1900" dirty="0"/>
          </a:p>
        </p:txBody>
      </p:sp>
      <p:sp>
        <p:nvSpPr>
          <p:cNvPr id="16" name="Text 12"/>
          <p:cNvSpPr txBox="1"/>
          <p:nvPr/>
        </p:nvSpPr>
        <p:spPr>
          <a:xfrm>
            <a:off x="7178040" y="2971800"/>
            <a:ext cx="4206240" cy="868680"/>
          </a:xfrm>
          <a:prstGeom prst="rect">
            <a:avLst/>
          </a:prstGeom>
          <a:noFill/>
          <a:ln/>
        </p:spPr>
        <p:txBody>
          <a:bodyPr wrap="square" lIns="0" tIns="0" rIns="0" bIns="0" rtlCol="0" anchor="t"/>
          <a:lstStyle/>
          <a:p>
            <a:pPr indent="0" marL="0">
              <a:buNone/>
            </a:pPr>
            <a:r>
              <a:rPr lang="en-US" sz="1450" dirty="0">
                <a:solidFill>
                  <a:srgbClr val="A9B8D0"/>
                </a:solidFill>
                <a:latin typeface="Calibri" pitchFamily="34" charset="0"/>
                <a:ea typeface="Calibri" pitchFamily="34" charset="-122"/>
                <a:cs typeface="Calibri" pitchFamily="34" charset="-120"/>
              </a:rPr>
              <a:t>Run a 90-day pilot with a comparison group.</a:t>
            </a:r>
            <a:endParaRPr lang="en-US" sz="1450" dirty="0"/>
          </a:p>
        </p:txBody>
      </p:sp>
      <p:sp>
        <p:nvSpPr>
          <p:cNvPr id="17" name="Shape 13"/>
          <p:cNvSpPr/>
          <p:nvPr/>
        </p:nvSpPr>
        <p:spPr>
          <a:xfrm>
            <a:off x="548640" y="4114800"/>
            <a:ext cx="5440680" cy="1920240"/>
          </a:xfrm>
          <a:prstGeom prst="roundRect">
            <a:avLst>
              <a:gd name="adj" fmla="val 4762"/>
            </a:avLst>
          </a:prstGeom>
          <a:solidFill>
            <a:srgbClr val="0A1F3A"/>
          </a:solidFill>
          <a:ln w="12700">
            <a:solidFill>
              <a:srgbClr val="F5B942"/>
            </a:solidFill>
            <a:prstDash val="solid"/>
          </a:ln>
        </p:spPr>
      </p:sp>
      <p:sp>
        <p:nvSpPr>
          <p:cNvPr id="18" name="Text 14"/>
          <p:cNvSpPr txBox="1"/>
          <p:nvPr/>
        </p:nvSpPr>
        <p:spPr>
          <a:xfrm>
            <a:off x="822960" y="4343400"/>
            <a:ext cx="640080" cy="731520"/>
          </a:xfrm>
          <a:prstGeom prst="rect">
            <a:avLst/>
          </a:prstGeom>
          <a:noFill/>
          <a:ln/>
        </p:spPr>
        <p:txBody>
          <a:bodyPr wrap="square" lIns="0" tIns="0" rIns="0" bIns="0" rtlCol="0" anchor="t"/>
          <a:lstStyle/>
          <a:p>
            <a:pPr indent="0" marL="0">
              <a:buNone/>
            </a:pPr>
            <a:r>
              <a:rPr lang="en-US" sz="3600" b="1" dirty="0">
                <a:solidFill>
                  <a:srgbClr val="F5B942"/>
                </a:solidFill>
                <a:latin typeface="Calibri" pitchFamily="34" charset="0"/>
                <a:ea typeface="Calibri" pitchFamily="34" charset="-122"/>
                <a:cs typeface="Calibri" pitchFamily="34" charset="-120"/>
              </a:rPr>
              <a:t>3</a:t>
            </a:r>
            <a:endParaRPr lang="en-US" sz="3600" dirty="0"/>
          </a:p>
        </p:txBody>
      </p:sp>
      <p:sp>
        <p:nvSpPr>
          <p:cNvPr id="19" name="Text 15"/>
          <p:cNvSpPr txBox="1"/>
          <p:nvPr/>
        </p:nvSpPr>
        <p:spPr>
          <a:xfrm>
            <a:off x="1554480" y="4389120"/>
            <a:ext cx="4206240" cy="64008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Three data sets do not fully match</a:t>
            </a:r>
            <a:endParaRPr lang="en-US" sz="1900" dirty="0"/>
          </a:p>
        </p:txBody>
      </p:sp>
      <p:sp>
        <p:nvSpPr>
          <p:cNvPr id="20" name="Text 16"/>
          <p:cNvSpPr txBox="1"/>
          <p:nvPr/>
        </p:nvSpPr>
        <p:spPr>
          <a:xfrm>
            <a:off x="1554480" y="5074920"/>
            <a:ext cx="4206240" cy="868680"/>
          </a:xfrm>
          <a:prstGeom prst="rect">
            <a:avLst/>
          </a:prstGeom>
          <a:noFill/>
          <a:ln/>
        </p:spPr>
        <p:txBody>
          <a:bodyPr wrap="square" lIns="0" tIns="0" rIns="0" bIns="0" rtlCol="0" anchor="t"/>
          <a:lstStyle/>
          <a:p>
            <a:pPr indent="0" marL="0">
              <a:buNone/>
            </a:pPr>
            <a:r>
              <a:rPr lang="en-US" sz="1450" dirty="0">
                <a:solidFill>
                  <a:srgbClr val="A9B8D0"/>
                </a:solidFill>
                <a:latin typeface="Calibri" pitchFamily="34" charset="0"/>
                <a:ea typeface="Calibri" pitchFamily="34" charset="-122"/>
                <a:cs typeface="Calibri" pitchFamily="34" charset="-120"/>
              </a:rPr>
              <a:t>Ad platforms vs online sales; factory orders vs units sold; purchases vs product recipes.</a:t>
            </a:r>
            <a:endParaRPr lang="en-US" sz="1450" dirty="0"/>
          </a:p>
        </p:txBody>
      </p:sp>
      <p:sp>
        <p:nvSpPr>
          <p:cNvPr id="21" name="Shape 17"/>
          <p:cNvSpPr/>
          <p:nvPr/>
        </p:nvSpPr>
        <p:spPr>
          <a:xfrm>
            <a:off x="6172200" y="4114800"/>
            <a:ext cx="5440680" cy="1920240"/>
          </a:xfrm>
          <a:prstGeom prst="roundRect">
            <a:avLst>
              <a:gd name="adj" fmla="val 4762"/>
            </a:avLst>
          </a:prstGeom>
          <a:solidFill>
            <a:srgbClr val="0A1F3A"/>
          </a:solidFill>
          <a:ln w="12700">
            <a:solidFill>
              <a:srgbClr val="F5B942"/>
            </a:solidFill>
            <a:prstDash val="solid"/>
          </a:ln>
        </p:spPr>
      </p:sp>
      <p:sp>
        <p:nvSpPr>
          <p:cNvPr id="22" name="Text 18"/>
          <p:cNvSpPr txBox="1"/>
          <p:nvPr/>
        </p:nvSpPr>
        <p:spPr>
          <a:xfrm>
            <a:off x="6446520" y="4343400"/>
            <a:ext cx="640080" cy="731520"/>
          </a:xfrm>
          <a:prstGeom prst="rect">
            <a:avLst/>
          </a:prstGeom>
          <a:noFill/>
          <a:ln/>
        </p:spPr>
        <p:txBody>
          <a:bodyPr wrap="square" lIns="0" tIns="0" rIns="0" bIns="0" rtlCol="0" anchor="t"/>
          <a:lstStyle/>
          <a:p>
            <a:pPr indent="0" marL="0">
              <a:buNone/>
            </a:pPr>
            <a:r>
              <a:rPr lang="en-US" sz="3600" b="1" dirty="0">
                <a:solidFill>
                  <a:srgbClr val="F5B942"/>
                </a:solidFill>
                <a:latin typeface="Calibri" pitchFamily="34" charset="0"/>
                <a:ea typeface="Calibri" pitchFamily="34" charset="-122"/>
                <a:cs typeface="Calibri" pitchFamily="34" charset="-120"/>
              </a:rPr>
              <a:t>4</a:t>
            </a:r>
            <a:endParaRPr lang="en-US" sz="3600" dirty="0"/>
          </a:p>
        </p:txBody>
      </p:sp>
      <p:sp>
        <p:nvSpPr>
          <p:cNvPr id="23" name="Text 19"/>
          <p:cNvSpPr txBox="1"/>
          <p:nvPr/>
        </p:nvSpPr>
        <p:spPr>
          <a:xfrm>
            <a:off x="7178040" y="4389120"/>
            <a:ext cx="4206240" cy="64008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New-customer return rate</a:t>
            </a:r>
            <a:endParaRPr lang="en-US" sz="1900" dirty="0"/>
          </a:p>
        </p:txBody>
      </p:sp>
      <p:sp>
        <p:nvSpPr>
          <p:cNvPr id="24" name="Text 20"/>
          <p:cNvSpPr txBox="1"/>
          <p:nvPr/>
        </p:nvSpPr>
        <p:spPr>
          <a:xfrm>
            <a:off x="7178040" y="5074920"/>
            <a:ext cx="4206240" cy="868680"/>
          </a:xfrm>
          <a:prstGeom prst="rect">
            <a:avLst/>
          </a:prstGeom>
          <a:noFill/>
          <a:ln/>
        </p:spPr>
        <p:txBody>
          <a:bodyPr wrap="square" lIns="0" tIns="0" rIns="0" bIns="0" rtlCol="0" anchor="t"/>
          <a:lstStyle/>
          <a:p>
            <a:pPr indent="0" marL="0">
              <a:buNone/>
            </a:pPr>
            <a:r>
              <a:rPr lang="en-US" sz="1450" dirty="0">
                <a:solidFill>
                  <a:srgbClr val="A9B8D0"/>
                </a:solidFill>
                <a:latin typeface="Calibri" pitchFamily="34" charset="0"/>
                <a:ea typeface="Calibri" pitchFamily="34" charset="-122"/>
                <a:cs typeface="Calibri" pitchFamily="34" charset="-120"/>
              </a:rPr>
              <a:t>Check the drop (91% to 44%) in your customer system.</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SHARNOUBY GROUP - Where the money is</dc:title>
  <dc:subject>PptxGenJS Presentation</dc:subject>
  <dc:creator>PptxGenJS</dc:creator>
  <cp:lastModifiedBy>PptxGenJS</cp:lastModifiedBy>
  <cp:revision>1</cp:revision>
  <dcterms:created xsi:type="dcterms:W3CDTF">2026-10-10T01:36:49Z</dcterms:created>
  <dcterms:modified xsi:type="dcterms:W3CDTF">2026-10-10T01:36:49Z</dcterms:modified>
</cp:coreProperties>
</file>