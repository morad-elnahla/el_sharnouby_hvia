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Calibri"/>
              </a:defRPr>
            </a:pPr>
            <a:r>
              <a:rPr sz="1400" b="0" i="0" u="none" strike="noStrike">
                <a:solidFill>
                  <a:srgbClr val="FFFFFF"/>
                </a:solidFill>
                <a:latin typeface="Calibri"/>
              </a:rPr>
              <a:t>Gross margin by channel (%)</a:t>
            </a:r>
          </a:p>
        </c:rich>
      </c:tx>
      <c:layout/>
      <c:overlay val="0"/>
    </c:title>
    <c:autoTitleDeleted val="0"/>
    <c:plotArea>
      <c:layout/>
      <c:barChart>
        <c:barDir val="col"/>
        <c:grouping val="clustered"/>
        <c:varyColors val="0"/>
        <c:ser>
          <c:idx val="0"/>
          <c:order val="0"/>
          <c:tx>
            <c:strRef>
              <c:f>Sheet1!$B$1</c:f>
              <c:strCache>
                <c:ptCount val="1"/>
                <c:pt idx="0">
                  <c:v>Gross margin</c:v>
                </c:pt>
              </c:strCache>
            </c:strRef>
          </c:tx>
          <c:spPr>
            <a:solidFill>
              <a:srgbClr val="3B82F6"/>
            </a:solidFill>
            <a:effectLst/>
          </c:spPr>
          <c:invertIfNegative val="0"/>
          <c:dLbls>
            <c:numFmt formatCode="0.0&quot;%&quot;" sourceLinked="0"/>
            <c:txPr>
              <a:bodyPr/>
              <a:lstStyle/>
              <a:p>
                <a:pPr>
                  <a:defRPr b="0" i="0" strike="noStrike" sz="1100" u="none">
                    <a:solidFill>
                      <a:srgbClr val="FFFFFF"/>
                    </a:solidFill>
                    <a:latin typeface="Calibri"/>
                  </a:defRPr>
                </a:pPr>
              </a:p>
            </c:txPr>
            <c:showLegendKey val="0"/>
            <c:showVal val="1"/>
            <c:showCatName val="0"/>
            <c:showSerName val="0"/>
            <c:showPercent val="0"/>
            <c:showBubbleSize val="0"/>
            <c:showLeaderLines val="0"/>
          </c:dLbls>
          <c:dPt>
            <c:idx val="0"/>
            <c:invertIfNegative val="0"/>
            <c:bubble3D val="0"/>
            <c:spPr>
              <a:solidFill>
                <a:srgbClr val="3B82F6"/>
              </a:solidFill>
              <a:effectLst/>
            </c:spPr>
          </c:dPt>
          <c:dPt>
            <c:idx val="1"/>
            <c:invertIfNegative val="0"/>
            <c:bubble3D val="0"/>
            <c:spPr>
              <a:solidFill>
                <a:srgbClr val="22D3EE"/>
              </a:solidFill>
              <a:effectLst/>
            </c:spPr>
          </c:dPt>
          <c:dPt>
            <c:idx val="2"/>
            <c:invertIfNegative val="0"/>
            <c:bubble3D val="0"/>
            <c:spPr>
              <a:solidFill>
                <a:srgbClr val="A78BFA"/>
              </a:solidFill>
              <a:effectLst/>
            </c:spPr>
          </c:dPt>
          <c:cat>
            <c:multiLvlStrRef>
              <c:f>Sheet1!$A$2:$A$4</c:f>
              <c:multiLvlStrCache>
                <c:ptCount val="3"/>
                <c:lvl>
                  <c:pt idx="0">
                    <c:v>Wholesale</c:v>
                  </c:pt>
                  <c:pt idx="1">
                    <c:v>Retail</c:v>
                  </c:pt>
                  <c:pt idx="2">
                    <c:v>Online</c:v>
                  </c:pt>
                </c:lvl>
              </c:multiLvlStrCache>
            </c:multiLvlStrRef>
          </c:cat>
          <c:val>
            <c:numRef>
              <c:f>Sheet1!$B$2:$B$4</c:f>
              <c:numCache>
                <c:formatCode>General</c:formatCode>
                <c:ptCount val="3"/>
                <c:pt idx="0">
                  <c:v>11.9</c:v>
                </c:pt>
                <c:pt idx="1">
                  <c:v>37</c:v>
                </c:pt>
                <c:pt idx="2">
                  <c:v>34.9</c:v>
                </c:pt>
              </c:numCache>
            </c:numRef>
          </c:val>
        </c:ser>
        <c:dLbls>
          <c:numFmt formatCode="0.0&quot;%&quot;" sourceLinked="0"/>
          <c:txPr>
            <a:bodyPr/>
            <a:lstStyle/>
            <a:p>
              <a:pPr>
                <a:defRPr b="0" i="0" strike="noStrike" sz="1100" u="none">
                  <a:solidFill>
                    <a:srgbClr val="FFFFFF"/>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A9B8D0"/>
                </a:solidFill>
                <a:latin typeface="Calibri"/>
              </a:defRPr>
            </a:pPr>
            <a:endParaRPr lang="en-US"/>
          </a:p>
        </c:txPr>
        <c:crossAx val="2094734552"/>
        <c:crosses val="autoZero"/>
        <c:auto val="1"/>
        <c:lblAlgn val="ctr"/>
        <c:noMultiLvlLbl val="1"/>
      </c:catAx>
      <c:valAx>
        <c:axId val="2094734552"/>
        <c:scaling>
          <c:orientation val="minMax"/>
          <c:max val="45"/>
        </c:scaling>
        <c:delete val="1"/>
        <c:axPos val="l"/>
        <c:majorGridlines>
          <c:spPr>
            <a:ln w="6350" cap="flat">
              <a:solidFill>
                <a:srgbClr val="12345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A9B8D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Calibri"/>
              </a:defRPr>
            </a:pPr>
            <a:r>
              <a:rPr sz="1400" b="0" i="0" u="none" strike="noStrike">
                <a:solidFill>
                  <a:srgbClr val="FFFFFF"/>
                </a:solidFill>
                <a:latin typeface="Calibri"/>
              </a:rPr>
              <a:t>Wholesale gross margin by discount granted</a:t>
            </a:r>
          </a:p>
        </c:rich>
      </c:tx>
      <c:layout/>
      <c:overlay val="0"/>
    </c:title>
    <c:autoTitleDeleted val="0"/>
    <c:plotArea>
      <c:layout/>
      <c:barChart>
        <c:barDir val="col"/>
        <c:grouping val="clustered"/>
        <c:varyColors val="0"/>
        <c:ser>
          <c:idx val="0"/>
          <c:order val="0"/>
          <c:tx>
            <c:strRef>
              <c:f>Sheet1!$B$1</c:f>
              <c:strCache>
                <c:ptCount val="1"/>
                <c:pt idx="0">
                  <c:v>Gross margin</c:v>
                </c:pt>
              </c:strCache>
            </c:strRef>
          </c:tx>
          <c:spPr>
            <a:solidFill>
              <a:srgbClr val="34D399"/>
            </a:solidFill>
            <a:effectLst/>
          </c:spPr>
          <c:invertIfNegative val="0"/>
          <c:dLbls>
            <c:numFmt formatCode="0.0&quot;%&quot;" sourceLinked="0"/>
            <c:txPr>
              <a:bodyPr/>
              <a:lstStyle/>
              <a:p>
                <a:pPr>
                  <a:defRPr b="0" i="0" strike="noStrike" sz="1100" u="none">
                    <a:solidFill>
                      <a:srgbClr val="FFFFFF"/>
                    </a:solidFill>
                    <a:latin typeface="Calibri"/>
                  </a:defRPr>
                </a:pPr>
              </a:p>
            </c:txPr>
            <c:showLegendKey val="0"/>
            <c:showVal val="1"/>
            <c:showCatName val="0"/>
            <c:showSerName val="0"/>
            <c:showPercent val="0"/>
            <c:showBubbleSize val="0"/>
            <c:showLeaderLines val="0"/>
          </c:dLbls>
          <c:dPt>
            <c:idx val="0"/>
            <c:invertIfNegative val="0"/>
            <c:bubble3D val="0"/>
            <c:spPr>
              <a:solidFill>
                <a:srgbClr val="34D399"/>
              </a:solidFill>
              <a:effectLst/>
            </c:spPr>
          </c:dPt>
          <c:dPt>
            <c:idx val="1"/>
            <c:invertIfNegative val="0"/>
            <c:bubble3D val="0"/>
            <c:spPr>
              <a:solidFill>
                <a:srgbClr val="34D399"/>
              </a:solidFill>
              <a:effectLst/>
            </c:spPr>
          </c:dPt>
          <c:dPt>
            <c:idx val="2"/>
            <c:invertIfNegative val="0"/>
            <c:bubble3D val="0"/>
            <c:spPr>
              <a:solidFill>
                <a:srgbClr val="F5B942"/>
              </a:solidFill>
              <a:effectLst/>
            </c:spPr>
          </c:dPt>
          <c:dPt>
            <c:idx val="3"/>
            <c:invertIfNegative val="0"/>
            <c:bubble3D val="0"/>
            <c:spPr>
              <a:solidFill>
                <a:srgbClr val="F87171"/>
              </a:solidFill>
              <a:effectLst/>
            </c:spPr>
          </c:dPt>
          <c:dPt>
            <c:idx val="4"/>
            <c:invertIfNegative val="0"/>
            <c:bubble3D val="0"/>
            <c:spPr>
              <a:solidFill>
                <a:srgbClr val="F87171"/>
              </a:solidFill>
              <a:effectLst/>
            </c:spPr>
          </c:dPt>
          <c:cat>
            <c:multiLvlStrRef>
              <c:f>Sheet1!$A$2:$A$6</c:f>
              <c:multiLvlStrCache>
                <c:ptCount val="5"/>
                <c:lvl>
                  <c:pt idx="0">
                    <c:v>28%</c:v>
                  </c:pt>
                  <c:pt idx="1">
                    <c:v>30%</c:v>
                  </c:pt>
                  <c:pt idx="2">
                    <c:v>32%</c:v>
                  </c:pt>
                  <c:pt idx="3">
                    <c:v>35%</c:v>
                  </c:pt>
                  <c:pt idx="4">
                    <c:v>38%</c:v>
                  </c:pt>
                </c:lvl>
              </c:multiLvlStrCache>
            </c:multiLvlStrRef>
          </c:cat>
          <c:val>
            <c:numRef>
              <c:f>Sheet1!$B$2:$B$6</c:f>
              <c:numCache>
                <c:formatCode>General</c:formatCode>
                <c:ptCount val="5"/>
                <c:pt idx="0">
                  <c:v>17.6</c:v>
                </c:pt>
                <c:pt idx="1">
                  <c:v>15.2</c:v>
                </c:pt>
                <c:pt idx="2">
                  <c:v>12.6</c:v>
                </c:pt>
                <c:pt idx="3">
                  <c:v>8.6</c:v>
                </c:pt>
                <c:pt idx="4">
                  <c:v>4.2</c:v>
                </c:pt>
              </c:numCache>
            </c:numRef>
          </c:val>
        </c:ser>
        <c:dLbls>
          <c:numFmt formatCode="0.0&quot;%&quot;" sourceLinked="0"/>
          <c:txPr>
            <a:bodyPr/>
            <a:lstStyle/>
            <a:p>
              <a:pPr>
                <a:defRPr b="0" i="0" strike="noStrike" sz="1100" u="none">
                  <a:solidFill>
                    <a:srgbClr val="FFFFFF"/>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A9B8D0"/>
                </a:solidFill>
                <a:latin typeface="Calibri"/>
              </a:defRPr>
            </a:pPr>
            <a:endParaRPr lang="en-US"/>
          </a:p>
        </c:txPr>
        <c:crossAx val="2094734552"/>
        <c:crosses val="autoZero"/>
        <c:auto val="1"/>
        <c:lblAlgn val="ctr"/>
        <c:noMultiLvlLbl val="1"/>
      </c:catAx>
      <c:valAx>
        <c:axId val="2094734552"/>
        <c:scaling>
          <c:orientation val="minMax"/>
          <c:max val="22"/>
        </c:scaling>
        <c:delete val="1"/>
        <c:axPos val="l"/>
        <c:majorGridlines>
          <c:spPr>
            <a:ln w="6350" cap="flat">
              <a:solidFill>
                <a:srgbClr val="12345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A9B8D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Volume lift</c:v>
                </c:pt>
              </c:strCache>
            </c:strRef>
          </c:tx>
          <c:spPr>
            <a:solidFill>
              <a:srgbClr val="A9B8D0"/>
            </a:solidFill>
            <a:effectLst/>
          </c:spPr>
          <c:invertIfNegative val="0"/>
          <c:dLbls>
            <c:numFmt formatCode="&quot;+&quot;0.0&quot;%&quot;" sourceLinked="0"/>
            <c:txPr>
              <a:bodyPr/>
              <a:lstStyle/>
              <a:p>
                <a:pPr>
                  <a:defRPr b="0" i="0" strike="noStrike" sz="1100" u="none">
                    <a:solidFill>
                      <a:srgbClr val="FFFFFF"/>
                    </a:solidFill>
                    <a:latin typeface="Calibri"/>
                  </a:defRPr>
                </a:pPr>
              </a:p>
            </c:txPr>
            <c:showLegendKey val="0"/>
            <c:showVal val="1"/>
            <c:showCatName val="0"/>
            <c:showSerName val="0"/>
            <c:showPercent val="0"/>
            <c:showBubbleSize val="0"/>
            <c:showLeaderLines val="0"/>
          </c:dLbls>
          <c:dPt>
            <c:idx val="0"/>
            <c:invertIfNegative val="0"/>
            <c:bubble3D val="0"/>
            <c:spPr>
              <a:solidFill>
                <a:srgbClr val="A9B8D0"/>
              </a:solidFill>
              <a:effectLst/>
            </c:spPr>
          </c:dPt>
          <c:dPt>
            <c:idx val="1"/>
            <c:invertIfNegative val="0"/>
            <c:bubble3D val="0"/>
            <c:spPr>
              <a:solidFill>
                <a:srgbClr val="A9B8D0"/>
              </a:solidFill>
              <a:effectLst/>
            </c:spPr>
          </c:dPt>
          <c:dPt>
            <c:idx val="2"/>
            <c:invertIfNegative val="0"/>
            <c:bubble3D val="0"/>
            <c:spPr>
              <a:solidFill>
                <a:srgbClr val="F5B942"/>
              </a:solidFill>
              <a:effectLst/>
            </c:spPr>
          </c:dPt>
          <c:cat>
            <c:multiLvlStrRef>
              <c:f>Sheet1!$A$2:$A$4</c:f>
              <c:multiLvlStrCache>
                <c:ptCount val="3"/>
                <c:lvl>
                  <c:pt idx="0">
                    <c:v>2024 (no promo)</c:v>
                  </c:pt>
                  <c:pt idx="1">
                    <c:v>2025 (no promo)</c:v>
                  </c:pt>
                  <c:pt idx="2">
                    <c:v>2026 (promo)</c:v>
                  </c:pt>
                </c:lvl>
              </c:multiLvlStrCache>
            </c:multiLvlStrRef>
          </c:cat>
          <c:val>
            <c:numRef>
              <c:f>Sheet1!$B$2:$B$4</c:f>
              <c:numCache>
                <c:formatCode>General</c:formatCode>
                <c:ptCount val="3"/>
                <c:pt idx="0">
                  <c:v>5.7</c:v>
                </c:pt>
                <c:pt idx="1">
                  <c:v>5.9</c:v>
                </c:pt>
                <c:pt idx="2">
                  <c:v>5.2</c:v>
                </c:pt>
              </c:numCache>
            </c:numRef>
          </c:val>
        </c:ser>
        <c:dLbls>
          <c:numFmt formatCode="&quot;+&quot;0.0&quot;%&quot;" sourceLinked="0"/>
          <c:txPr>
            <a:bodyPr/>
            <a:lstStyle/>
            <a:p>
              <a:pPr>
                <a:defRPr b="0" i="0" strike="noStrike" sz="1100" u="none">
                  <a:solidFill>
                    <a:srgbClr val="FFFFFF"/>
                  </a:solidFill>
                  <a:latin typeface="Calibri"/>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A9B8D0"/>
                </a:solidFill>
                <a:latin typeface="Calibri"/>
              </a:defRPr>
            </a:pPr>
            <a:endParaRPr lang="en-US"/>
          </a:p>
        </c:txPr>
        <c:crossAx val="2094734552"/>
        <c:crosses val="autoZero"/>
        <c:auto val="1"/>
        <c:lblAlgn val="ctr"/>
        <c:noMultiLvlLbl val="1"/>
      </c:catAx>
      <c:valAx>
        <c:axId val="2094734552"/>
        <c:scaling>
          <c:orientation val="minMax"/>
          <c:max val="8"/>
          <c:min val="0"/>
        </c:scaling>
        <c:delete val="1"/>
        <c:axPos val="l"/>
        <c:majorGridlines>
          <c:spPr>
            <a:ln w="6350" cap="flat">
              <a:solidFill>
                <a:srgbClr val="12345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A9B8D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Calibri"/>
              </a:defRPr>
            </a:pPr>
            <a:r>
              <a:rPr sz="1400" b="0" i="0" u="none" strike="noStrike">
                <a:solidFill>
                  <a:srgbClr val="FFFFFF"/>
                </a:solidFill>
                <a:latin typeface="Calibri"/>
              </a:rPr>
              <a:t>Share of retail customers vs share of sales (%)</a:t>
            </a:r>
          </a:p>
        </c:rich>
      </c:tx>
      <c:layout/>
      <c:overlay val="0"/>
    </c:title>
    <c:autoTitleDeleted val="0"/>
    <c:plotArea>
      <c:layout/>
      <c:barChart>
        <c:barDir val="bar"/>
        <c:grouping val="clustered"/>
        <c:varyColors val="0"/>
        <c:ser>
          <c:idx val="0"/>
          <c:order val="0"/>
          <c:tx>
            <c:strRef>
              <c:f>Sheet1!$B$1</c:f>
              <c:strCache>
                <c:ptCount val="1"/>
                <c:pt idx="0">
                  <c:v>Share of customers</c:v>
                </c:pt>
              </c:strCache>
            </c:strRef>
          </c:tx>
          <c:spPr>
            <a:solidFill>
              <a:srgbClr val="A9B8D0"/>
            </a:solidFill>
            <a:effectLst/>
          </c:spPr>
          <c:invertIfNegative val="0"/>
          <c:dLbls>
            <c:numFmt formatCode="0&quot;%&quot;" sourceLinked="0"/>
            <c:txPr>
              <a:bodyPr/>
              <a:lstStyle/>
              <a:p>
                <a:pPr>
                  <a:defRPr b="0" i="0" strike="noStrike" sz="1100" u="none">
                    <a:solidFill>
                      <a:srgbClr val="FFFFFF"/>
                    </a:solidFill>
                    <a:latin typeface="Calibri"/>
                  </a:defRPr>
                </a:pPr>
              </a:p>
            </c:txPr>
            <c:showLegendKey val="0"/>
            <c:showVal val="1"/>
            <c:showCatName val="0"/>
            <c:showSerName val="0"/>
            <c:showPercent val="0"/>
            <c:showBubbleSize val="0"/>
            <c:showLeaderLines val="0"/>
          </c:dLbls>
          <c:cat>
            <c:multiLvlStrRef>
              <c:f>Sheet1!$A$2:$A$7</c:f>
              <c:multiLvlStrCache>
                <c:ptCount val="6"/>
                <c:lvl>
                  <c:pt idx="0">
                    <c:v>Hibernating</c:v>
                  </c:pt>
                  <c:pt idx="1">
                    <c:v>At Risk</c:v>
                  </c:pt>
                  <c:pt idx="2">
                    <c:v>Potential Loyalists</c:v>
                  </c:pt>
                  <c:pt idx="3">
                    <c:v>Loyal</c:v>
                  </c:pt>
                  <c:pt idx="4">
                    <c:v>Champions</c:v>
                  </c:pt>
                  <c:pt idx="5">
                    <c:v>At Risk (high frequency)</c:v>
                  </c:pt>
                </c:lvl>
              </c:multiLvlStrCache>
            </c:multiLvlStrRef>
          </c:cat>
          <c:val>
            <c:numRef>
              <c:f>Sheet1!$B$2:$B$7</c:f>
              <c:numCache>
                <c:formatCode>General</c:formatCode>
                <c:ptCount val="6"/>
                <c:pt idx="0">
                  <c:v>16.6</c:v>
                </c:pt>
                <c:pt idx="1">
                  <c:v>8</c:v>
                </c:pt>
                <c:pt idx="2">
                  <c:v>12</c:v>
                </c:pt>
                <c:pt idx="3">
                  <c:v>7.9</c:v>
                </c:pt>
                <c:pt idx="4">
                  <c:v>16.5</c:v>
                </c:pt>
                <c:pt idx="5">
                  <c:v>15.6</c:v>
                </c:pt>
              </c:numCache>
            </c:numRef>
          </c:val>
        </c:ser>
        <c:ser>
          <c:idx val="1"/>
          <c:order val="1"/>
          <c:tx>
            <c:strRef>
              <c:f>Sheet1!$C$1</c:f>
              <c:strCache>
                <c:ptCount val="1"/>
                <c:pt idx="0">
                  <c:v>Share of sales</c:v>
                </c:pt>
              </c:strCache>
            </c:strRef>
          </c:tx>
          <c:spPr>
            <a:solidFill>
              <a:srgbClr val="22D3EE"/>
            </a:solidFill>
            <a:effectLst/>
          </c:spPr>
          <c:invertIfNegative val="0"/>
          <c:dLbls>
            <c:numFmt formatCode="0&quot;%&quot;" sourceLinked="0"/>
            <c:txPr>
              <a:bodyPr/>
              <a:lstStyle/>
              <a:p>
                <a:pPr>
                  <a:defRPr b="0" i="0" strike="noStrike" sz="1100" u="none">
                    <a:solidFill>
                      <a:srgbClr val="FFFFFF"/>
                    </a:solidFill>
                    <a:latin typeface="Calibri"/>
                  </a:defRPr>
                </a:pPr>
              </a:p>
            </c:txPr>
            <c:showLegendKey val="0"/>
            <c:showVal val="1"/>
            <c:showCatName val="0"/>
            <c:showSerName val="0"/>
            <c:showPercent val="0"/>
            <c:showBubbleSize val="0"/>
            <c:showLeaderLines val="0"/>
          </c:dLbls>
          <c:cat>
            <c:multiLvlStrRef>
              <c:f>Sheet1!$A$2:$A$7</c:f>
              <c:multiLvlStrCache>
                <c:ptCount val="6"/>
                <c:lvl>
                  <c:pt idx="0">
                    <c:v>Hibernating</c:v>
                  </c:pt>
                  <c:pt idx="1">
                    <c:v>At Risk</c:v>
                  </c:pt>
                  <c:pt idx="2">
                    <c:v>Potential Loyalists</c:v>
                  </c:pt>
                  <c:pt idx="3">
                    <c:v>Loyal</c:v>
                  </c:pt>
                  <c:pt idx="4">
                    <c:v>Champions</c:v>
                  </c:pt>
                  <c:pt idx="5">
                    <c:v>At Risk (high frequency)</c:v>
                  </c:pt>
                </c:lvl>
              </c:multiLvlStrCache>
            </c:multiLvlStrRef>
          </c:cat>
          <c:val>
            <c:numRef>
              <c:f>Sheet1!$C$2:$C$7</c:f>
              <c:numCache>
                <c:formatCode>General</c:formatCode>
                <c:ptCount val="6"/>
                <c:pt idx="0">
                  <c:v>4.3</c:v>
                </c:pt>
                <c:pt idx="1">
                  <c:v>4.9</c:v>
                </c:pt>
                <c:pt idx="2">
                  <c:v>7.3</c:v>
                </c:pt>
                <c:pt idx="3">
                  <c:v>14.9</c:v>
                </c:pt>
                <c:pt idx="4">
                  <c:v>30.7</c:v>
                </c:pt>
                <c:pt idx="5">
                  <c:v>31.8</c:v>
                </c:pt>
              </c:numCache>
            </c:numRef>
          </c:val>
        </c:ser>
        <c:dLbls>
          <c:numFmt formatCode="0&quot;%&quot;" sourceLinked="0"/>
          <c:txPr>
            <a:bodyPr/>
            <a:lstStyle/>
            <a:p>
              <a:pPr>
                <a:defRPr b="0" i="0" strike="noStrike" sz="1100" u="none">
                  <a:solidFill>
                    <a:srgbClr val="FFFFFF"/>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A9B8D0"/>
                </a:solidFill>
                <a:latin typeface="Calibri"/>
              </a:defRPr>
            </a:pPr>
            <a:endParaRPr lang="en-US"/>
          </a:p>
        </c:txPr>
        <c:crossAx val="2094734552"/>
        <c:crosses val="autoZero"/>
        <c:auto val="1"/>
        <c:lblAlgn val="ctr"/>
        <c:noMultiLvlLbl val="1"/>
      </c:catAx>
      <c:valAx>
        <c:axId val="2094734552"/>
        <c:scaling>
          <c:orientation val="minMax"/>
          <c:max val="40"/>
        </c:scaling>
        <c:delete val="1"/>
        <c:axPos val="b"/>
        <c:majorGridlines>
          <c:spPr>
            <a:ln w="6350" cap="flat">
              <a:solidFill>
                <a:srgbClr val="12345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A9B8D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A9B8D0"/>
              </a:solidFil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FFFFFF"/>
                </a:solidFill>
                <a:latin typeface="Calibri"/>
              </a:defRPr>
            </a:pPr>
            <a:r>
              <a:rPr sz="1300" b="0" i="0" u="none" strike="noStrike">
                <a:solidFill>
                  <a:srgbClr val="FFFFFF"/>
                </a:solidFill>
                <a:latin typeface="Calibri"/>
              </a:rPr>
              <a:t>Platform-reported ROAS (break-even on gross profit: 2.8x)</a:t>
            </a:r>
          </a:p>
        </c:rich>
      </c:tx>
      <c:layout/>
      <c:overlay val="0"/>
    </c:title>
    <c:autoTitleDeleted val="0"/>
    <c:plotArea>
      <c:layout/>
      <c:barChart>
        <c:barDir val="bar"/>
        <c:grouping val="clustered"/>
        <c:varyColors val="0"/>
        <c:ser>
          <c:idx val="0"/>
          <c:order val="0"/>
          <c:tx>
            <c:strRef>
              <c:f>Sheet1!$B$1</c:f>
              <c:strCache>
                <c:ptCount val="1"/>
                <c:pt idx="0">
                  <c:v>Reported ROAS</c:v>
                </c:pt>
              </c:strCache>
            </c:strRef>
          </c:tx>
          <c:spPr>
            <a:solidFill>
              <a:srgbClr val="F87171"/>
            </a:solidFill>
            <a:effectLst/>
          </c:spPr>
          <c:invertIfNegative val="0"/>
          <c:dLbls>
            <c:numFmt formatCode="0.0&quot;x&quot;" sourceLinked="0"/>
            <c:txPr>
              <a:bodyPr/>
              <a:lstStyle/>
              <a:p>
                <a:pPr>
                  <a:defRPr b="0" i="0" strike="noStrike" sz="1100" u="none">
                    <a:solidFill>
                      <a:srgbClr val="FFFFFF"/>
                    </a:solidFill>
                    <a:latin typeface="Calibri"/>
                  </a:defRPr>
                </a:pPr>
              </a:p>
            </c:txPr>
            <c:showLegendKey val="0"/>
            <c:showVal val="1"/>
            <c:showCatName val="0"/>
            <c:showSerName val="0"/>
            <c:showPercent val="0"/>
            <c:showBubbleSize val="0"/>
            <c:showLeaderLines val="0"/>
          </c:dLbls>
          <c:dPt>
            <c:idx val="0"/>
            <c:invertIfNegative val="0"/>
            <c:bubble3D val="0"/>
            <c:spPr>
              <a:solidFill>
                <a:srgbClr val="F87171"/>
              </a:solidFill>
              <a:effectLst/>
            </c:spPr>
          </c:dPt>
          <c:dPt>
            <c:idx val="1"/>
            <c:invertIfNegative val="0"/>
            <c:bubble3D val="0"/>
            <c:spPr>
              <a:solidFill>
                <a:srgbClr val="F5B942"/>
              </a:solidFill>
              <a:effectLst/>
            </c:spPr>
          </c:dPt>
          <c:dPt>
            <c:idx val="2"/>
            <c:invertIfNegative val="0"/>
            <c:bubble3D val="0"/>
            <c:spPr>
              <a:solidFill>
                <a:srgbClr val="F5B942"/>
              </a:solidFill>
              <a:effectLst/>
            </c:spPr>
          </c:dPt>
          <c:dPt>
            <c:idx val="3"/>
            <c:invertIfNegative val="0"/>
            <c:bubble3D val="0"/>
            <c:spPr>
              <a:solidFill>
                <a:srgbClr val="22D3EE"/>
              </a:solidFill>
              <a:effectLst/>
            </c:spPr>
          </c:dPt>
          <c:dPt>
            <c:idx val="4"/>
            <c:invertIfNegative val="0"/>
            <c:bubble3D val="0"/>
            <c:spPr>
              <a:solidFill>
                <a:srgbClr val="22D3EE"/>
              </a:solidFill>
              <a:effectLst/>
            </c:spPr>
          </c:dPt>
          <c:cat>
            <c:multiLvlStrRef>
              <c:f>Sheet1!$A$2:$A$6</c:f>
              <c:multiLvlStrCache>
                <c:ptCount val="5"/>
                <c:lvl>
                  <c:pt idx="0">
                    <c:v>Influencer</c:v>
                  </c:pt>
                  <c:pt idx="1">
                    <c:v>Meta</c:v>
                  </c:pt>
                  <c:pt idx="2">
                    <c:v>TikTok</c:v>
                  </c:pt>
                  <c:pt idx="3">
                    <c:v>Google</c:v>
                  </c:pt>
                  <c:pt idx="4">
                    <c:v>WhatsApp / CRM</c:v>
                  </c:pt>
                </c:lvl>
              </c:multiLvlStrCache>
            </c:multiLvlStrRef>
          </c:cat>
          <c:val>
            <c:numRef>
              <c:f>Sheet1!$B$2:$B$6</c:f>
              <c:numCache>
                <c:formatCode>General</c:formatCode>
                <c:ptCount val="5"/>
                <c:pt idx="0">
                  <c:v>1.1</c:v>
                </c:pt>
                <c:pt idx="1">
                  <c:v>4.4</c:v>
                </c:pt>
                <c:pt idx="2">
                  <c:v>4.9</c:v>
                </c:pt>
                <c:pt idx="3">
                  <c:v>10.3</c:v>
                </c:pt>
                <c:pt idx="4">
                  <c:v>67</c:v>
                </c:pt>
              </c:numCache>
            </c:numRef>
          </c:val>
        </c:ser>
        <c:dLbls>
          <c:numFmt formatCode="0.0&quot;x&quot;" sourceLinked="0"/>
          <c:txPr>
            <a:bodyPr/>
            <a:lstStyle/>
            <a:p>
              <a:pPr>
                <a:defRPr b="0" i="0" strike="noStrike" sz="1100" u="none">
                  <a:solidFill>
                    <a:srgbClr val="FFFFFF"/>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A9B8D0"/>
                </a:solidFill>
                <a:latin typeface="Calibri"/>
              </a:defRPr>
            </a:pPr>
            <a:endParaRPr lang="en-US"/>
          </a:p>
        </c:txPr>
        <c:crossAx val="2094734552"/>
        <c:crosses val="autoZero"/>
        <c:auto val="1"/>
        <c:lblAlgn val="ctr"/>
        <c:noMultiLvlLbl val="1"/>
      </c:catAx>
      <c:valAx>
        <c:axId val="2094734552"/>
        <c:scaling>
          <c:orientation val="minMax"/>
          <c:max val="80"/>
        </c:scaling>
        <c:delete val="1"/>
        <c:axPos val="b"/>
        <c:majorGridlines>
          <c:spPr>
            <a:ln w="6350" cap="flat">
              <a:solidFill>
                <a:srgbClr val="12345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A9B8D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Base case</c:v>
                </c:pt>
              </c:strCache>
            </c:strRef>
          </c:tx>
          <c:spPr>
            <a:solidFill>
              <a:srgbClr val="A9B8D0"/>
            </a:solidFill>
            <a:effectLst/>
          </c:spPr>
          <c:invertIfNegative val="0"/>
          <c:dLbls>
            <c:numFmt formatCode="&quot;EGP &quot;0.00&quot;M&quot;" sourceLinked="0"/>
            <c:txPr>
              <a:bodyPr/>
              <a:lstStyle/>
              <a:p>
                <a:pPr>
                  <a:defRPr b="0" i="0" strike="noStrike" sz="1100" u="none">
                    <a:solidFill>
                      <a:srgbClr val="FFFFFF"/>
                    </a:solidFill>
                    <a:latin typeface="Calibri"/>
                  </a:defRPr>
                </a:pPr>
              </a:p>
            </c:txPr>
            <c:showLegendKey val="0"/>
            <c:showVal val="1"/>
            <c:showCatName val="0"/>
            <c:showSerName val="0"/>
            <c:showPercent val="0"/>
            <c:showBubbleSize val="0"/>
            <c:showLeaderLines val="0"/>
          </c:dLbls>
          <c:dPt>
            <c:idx val="0"/>
            <c:invertIfNegative val="0"/>
            <c:bubble3D val="0"/>
            <c:spPr>
              <a:solidFill>
                <a:srgbClr val="A9B8D0"/>
              </a:solidFill>
              <a:effectLst/>
            </c:spPr>
          </c:dPt>
          <c:dPt>
            <c:idx val="1"/>
            <c:invertIfNegative val="0"/>
            <c:bubble3D val="0"/>
            <c:spPr>
              <a:solidFill>
                <a:srgbClr val="A9B8D0"/>
              </a:solidFill>
              <a:effectLst/>
            </c:spPr>
          </c:dPt>
          <c:dPt>
            <c:idx val="2"/>
            <c:invertIfNegative val="0"/>
            <c:bubble3D val="0"/>
            <c:spPr>
              <a:solidFill>
                <a:srgbClr val="A9B8D0"/>
              </a:solidFill>
              <a:effectLst/>
            </c:spPr>
          </c:dPt>
          <c:dPt>
            <c:idx val="3"/>
            <c:invertIfNegative val="0"/>
            <c:bubble3D val="0"/>
            <c:spPr>
              <a:solidFill>
                <a:srgbClr val="A9B8D0"/>
              </a:solidFill>
              <a:effectLst/>
            </c:spPr>
          </c:dPt>
          <c:dPt>
            <c:idx val="4"/>
            <c:invertIfNegative val="0"/>
            <c:bubble3D val="0"/>
            <c:spPr>
              <a:solidFill>
                <a:srgbClr val="22D3EE"/>
              </a:solidFill>
              <a:effectLst/>
            </c:spPr>
          </c:dPt>
          <c:dPt>
            <c:idx val="5"/>
            <c:invertIfNegative val="0"/>
            <c:bubble3D val="0"/>
            <c:spPr>
              <a:solidFill>
                <a:srgbClr val="34D399"/>
              </a:solidFill>
              <a:effectLst/>
            </c:spPr>
          </c:dPt>
          <c:dPt>
            <c:idx val="6"/>
            <c:invertIfNegative val="0"/>
            <c:bubble3D val="0"/>
            <c:spPr>
              <a:solidFill>
                <a:srgbClr val="34D399"/>
              </a:solidFill>
              <a:effectLst/>
            </c:spPr>
          </c:dPt>
          <c:cat>
            <c:multiLvlStrRef>
              <c:f>Sheet1!$A$2:$A$8</c:f>
              <c:multiLvlStrCache>
                <c:ptCount val="7"/>
                <c:lvl>
                  <c:pt idx="0">
                    <c:v>Online size/fit return reduction</c:v>
                  </c:pt>
                  <c:pt idx="1">
                    <c:v>Marketing reallocation</c:v>
                  </c:pt>
                  <c:pt idx="2">
                    <c:v>Wholesale stockout recovery</c:v>
                  </c:pt>
                  <c:pt idx="3">
                    <c:v>Win-back of at-risk customers</c:v>
                  </c:pt>
                  <c:pt idx="4">
                    <c:v>Cost of poor quality reduction</c:v>
                  </c:pt>
                  <c:pt idx="5">
                    <c:v>Wholesale discount governance: Phase 2 margin floor</c:v>
                  </c:pt>
                  <c:pt idx="6">
                    <c:v>Wholesale discount governance: Phase 1 tiered cap</c:v>
                  </c:pt>
                </c:lvl>
              </c:multiLvlStrCache>
            </c:multiLvlStrRef>
          </c:cat>
          <c:val>
            <c:numRef>
              <c:f>Sheet1!$B$2:$B$8</c:f>
              <c:numCache>
                <c:formatCode>General</c:formatCode>
                <c:ptCount val="7"/>
                <c:pt idx="0">
                  <c:v>0.02</c:v>
                </c:pt>
                <c:pt idx="1">
                  <c:v>0.09</c:v>
                </c:pt>
                <c:pt idx="2">
                  <c:v>0.18</c:v>
                </c:pt>
                <c:pt idx="3">
                  <c:v>0.24</c:v>
                </c:pt>
                <c:pt idx="4">
                  <c:v>1.09</c:v>
                </c:pt>
                <c:pt idx="5">
                  <c:v>3.29</c:v>
                </c:pt>
                <c:pt idx="6">
                  <c:v>3.87</c:v>
                </c:pt>
              </c:numCache>
            </c:numRef>
          </c:val>
        </c:ser>
        <c:dLbls>
          <c:numFmt formatCode="&quot;EGP &quot;0.00&quot;M&quot;" sourceLinked="0"/>
          <c:txPr>
            <a:bodyPr/>
            <a:lstStyle/>
            <a:p>
              <a:pPr>
                <a:defRPr b="0" i="0" strike="noStrike" sz="1100" u="none">
                  <a:solidFill>
                    <a:srgbClr val="FFFFFF"/>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A9B8D0"/>
                </a:solidFill>
                <a:latin typeface="Calibri"/>
              </a:defRPr>
            </a:pPr>
            <a:endParaRPr lang="en-US"/>
          </a:p>
        </c:txPr>
        <c:crossAx val="2094734552"/>
        <c:crosses val="autoZero"/>
        <c:auto val="1"/>
        <c:lblAlgn val="ctr"/>
        <c:noMultiLvlLbl val="1"/>
      </c:catAx>
      <c:valAx>
        <c:axId val="2094734552"/>
        <c:scaling>
          <c:orientation val="minMax"/>
          <c:max val="5"/>
        </c:scaling>
        <c:delete val="1"/>
        <c:axPos val="b"/>
        <c:majorGridlines>
          <c:spPr>
            <a:ln w="6350" cap="flat">
              <a:solidFill>
                <a:srgbClr val="12345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A9B8D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Over the next few minutes I will show where EL SHARNOUBY stands, where value is being lost, and where management can act first. Everything you will see comes from your own sales, inventory, factory, supplier, quality and marketing data for three fiscal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headline: EGP 421 million of sales and EGP 65 million of gross profit over three years, a 15.4 percent margin. Growth slowed from almost 11 percent to 3 percent, and margin did not improve. The reason is wholesale pricing. We sized the recoverable profit at about EGP 8.8 million a year in the base case, roughly 38 percent of last year's gross profit of about EGP 23 million. The ranges and assumptions come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picture on one page. For each area: what is happening, and why it matters. Sales and profit: growth without margin. Customers: a valuable group is going quiet. Operations: stock is in the wrong channel and delays come from sewing and finishing. Supply and quality: two suppliers failed in 2025 and quality is costing nearly a third of gross profit. Marketing: the ranking of platforms is clear but the absolute return numbers are overstated.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Wholesale brings the volume: EGP 359 million of sales, but only an 11.9 percent margin. Retail earns 37 percent and online 35 percent. Our unit cost is the same in every channel, so the gap is price, not cost. Put differently, a unit sold at retail earns EGP 126 of gross profit and a wholesale unit earns EGP 29. Note online grew 60 percent in two years while retail shrank 5 percent. This leads directly to the next question: why is wholesale margin so thin?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Wholesale discounts range from 28 to 38 percent. At 28 percent we still earn 17.6 percent margin; at 38 percent we earn 4 percent. And 4,876 invoices, about one in ten wholesale invoices, were sold below cost, a loss of EGP 1.4 million. The key point: discount level has no relationship with order size. A 60-unit order is as likely to get 28 percent as a 12-unit order is to get 38. Deeper discounts also did not bring bigger orders or faster re-orders. The same lesson appears in the June-July 2026 promotion: discount rose from 7.3 to 9.7 percent, but volume lift was 5.2 percent, the same as in 2024 and 2025 without any extra discount. So gross profit per day fell 2.7 percent instead of rising. The business message: no policy governs discounts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already own a valuable asset. Retail customers who used to buy often but have been silent for a median of 229 days are 16 percent of the base and 32 percent of sales, and 65 percent of them have opted in to WhatsApp or SMS. Separately, 6,625 retail customers have lapsed for over six months, with EGP 22 million of historical sales. A concerning signal: customers acquired recently re-buy much less in the next quarter than early ones, down from 91 to about 44 percent. At the WhatsApp and CRM cost per acquired order of about EGP 7, a win-back programme is cheap. The base-case value is modest, EGP 0.24 million a year, because it only counts reactivation of the at-risk pool, but it protects the most valuable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operational leaks, each shown as problem, impact, action. Inventory: wholesale holds about 11 days of cover and 36 of 59 products are below reorder point, while retail and online hold roughly four months and have EGP 7.5 million of excess stock, half of all stock value. Our forecast model is accurate enough to plan with: error about 23 percent per product and location versus 54 percent for a simple rule. Production: delays come from sewing and finishing, 68 percent of delay days, and LINE-04 is late 20 percent versus 15 percent elsewhere. Importantly, we found no statistical link between supplier lateness and production delay, so factory fixes are internal. Suppliers: SUP04 and SUP09 collapsed in 2025 and carry 16 percent of purchase spend. Quality: EGP 20.3 million estimated cost of poor quality, 31 percent of gross profit, spread evenly across defect types, with 12 percent unclassified.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ranking of platforms is clear: CRM and Google are efficient, Meta and TikTok are middling, influencer barely returns its cost. But platform-reported revenue is 5.5 times our actual online sales, so please do not read these ROAS numbers as true profit. On a gross-profit basis a campaign needs about 2.8 times ROAS to break even, and influencer fails under any reading. Our recommendation: cut half of influencer spend, pause the seven campaigns below 2 times, give Google 30 percent more budget and run holdout tests on Meta and TikTok. The value is small and uncertain, from minus 0.02 to plus 1.0 million a year, so treat it as an efficiency lever. Two other findings: online returns are twice retail, mostly size and fit, and web conversion drops from 2.9 to 2.0 percent when pages load slower than 3.5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to act first. Annual gross profit at stake in the base case is EGP 8.8 million. Two items stand out: the volume-tiered discount cap, EGP 3.9 million, and margin-floor exceptions, EGP 3.3 million, together 82 percent of the total. Next is the quality loss reduction at EGP 1.1 million. Everything else is under EGP 0.3 million. The ranges reflect assumptions: for pricing, we assume customers might cut volume by up to 20 percent on re-priced lines; observed behavior shows no response. Phase 1 stays profitable even if re-priced customers cut volume by 48 percent. Before implementation, please validate the items on the right, especially cost of goods.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solution is a Wholesale Deal Desk. For every quote it checks quantity and customer context, recommends a maximum discount, checks the margin, routes exceptions for approval, and returns a profitable quote. Phase 1 caps discounts by volume: 28 percent for 12 to 23 units, 30 for 24 to 47 and 32 for 48 and above. Phase 2 adds a 15 percent margin floor with manager approval above 8 percent and director approval below, and nothing below cost. A working prototype exists, and in simulation on three years of invoices it adds EGP 2.9 to 4.9 million a year. The same approach, data to insight to recommendation to action, supports win-back, replenishment, supplier early warning, production monitoring, marketing allocation and quality patterns. AI here is decision support, not magic. Our plan: now, pilot the deal desk; next, win back customers and align stock; then operationalise forecasting, supplier risk and quality monitoring. HVIA did not only analyse your data: it identified where value is lost, where profitable growth is available, and how to operationalise those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2.xml"/><Relationship Id="rId3" Type="http://schemas.openxmlformats.org/officeDocument/2006/relationships/chart" Target="/ppt/charts/chart3.xml"/><Relationship Id="rId1" Type="http://schemas.openxmlformats.org/officeDocument/2006/relationships/image" Target="../media/image-5-1.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6.xml"/><Relationship Id="rId1"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7863840" y="-1097280"/>
            <a:ext cx="6400800" cy="6400800"/>
          </a:xfrm>
          <a:prstGeom prst="ellipse">
            <a:avLst/>
          </a:prstGeom>
          <a:solidFill>
            <a:srgbClr val="22D3EE">
              <a:alpha val="7000"/>
            </a:srgbClr>
          </a:solidFill>
          <a:ln w="12700">
            <a:solidFill>
              <a:srgbClr val="22D3EE">
                <a:alpha val="30000"/>
              </a:srgbClr>
            </a:solidFill>
            <a:prstDash val="solid"/>
          </a:ln>
        </p:spPr>
      </p:sp>
      <p:sp>
        <p:nvSpPr>
          <p:cNvPr id="3" name="Shape 1"/>
          <p:cNvSpPr/>
          <p:nvPr/>
        </p:nvSpPr>
        <p:spPr>
          <a:xfrm>
            <a:off x="8961120" y="0"/>
            <a:ext cx="4206240" cy="4206240"/>
          </a:xfrm>
          <a:prstGeom prst="ellipse">
            <a:avLst/>
          </a:prstGeom>
          <a:solidFill>
            <a:srgbClr val="3B82F6">
              <a:alpha val="10000"/>
            </a:srgbClr>
          </a:solidFill>
          <a:ln w="12700">
            <a:solidFill>
              <a:srgbClr val="3B82F6">
                <a:alpha val="40000"/>
              </a:srgbClr>
            </a:solidFill>
            <a:prstDash val="solid"/>
          </a:ln>
        </p:spPr>
      </p:sp>
      <p:pic>
        <p:nvPicPr>
          <p:cNvPr id="4" name="Image 0" descr="logo.png">    </p:cNvPr>
          <p:cNvPicPr>
            <a:picLocks noChangeAspect="1"/>
          </p:cNvPicPr>
          <p:nvPr/>
        </p:nvPicPr>
        <p:blipFill>
          <a:blip r:embed="rId1"/>
          <a:stretch>
            <a:fillRect/>
          </a:stretch>
        </p:blipFill>
        <p:spPr>
          <a:xfrm>
            <a:off x="731520" y="640080"/>
            <a:ext cx="2377440" cy="996696"/>
          </a:xfrm>
          <a:prstGeom prst="rect">
            <a:avLst/>
          </a:prstGeom>
        </p:spPr>
      </p:pic>
      <p:sp>
        <p:nvSpPr>
          <p:cNvPr id="5" name="Text 2"/>
          <p:cNvSpPr txBox="1"/>
          <p:nvPr/>
        </p:nvSpPr>
        <p:spPr>
          <a:xfrm>
            <a:off x="731520" y="2468880"/>
            <a:ext cx="10058400" cy="82296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EL SHARNOUBY GROUP</a:t>
            </a:r>
            <a:endParaRPr lang="en-US" sz="4800" dirty="0"/>
          </a:p>
        </p:txBody>
      </p:sp>
      <p:sp>
        <p:nvSpPr>
          <p:cNvPr id="6" name="Text 3"/>
          <p:cNvSpPr txBox="1"/>
          <p:nvPr/>
        </p:nvSpPr>
        <p:spPr>
          <a:xfrm>
            <a:off x="731520" y="3383280"/>
            <a:ext cx="10058400" cy="457200"/>
          </a:xfrm>
          <a:prstGeom prst="rect">
            <a:avLst/>
          </a:prstGeom>
          <a:noFill/>
          <a:ln/>
        </p:spPr>
        <p:txBody>
          <a:bodyPr wrap="square" lIns="0" tIns="0" rIns="0" bIns="0" rtlCol="0" anchor="t"/>
          <a:lstStyle/>
          <a:p>
            <a:pPr indent="0" marL="0">
              <a:buNone/>
            </a:pPr>
            <a:r>
              <a:rPr lang="en-US" sz="2200" dirty="0">
                <a:solidFill>
                  <a:srgbClr val="22D3EE"/>
                </a:solidFill>
                <a:latin typeface="Calibri" pitchFamily="34" charset="0"/>
                <a:ea typeface="Calibri" pitchFamily="34" charset="-122"/>
                <a:cs typeface="Calibri" pitchFamily="34" charset="-120"/>
              </a:rPr>
              <a:t>Executive Business Intelligence &amp; AI Opportunity Assessment</a:t>
            </a:r>
            <a:endParaRPr lang="en-US" sz="2200" dirty="0"/>
          </a:p>
        </p:txBody>
      </p:sp>
      <p:sp>
        <p:nvSpPr>
          <p:cNvPr id="7" name="Shape 4"/>
          <p:cNvSpPr/>
          <p:nvPr/>
        </p:nvSpPr>
        <p:spPr>
          <a:xfrm>
            <a:off x="731520" y="4114800"/>
            <a:ext cx="1097280" cy="45720"/>
          </a:xfrm>
          <a:prstGeom prst="rect">
            <a:avLst/>
          </a:prstGeom>
          <a:solidFill>
            <a:srgbClr val="22D3EE"/>
          </a:solidFill>
          <a:ln/>
        </p:spPr>
      </p:sp>
      <p:sp>
        <p:nvSpPr>
          <p:cNvPr id="8" name="Text 5"/>
          <p:cNvSpPr txBox="1"/>
          <p:nvPr/>
        </p:nvSpPr>
        <p:spPr>
          <a:xfrm>
            <a:off x="731520" y="4343400"/>
            <a:ext cx="7315200" cy="365760"/>
          </a:xfrm>
          <a:prstGeom prst="rect">
            <a:avLst/>
          </a:prstGeom>
          <a:noFill/>
          <a:ln/>
        </p:spPr>
        <p:txBody>
          <a:bodyPr wrap="square" lIns="0" tIns="0" rIns="0" bIns="0" rtlCol="0" anchor="t"/>
          <a:lstStyle/>
          <a:p>
            <a:pPr indent="0" marL="0">
              <a:buNone/>
            </a:pPr>
            <a:r>
              <a:rPr lang="en-US" sz="1800" dirty="0">
                <a:solidFill>
                  <a:srgbClr val="A9B8D0"/>
                </a:solidFill>
                <a:latin typeface="Calibri" pitchFamily="34" charset="0"/>
                <a:ea typeface="Calibri" pitchFamily="34" charset="-122"/>
                <a:cs typeface="Calibri" pitchFamily="34" charset="-120"/>
              </a:rPr>
              <a:t>From Data to Decisions</a:t>
            </a:r>
            <a:endParaRPr lang="en-US" sz="1800" dirty="0"/>
          </a:p>
        </p:txBody>
      </p:sp>
      <p:sp>
        <p:nvSpPr>
          <p:cNvPr id="9" name="Text 6"/>
          <p:cNvSpPr txBox="1"/>
          <p:nvPr/>
        </p:nvSpPr>
        <p:spPr>
          <a:xfrm>
            <a:off x="731520" y="6217920"/>
            <a:ext cx="10515600" cy="274320"/>
          </a:xfrm>
          <a:prstGeom prst="rect">
            <a:avLst/>
          </a:prstGeom>
          <a:noFill/>
          <a:ln/>
        </p:spPr>
        <p:txBody>
          <a:bodyPr wrap="square" lIns="0" tIns="0" rIns="0" bIns="0" rtlCol="0" anchor="t"/>
          <a:lstStyle/>
          <a:p>
            <a:pPr indent="0" marL="0">
              <a:buNone/>
            </a:pPr>
            <a:r>
              <a:rPr lang="en-US" sz="1100" dirty="0">
                <a:solidFill>
                  <a:srgbClr val="A9B8D0"/>
                </a:solidFill>
                <a:latin typeface="Calibri" pitchFamily="34" charset="0"/>
                <a:ea typeface="Calibri" pitchFamily="34" charset="-122"/>
                <a:cs typeface="Calibri" pitchFamily="34" charset="-120"/>
              </a:rPr>
              <a:t>Prepared by HVIA Data &amp; AI Solutions  |  Data window: Oct 2023 - Sep 2026 (three fiscal years, Oct-Sep)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22D3EE"/>
                </a:solidFill>
                <a:latin typeface="Calibri" pitchFamily="34" charset="0"/>
                <a:ea typeface="Calibri" pitchFamily="34" charset="-122"/>
                <a:cs typeface="Calibri" pitchFamily="34" charset="-120"/>
              </a:rPr>
              <a:t>EXECUTIVE SNAPSHOT</a:t>
            </a:r>
            <a:endParaRPr lang="en-US" sz="1100" dirty="0"/>
          </a:p>
        </p:txBody>
      </p:sp>
      <p:sp>
        <p:nvSpPr>
          <p:cNvPr id="4" name="Text 2"/>
          <p:cNvSpPr txBox="1"/>
          <p:nvPr/>
        </p:nvSpPr>
        <p:spPr>
          <a:xfrm>
            <a:off x="457200" y="566928"/>
            <a:ext cx="11247120" cy="868680"/>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Sales are growing, but growth is not turning into profit - and EGP 8.8M a year is recoverable</a:t>
            </a:r>
            <a:endParaRPr lang="en-US" sz="2600" dirty="0"/>
          </a:p>
        </p:txBody>
      </p:sp>
      <p:pic>
        <p:nvPicPr>
          <p:cNvPr id="5" name="Image 0" descr="logo.png">    </p:cNvPr>
          <p:cNvPicPr>
            <a:picLocks noChangeAspect="1"/>
          </p:cNvPicPr>
          <p:nvPr/>
        </p:nvPicPr>
        <p:blipFill>
          <a:blip r:embed="rId1"/>
          <a:stretch>
            <a:fillRect/>
          </a:stretch>
        </p:blipFill>
        <p:spPr>
          <a:xfrm>
            <a:off x="457200" y="6400800"/>
            <a:ext cx="868680" cy="365760"/>
          </a:xfrm>
          <a:prstGeom prst="rect">
            <a:avLst/>
          </a:prstGeom>
        </p:spPr>
      </p:pic>
      <p:sp>
        <p:nvSpPr>
          <p:cNvPr id="6" name="Text 3"/>
          <p:cNvSpPr txBox="1"/>
          <p:nvPr/>
        </p:nvSpPr>
        <p:spPr>
          <a:xfrm>
            <a:off x="1554480" y="6419088"/>
            <a:ext cx="9418320" cy="329184"/>
          </a:xfrm>
          <a:prstGeom prst="rect">
            <a:avLst/>
          </a:prstGeom>
          <a:noFill/>
          <a:ln/>
        </p:spPr>
        <p:txBody>
          <a:bodyPr wrap="square" lIns="0" tIns="0" rIns="0" bIns="0" rtlCol="0" anchor="ctr"/>
          <a:lstStyle/>
          <a:p>
            <a:pPr indent="0" marL="0">
              <a:buNone/>
            </a:pPr>
            <a:r>
              <a:rPr lang="en-US" sz="1000" dirty="0">
                <a:solidFill>
                  <a:srgbClr val="A9B8D0"/>
                </a:solidFill>
                <a:latin typeface="Calibri" pitchFamily="34" charset="0"/>
                <a:ea typeface="Calibri" pitchFamily="34" charset="-122"/>
                <a:cs typeface="Calibri" pitchFamily="34" charset="-120"/>
              </a:rPr>
              <a:t>Scope: group, all channels, Oct 2023 - Sep 2026. FY = Oct-Sep. Value at stake = base case, annual gross profit, before implementation cost.</a:t>
            </a:r>
            <a:endParaRPr lang="en-US" sz="1000" dirty="0"/>
          </a:p>
        </p:txBody>
      </p:sp>
      <p:sp>
        <p:nvSpPr>
          <p:cNvPr id="7" name="Text 4"/>
          <p:cNvSpPr txBox="1"/>
          <p:nvPr/>
        </p:nvSpPr>
        <p:spPr>
          <a:xfrm>
            <a:off x="11247120" y="6419088"/>
            <a:ext cx="548640" cy="329184"/>
          </a:xfrm>
          <a:prstGeom prst="rect">
            <a:avLst/>
          </a:prstGeom>
          <a:noFill/>
          <a:ln/>
        </p:spPr>
        <p:txBody>
          <a:bodyPr wrap="square" lIns="0" tIns="0" rIns="0" bIns="0" rtlCol="0" anchor="ctr"/>
          <a:lstStyle/>
          <a:p>
            <a:pPr algn="r" indent="0" marL="0">
              <a:buNone/>
            </a:pPr>
            <a:r>
              <a:rPr lang="en-US" sz="1000" dirty="0">
                <a:solidFill>
                  <a:srgbClr val="A9B8D0"/>
                </a:solidFill>
                <a:latin typeface="Calibri" pitchFamily="34" charset="0"/>
                <a:ea typeface="Calibri" pitchFamily="34" charset="-122"/>
                <a:cs typeface="Calibri" pitchFamily="34" charset="-120"/>
              </a:rPr>
              <a:t>2</a:t>
            </a:r>
            <a:endParaRPr lang="en-US" sz="1000" dirty="0"/>
          </a:p>
        </p:txBody>
      </p:sp>
      <p:sp>
        <p:nvSpPr>
          <p:cNvPr id="9" name="Shape 5"/>
          <p:cNvSpPr/>
          <p:nvPr/>
        </p:nvSpPr>
        <p:spPr>
          <a:xfrm>
            <a:off x="457200" y="1600200"/>
            <a:ext cx="3611880" cy="1234440"/>
          </a:xfrm>
          <a:prstGeom prst="roundRect">
            <a:avLst>
              <a:gd name="adj" fmla="val 5926"/>
            </a:avLst>
          </a:prstGeom>
          <a:solidFill>
            <a:srgbClr val="0A1F3A"/>
          </a:solidFill>
          <a:ln w="12700">
            <a:solidFill>
              <a:srgbClr val="22D3EE"/>
            </a:solidFill>
            <a:prstDash val="solid"/>
          </a:ln>
        </p:spPr>
      </p:sp>
      <p:sp>
        <p:nvSpPr>
          <p:cNvPr id="10" name="Text 6"/>
          <p:cNvSpPr txBox="1"/>
          <p:nvPr/>
        </p:nvSpPr>
        <p:spPr>
          <a:xfrm>
            <a:off x="640080" y="1737360"/>
            <a:ext cx="3246120" cy="228600"/>
          </a:xfrm>
          <a:prstGeom prst="rect">
            <a:avLst/>
          </a:prstGeom>
          <a:noFill/>
          <a:ln/>
        </p:spPr>
        <p:txBody>
          <a:bodyPr wrap="square" lIns="0" tIns="0" rIns="0" bIns="0" rtlCol="0" anchor="t"/>
          <a:lstStyle/>
          <a:p>
            <a:pPr indent="0" marL="0">
              <a:buNone/>
            </a:pPr>
            <a:r>
              <a:rPr lang="en-US" sz="1000" b="1" spc="200" kern="0" dirty="0">
                <a:solidFill>
                  <a:srgbClr val="A9B8D0"/>
                </a:solidFill>
                <a:latin typeface="Calibri" pitchFamily="34" charset="0"/>
                <a:ea typeface="Calibri" pitchFamily="34" charset="-122"/>
                <a:cs typeface="Calibri" pitchFamily="34" charset="-120"/>
              </a:rPr>
              <a:t>NET SALES (3 YRS)</a:t>
            </a:r>
            <a:endParaRPr lang="en-US" sz="1000" dirty="0"/>
          </a:p>
        </p:txBody>
      </p:sp>
      <p:sp>
        <p:nvSpPr>
          <p:cNvPr id="11" name="Text 7"/>
          <p:cNvSpPr txBox="1"/>
          <p:nvPr/>
        </p:nvSpPr>
        <p:spPr>
          <a:xfrm>
            <a:off x="640080" y="1984248"/>
            <a:ext cx="3246120" cy="457200"/>
          </a:xfrm>
          <a:prstGeom prst="rect">
            <a:avLst/>
          </a:prstGeom>
          <a:noFill/>
          <a:ln/>
        </p:spPr>
        <p:txBody>
          <a:bodyPr wrap="square" lIns="0" tIns="0" rIns="0" bIns="0" rtlCol="0" anchor="t"/>
          <a:lstStyle/>
          <a:p>
            <a:pPr indent="0" marL="0">
              <a:buNone/>
            </a:pPr>
            <a:r>
              <a:rPr lang="en-US" sz="2800" b="1" dirty="0">
                <a:solidFill>
                  <a:srgbClr val="22D3EE"/>
                </a:solidFill>
                <a:latin typeface="Calibri" pitchFamily="34" charset="0"/>
                <a:ea typeface="Calibri" pitchFamily="34" charset="-122"/>
                <a:cs typeface="Calibri" pitchFamily="34" charset="-120"/>
              </a:rPr>
              <a:t>EGP 421.3M</a:t>
            </a:r>
            <a:endParaRPr lang="en-US" sz="2800" dirty="0"/>
          </a:p>
        </p:txBody>
      </p:sp>
      <p:sp>
        <p:nvSpPr>
          <p:cNvPr id="12" name="Text 8"/>
          <p:cNvSpPr txBox="1"/>
          <p:nvPr/>
        </p:nvSpPr>
        <p:spPr>
          <a:xfrm>
            <a:off x="640080" y="2496312"/>
            <a:ext cx="3246120" cy="274320"/>
          </a:xfrm>
          <a:prstGeom prst="rect">
            <a:avLst/>
          </a:prstGeom>
          <a:noFill/>
          <a:ln/>
        </p:spPr>
        <p:txBody>
          <a:bodyPr wrap="square" lIns="0" tIns="0" rIns="0" bIns="0" rtlCol="0" anchor="t"/>
          <a:lstStyle/>
          <a:p>
            <a:pPr indent="0" marL="0">
              <a:buNone/>
            </a:pPr>
            <a:r>
              <a:rPr lang="en-US" sz="1100" dirty="0">
                <a:solidFill>
                  <a:srgbClr val="A9B8D0"/>
                </a:solidFill>
                <a:latin typeface="Calibri" pitchFamily="34" charset="0"/>
                <a:ea typeface="Calibri" pitchFamily="34" charset="-122"/>
                <a:cs typeface="Calibri" pitchFamily="34" charset="-120"/>
              </a:rPr>
              <a:t>FY24 129.5M | FY25 143.5M | FY26 148.3M</a:t>
            </a:r>
            <a:endParaRPr lang="en-US" sz="1100" dirty="0"/>
          </a:p>
        </p:txBody>
      </p:sp>
      <p:sp>
        <p:nvSpPr>
          <p:cNvPr id="13" name="Shape 9"/>
          <p:cNvSpPr/>
          <p:nvPr/>
        </p:nvSpPr>
        <p:spPr>
          <a:xfrm>
            <a:off x="4251960" y="1600200"/>
            <a:ext cx="3611880" cy="1234440"/>
          </a:xfrm>
          <a:prstGeom prst="roundRect">
            <a:avLst>
              <a:gd name="adj" fmla="val 5926"/>
            </a:avLst>
          </a:prstGeom>
          <a:solidFill>
            <a:srgbClr val="0A1F3A"/>
          </a:solidFill>
          <a:ln w="12700">
            <a:solidFill>
              <a:srgbClr val="22D3EE"/>
            </a:solidFill>
            <a:prstDash val="solid"/>
          </a:ln>
        </p:spPr>
      </p:sp>
      <p:sp>
        <p:nvSpPr>
          <p:cNvPr id="14" name="Text 10"/>
          <p:cNvSpPr txBox="1"/>
          <p:nvPr/>
        </p:nvSpPr>
        <p:spPr>
          <a:xfrm>
            <a:off x="4434840" y="1737360"/>
            <a:ext cx="3246120" cy="228600"/>
          </a:xfrm>
          <a:prstGeom prst="rect">
            <a:avLst/>
          </a:prstGeom>
          <a:noFill/>
          <a:ln/>
        </p:spPr>
        <p:txBody>
          <a:bodyPr wrap="square" lIns="0" tIns="0" rIns="0" bIns="0" rtlCol="0" anchor="t"/>
          <a:lstStyle/>
          <a:p>
            <a:pPr indent="0" marL="0">
              <a:buNone/>
            </a:pPr>
            <a:r>
              <a:rPr lang="en-US" sz="1000" b="1" spc="200" kern="0" dirty="0">
                <a:solidFill>
                  <a:srgbClr val="A9B8D0"/>
                </a:solidFill>
                <a:latin typeface="Calibri" pitchFamily="34" charset="0"/>
                <a:ea typeface="Calibri" pitchFamily="34" charset="-122"/>
                <a:cs typeface="Calibri" pitchFamily="34" charset="-120"/>
              </a:rPr>
              <a:t>GROSS PROFIT (3 YRS)</a:t>
            </a:r>
            <a:endParaRPr lang="en-US" sz="1000" dirty="0"/>
          </a:p>
        </p:txBody>
      </p:sp>
      <p:sp>
        <p:nvSpPr>
          <p:cNvPr id="15" name="Text 11"/>
          <p:cNvSpPr txBox="1"/>
          <p:nvPr/>
        </p:nvSpPr>
        <p:spPr>
          <a:xfrm>
            <a:off x="4434840" y="1984248"/>
            <a:ext cx="3246120" cy="457200"/>
          </a:xfrm>
          <a:prstGeom prst="rect">
            <a:avLst/>
          </a:prstGeom>
          <a:noFill/>
          <a:ln/>
        </p:spPr>
        <p:txBody>
          <a:bodyPr wrap="square" lIns="0" tIns="0" rIns="0" bIns="0" rtlCol="0" anchor="t"/>
          <a:lstStyle/>
          <a:p>
            <a:pPr indent="0" marL="0">
              <a:buNone/>
            </a:pPr>
            <a:r>
              <a:rPr lang="en-US" sz="2800" b="1" dirty="0">
                <a:solidFill>
                  <a:srgbClr val="22D3EE"/>
                </a:solidFill>
                <a:latin typeface="Calibri" pitchFamily="34" charset="0"/>
                <a:ea typeface="Calibri" pitchFamily="34" charset="-122"/>
                <a:cs typeface="Calibri" pitchFamily="34" charset="-120"/>
              </a:rPr>
              <a:t>EGP 64.9M</a:t>
            </a:r>
            <a:endParaRPr lang="en-US" sz="2800" dirty="0"/>
          </a:p>
        </p:txBody>
      </p:sp>
      <p:sp>
        <p:nvSpPr>
          <p:cNvPr id="16" name="Text 12"/>
          <p:cNvSpPr txBox="1"/>
          <p:nvPr/>
        </p:nvSpPr>
        <p:spPr>
          <a:xfrm>
            <a:off x="4434840" y="2496312"/>
            <a:ext cx="3246120" cy="274320"/>
          </a:xfrm>
          <a:prstGeom prst="rect">
            <a:avLst/>
          </a:prstGeom>
          <a:noFill/>
          <a:ln/>
        </p:spPr>
        <p:txBody>
          <a:bodyPr wrap="square" lIns="0" tIns="0" rIns="0" bIns="0" rtlCol="0" anchor="t"/>
          <a:lstStyle/>
          <a:p>
            <a:pPr indent="0" marL="0">
              <a:buNone/>
            </a:pPr>
            <a:r>
              <a:rPr lang="en-US" sz="1100" dirty="0">
                <a:solidFill>
                  <a:srgbClr val="A9B8D0"/>
                </a:solidFill>
                <a:latin typeface="Calibri" pitchFamily="34" charset="0"/>
                <a:ea typeface="Calibri" pitchFamily="34" charset="-122"/>
                <a:cs typeface="Calibri" pitchFamily="34" charset="-120"/>
              </a:rPr>
              <a:t>Gross margin 15.4% (FY26: 15.6%)</a:t>
            </a:r>
            <a:endParaRPr lang="en-US" sz="1100" dirty="0"/>
          </a:p>
        </p:txBody>
      </p:sp>
      <p:sp>
        <p:nvSpPr>
          <p:cNvPr id="17" name="Shape 13"/>
          <p:cNvSpPr/>
          <p:nvPr/>
        </p:nvSpPr>
        <p:spPr>
          <a:xfrm>
            <a:off x="8046720" y="1600200"/>
            <a:ext cx="3611880" cy="1234440"/>
          </a:xfrm>
          <a:prstGeom prst="roundRect">
            <a:avLst>
              <a:gd name="adj" fmla="val 5926"/>
            </a:avLst>
          </a:prstGeom>
          <a:solidFill>
            <a:srgbClr val="0A1F3A"/>
          </a:solidFill>
          <a:ln w="12700">
            <a:solidFill>
              <a:srgbClr val="F5B942"/>
            </a:solidFill>
            <a:prstDash val="solid"/>
          </a:ln>
        </p:spPr>
      </p:sp>
      <p:sp>
        <p:nvSpPr>
          <p:cNvPr id="18" name="Text 14"/>
          <p:cNvSpPr txBox="1"/>
          <p:nvPr/>
        </p:nvSpPr>
        <p:spPr>
          <a:xfrm>
            <a:off x="8229600" y="1737360"/>
            <a:ext cx="3246120" cy="228600"/>
          </a:xfrm>
          <a:prstGeom prst="rect">
            <a:avLst/>
          </a:prstGeom>
          <a:noFill/>
          <a:ln/>
        </p:spPr>
        <p:txBody>
          <a:bodyPr wrap="square" lIns="0" tIns="0" rIns="0" bIns="0" rtlCol="0" anchor="t"/>
          <a:lstStyle/>
          <a:p>
            <a:pPr indent="0" marL="0">
              <a:buNone/>
            </a:pPr>
            <a:r>
              <a:rPr lang="en-US" sz="1000" b="1" spc="200" kern="0" dirty="0">
                <a:solidFill>
                  <a:srgbClr val="A9B8D0"/>
                </a:solidFill>
                <a:latin typeface="Calibri" pitchFamily="34" charset="0"/>
                <a:ea typeface="Calibri" pitchFamily="34" charset="-122"/>
                <a:cs typeface="Calibri" pitchFamily="34" charset="-120"/>
              </a:rPr>
              <a:t>SALES GROWTH</a:t>
            </a:r>
            <a:endParaRPr lang="en-US" sz="1000" dirty="0"/>
          </a:p>
        </p:txBody>
      </p:sp>
      <p:sp>
        <p:nvSpPr>
          <p:cNvPr id="19" name="Text 15"/>
          <p:cNvSpPr txBox="1"/>
          <p:nvPr/>
        </p:nvSpPr>
        <p:spPr>
          <a:xfrm>
            <a:off x="8229600" y="1984248"/>
            <a:ext cx="3246120" cy="457200"/>
          </a:xfrm>
          <a:prstGeom prst="rect">
            <a:avLst/>
          </a:prstGeom>
          <a:noFill/>
          <a:ln/>
        </p:spPr>
        <p:txBody>
          <a:bodyPr wrap="square" lIns="0" tIns="0" rIns="0" bIns="0" rtlCol="0" anchor="t"/>
          <a:lstStyle/>
          <a:p>
            <a:pPr indent="0" marL="0">
              <a:buNone/>
            </a:pPr>
            <a:r>
              <a:rPr lang="en-US" sz="2800" b="1" dirty="0">
                <a:solidFill>
                  <a:srgbClr val="F5B942"/>
                </a:solidFill>
                <a:latin typeface="Calibri" pitchFamily="34" charset="0"/>
                <a:ea typeface="Calibri" pitchFamily="34" charset="-122"/>
                <a:cs typeface="Calibri" pitchFamily="34" charset="-120"/>
              </a:rPr>
              <a:t>+10.8% &gt; +3.3%</a:t>
            </a:r>
            <a:endParaRPr lang="en-US" sz="2800" dirty="0"/>
          </a:p>
        </p:txBody>
      </p:sp>
      <p:sp>
        <p:nvSpPr>
          <p:cNvPr id="20" name="Text 16"/>
          <p:cNvSpPr txBox="1"/>
          <p:nvPr/>
        </p:nvSpPr>
        <p:spPr>
          <a:xfrm>
            <a:off x="8229600" y="2496312"/>
            <a:ext cx="3246120" cy="274320"/>
          </a:xfrm>
          <a:prstGeom prst="rect">
            <a:avLst/>
          </a:prstGeom>
          <a:noFill/>
          <a:ln/>
        </p:spPr>
        <p:txBody>
          <a:bodyPr wrap="square" lIns="0" tIns="0" rIns="0" bIns="0" rtlCol="0" anchor="t"/>
          <a:lstStyle/>
          <a:p>
            <a:pPr indent="0" marL="0">
              <a:buNone/>
            </a:pPr>
            <a:r>
              <a:rPr lang="en-US" sz="1100" dirty="0">
                <a:solidFill>
                  <a:srgbClr val="A9B8D0"/>
                </a:solidFill>
                <a:latin typeface="Calibri" pitchFamily="34" charset="0"/>
                <a:ea typeface="Calibri" pitchFamily="34" charset="-122"/>
                <a:cs typeface="Calibri" pitchFamily="34" charset="-120"/>
              </a:rPr>
              <a:t>FY25 vs FY24, then FY26 vs FY25</a:t>
            </a:r>
            <a:endParaRPr lang="en-US" sz="1100" dirty="0"/>
          </a:p>
        </p:txBody>
      </p:sp>
      <p:sp>
        <p:nvSpPr>
          <p:cNvPr id="21" name="Shape 17"/>
          <p:cNvSpPr/>
          <p:nvPr/>
        </p:nvSpPr>
        <p:spPr>
          <a:xfrm>
            <a:off x="457200" y="3017520"/>
            <a:ext cx="3611880" cy="1234440"/>
          </a:xfrm>
          <a:prstGeom prst="roundRect">
            <a:avLst>
              <a:gd name="adj" fmla="val 5926"/>
            </a:avLst>
          </a:prstGeom>
          <a:solidFill>
            <a:srgbClr val="0A1F3A"/>
          </a:solidFill>
          <a:ln w="12700">
            <a:solidFill>
              <a:srgbClr val="F87171"/>
            </a:solidFill>
            <a:prstDash val="solid"/>
          </a:ln>
        </p:spPr>
      </p:sp>
      <p:sp>
        <p:nvSpPr>
          <p:cNvPr id="22" name="Text 18"/>
          <p:cNvSpPr txBox="1"/>
          <p:nvPr/>
        </p:nvSpPr>
        <p:spPr>
          <a:xfrm>
            <a:off x="640080" y="3154680"/>
            <a:ext cx="3246120" cy="228600"/>
          </a:xfrm>
          <a:prstGeom prst="rect">
            <a:avLst/>
          </a:prstGeom>
          <a:noFill/>
          <a:ln/>
        </p:spPr>
        <p:txBody>
          <a:bodyPr wrap="square" lIns="0" tIns="0" rIns="0" bIns="0" rtlCol="0" anchor="t"/>
          <a:lstStyle/>
          <a:p>
            <a:pPr indent="0" marL="0">
              <a:buNone/>
            </a:pPr>
            <a:r>
              <a:rPr lang="en-US" sz="1000" b="1" spc="200" kern="0" dirty="0">
                <a:solidFill>
                  <a:srgbClr val="A9B8D0"/>
                </a:solidFill>
                <a:latin typeface="Calibri" pitchFamily="34" charset="0"/>
                <a:ea typeface="Calibri" pitchFamily="34" charset="-122"/>
                <a:cs typeface="Calibri" pitchFamily="34" charset="-120"/>
              </a:rPr>
              <a:t>AVG WHOLESALE DISCOUNT</a:t>
            </a:r>
            <a:endParaRPr lang="en-US" sz="1000" dirty="0"/>
          </a:p>
        </p:txBody>
      </p:sp>
      <p:sp>
        <p:nvSpPr>
          <p:cNvPr id="23" name="Text 19"/>
          <p:cNvSpPr txBox="1"/>
          <p:nvPr/>
        </p:nvSpPr>
        <p:spPr>
          <a:xfrm>
            <a:off x="640080" y="3401568"/>
            <a:ext cx="3246120" cy="457200"/>
          </a:xfrm>
          <a:prstGeom prst="rect">
            <a:avLst/>
          </a:prstGeom>
          <a:noFill/>
          <a:ln/>
        </p:spPr>
        <p:txBody>
          <a:bodyPr wrap="square" lIns="0" tIns="0" rIns="0" bIns="0" rtlCol="0" anchor="t"/>
          <a:lstStyle/>
          <a:p>
            <a:pPr indent="0" marL="0">
              <a:buNone/>
            </a:pPr>
            <a:r>
              <a:rPr lang="en-US" sz="2800" b="1" dirty="0">
                <a:solidFill>
                  <a:srgbClr val="F87171"/>
                </a:solidFill>
                <a:latin typeface="Calibri" pitchFamily="34" charset="0"/>
                <a:ea typeface="Calibri" pitchFamily="34" charset="-122"/>
                <a:cs typeface="Calibri" pitchFamily="34" charset="-120"/>
              </a:rPr>
              <a:t>32.6%</a:t>
            </a:r>
            <a:endParaRPr lang="en-US" sz="2800" dirty="0"/>
          </a:p>
        </p:txBody>
      </p:sp>
      <p:sp>
        <p:nvSpPr>
          <p:cNvPr id="24" name="Text 20"/>
          <p:cNvSpPr txBox="1"/>
          <p:nvPr/>
        </p:nvSpPr>
        <p:spPr>
          <a:xfrm>
            <a:off x="640080" y="3913632"/>
            <a:ext cx="3246120" cy="274320"/>
          </a:xfrm>
          <a:prstGeom prst="rect">
            <a:avLst/>
          </a:prstGeom>
          <a:noFill/>
          <a:ln/>
        </p:spPr>
        <p:txBody>
          <a:bodyPr wrap="square" lIns="0" tIns="0" rIns="0" bIns="0" rtlCol="0" anchor="t"/>
          <a:lstStyle/>
          <a:p>
            <a:pPr indent="0" marL="0">
              <a:buNone/>
            </a:pPr>
            <a:r>
              <a:rPr lang="en-US" sz="1100" dirty="0">
                <a:solidFill>
                  <a:srgbClr val="A9B8D0"/>
                </a:solidFill>
                <a:latin typeface="Calibri" pitchFamily="34" charset="0"/>
                <a:ea typeface="Calibri" pitchFamily="34" charset="-122"/>
                <a:cs typeface="Calibri" pitchFamily="34" charset="-120"/>
              </a:rPr>
              <a:t>Wholesale margin only 11.9%</a:t>
            </a:r>
            <a:endParaRPr lang="en-US" sz="1100" dirty="0"/>
          </a:p>
        </p:txBody>
      </p:sp>
      <p:sp>
        <p:nvSpPr>
          <p:cNvPr id="25" name="Shape 21"/>
          <p:cNvSpPr/>
          <p:nvPr/>
        </p:nvSpPr>
        <p:spPr>
          <a:xfrm>
            <a:off x="4251960" y="3017520"/>
            <a:ext cx="3611880" cy="1234440"/>
          </a:xfrm>
          <a:prstGeom prst="roundRect">
            <a:avLst>
              <a:gd name="adj" fmla="val 5926"/>
            </a:avLst>
          </a:prstGeom>
          <a:solidFill>
            <a:srgbClr val="0A1F3A"/>
          </a:solidFill>
          <a:ln w="12700">
            <a:solidFill>
              <a:srgbClr val="34D399"/>
            </a:solidFill>
            <a:prstDash val="solid"/>
          </a:ln>
        </p:spPr>
      </p:sp>
      <p:sp>
        <p:nvSpPr>
          <p:cNvPr id="26" name="Text 22"/>
          <p:cNvSpPr txBox="1"/>
          <p:nvPr/>
        </p:nvSpPr>
        <p:spPr>
          <a:xfrm>
            <a:off x="4434840" y="3154680"/>
            <a:ext cx="3246120" cy="228600"/>
          </a:xfrm>
          <a:prstGeom prst="rect">
            <a:avLst/>
          </a:prstGeom>
          <a:noFill/>
          <a:ln/>
        </p:spPr>
        <p:txBody>
          <a:bodyPr wrap="square" lIns="0" tIns="0" rIns="0" bIns="0" rtlCol="0" anchor="t"/>
          <a:lstStyle/>
          <a:p>
            <a:pPr indent="0" marL="0">
              <a:buNone/>
            </a:pPr>
            <a:r>
              <a:rPr lang="en-US" sz="1000" b="1" spc="200" kern="0" dirty="0">
                <a:solidFill>
                  <a:srgbClr val="A9B8D0"/>
                </a:solidFill>
                <a:latin typeface="Calibri" pitchFamily="34" charset="0"/>
                <a:ea typeface="Calibri" pitchFamily="34" charset="-122"/>
                <a:cs typeface="Calibri" pitchFamily="34" charset="-120"/>
              </a:rPr>
              <a:t>VALUE AT STAKE</a:t>
            </a:r>
            <a:endParaRPr lang="en-US" sz="1000" dirty="0"/>
          </a:p>
        </p:txBody>
      </p:sp>
      <p:sp>
        <p:nvSpPr>
          <p:cNvPr id="27" name="Text 23"/>
          <p:cNvSpPr txBox="1"/>
          <p:nvPr/>
        </p:nvSpPr>
        <p:spPr>
          <a:xfrm>
            <a:off x="4434840" y="3401568"/>
            <a:ext cx="3246120" cy="457200"/>
          </a:xfrm>
          <a:prstGeom prst="rect">
            <a:avLst/>
          </a:prstGeom>
          <a:noFill/>
          <a:ln/>
        </p:spPr>
        <p:txBody>
          <a:bodyPr wrap="square" lIns="0" tIns="0" rIns="0" bIns="0" rtlCol="0" anchor="t"/>
          <a:lstStyle/>
          <a:p>
            <a:pPr indent="0" marL="0">
              <a:buNone/>
            </a:pPr>
            <a:r>
              <a:rPr lang="en-US" sz="2800" b="1" dirty="0">
                <a:solidFill>
                  <a:srgbClr val="34D399"/>
                </a:solidFill>
                <a:latin typeface="Calibri" pitchFamily="34" charset="0"/>
                <a:ea typeface="Calibri" pitchFamily="34" charset="-122"/>
                <a:cs typeface="Calibri" pitchFamily="34" charset="-120"/>
              </a:rPr>
              <a:t>EGP 8.8M / yr</a:t>
            </a:r>
            <a:endParaRPr lang="en-US" sz="2800" dirty="0"/>
          </a:p>
        </p:txBody>
      </p:sp>
      <p:sp>
        <p:nvSpPr>
          <p:cNvPr id="28" name="Text 24"/>
          <p:cNvSpPr txBox="1"/>
          <p:nvPr/>
        </p:nvSpPr>
        <p:spPr>
          <a:xfrm>
            <a:off x="4434840" y="3913632"/>
            <a:ext cx="3246120" cy="274320"/>
          </a:xfrm>
          <a:prstGeom prst="rect">
            <a:avLst/>
          </a:prstGeom>
          <a:noFill/>
          <a:ln/>
        </p:spPr>
        <p:txBody>
          <a:bodyPr wrap="square" lIns="0" tIns="0" rIns="0" bIns="0" rtlCol="0" anchor="t"/>
          <a:lstStyle/>
          <a:p>
            <a:pPr indent="0" marL="0">
              <a:buNone/>
            </a:pPr>
            <a:r>
              <a:rPr lang="en-US" sz="1100" dirty="0">
                <a:solidFill>
                  <a:srgbClr val="A9B8D0"/>
                </a:solidFill>
                <a:latin typeface="Calibri" pitchFamily="34" charset="0"/>
                <a:ea typeface="Calibri" pitchFamily="34" charset="-122"/>
                <a:cs typeface="Calibri" pitchFamily="34" charset="-120"/>
              </a:rPr>
              <a:t>Base case; range EGP 6.3-12.1M*</a:t>
            </a:r>
            <a:endParaRPr lang="en-US" sz="1100" dirty="0"/>
          </a:p>
        </p:txBody>
      </p:sp>
      <p:sp>
        <p:nvSpPr>
          <p:cNvPr id="29" name="Shape 25"/>
          <p:cNvSpPr/>
          <p:nvPr/>
        </p:nvSpPr>
        <p:spPr>
          <a:xfrm>
            <a:off x="8046720" y="3017520"/>
            <a:ext cx="3611880" cy="1234440"/>
          </a:xfrm>
          <a:prstGeom prst="roundRect">
            <a:avLst>
              <a:gd name="adj" fmla="val 5926"/>
            </a:avLst>
          </a:prstGeom>
          <a:solidFill>
            <a:srgbClr val="0A1F3A"/>
          </a:solidFill>
          <a:ln w="12700">
            <a:solidFill>
              <a:srgbClr val="17406E"/>
            </a:solidFill>
            <a:prstDash val="solid"/>
          </a:ln>
        </p:spPr>
      </p:sp>
      <p:sp>
        <p:nvSpPr>
          <p:cNvPr id="30" name="Text 26"/>
          <p:cNvSpPr txBox="1"/>
          <p:nvPr/>
        </p:nvSpPr>
        <p:spPr>
          <a:xfrm>
            <a:off x="8229600" y="3154680"/>
            <a:ext cx="3200400" cy="228600"/>
          </a:xfrm>
          <a:prstGeom prst="rect">
            <a:avLst/>
          </a:prstGeom>
          <a:noFill/>
          <a:ln/>
        </p:spPr>
        <p:txBody>
          <a:bodyPr wrap="square" lIns="0" tIns="0" rIns="0" bIns="0" rtlCol="0" anchor="t"/>
          <a:lstStyle/>
          <a:p>
            <a:pPr indent="0" marL="0">
              <a:buNone/>
            </a:pPr>
            <a:r>
              <a:rPr lang="en-US" sz="1000" b="1" dirty="0">
                <a:solidFill>
                  <a:srgbClr val="A9B8D0"/>
                </a:solidFill>
                <a:latin typeface="Calibri" pitchFamily="34" charset="0"/>
                <a:ea typeface="Calibri" pitchFamily="34" charset="-122"/>
                <a:cs typeface="Calibri" pitchFamily="34" charset="-120"/>
              </a:rPr>
              <a:t>Units sold</a:t>
            </a:r>
            <a:endParaRPr lang="en-US" sz="1000" dirty="0"/>
          </a:p>
        </p:txBody>
      </p:sp>
      <p:sp>
        <p:nvSpPr>
          <p:cNvPr id="31" name="Text 27"/>
          <p:cNvSpPr txBox="1"/>
          <p:nvPr/>
        </p:nvSpPr>
        <p:spPr>
          <a:xfrm>
            <a:off x="8229600" y="3401568"/>
            <a:ext cx="3200400" cy="45720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1.66M</a:t>
            </a:r>
            <a:endParaRPr lang="en-US" sz="2800" dirty="0"/>
          </a:p>
        </p:txBody>
      </p:sp>
      <p:sp>
        <p:nvSpPr>
          <p:cNvPr id="32" name="Text 28"/>
          <p:cNvSpPr txBox="1"/>
          <p:nvPr/>
        </p:nvSpPr>
        <p:spPr>
          <a:xfrm>
            <a:off x="8229600" y="3913632"/>
            <a:ext cx="3291840" cy="274320"/>
          </a:xfrm>
          <a:prstGeom prst="rect">
            <a:avLst/>
          </a:prstGeom>
          <a:noFill/>
          <a:ln/>
        </p:spPr>
        <p:txBody>
          <a:bodyPr wrap="square" lIns="0" tIns="0" rIns="0" bIns="0" rtlCol="0" anchor="t"/>
          <a:lstStyle/>
          <a:p>
            <a:pPr indent="0" marL="0">
              <a:buNone/>
            </a:pPr>
            <a:r>
              <a:rPr lang="en-US" sz="1100" dirty="0">
                <a:solidFill>
                  <a:srgbClr val="A9B8D0"/>
                </a:solidFill>
                <a:latin typeface="Calibri" pitchFamily="34" charset="0"/>
                <a:ea typeface="Calibri" pitchFamily="34" charset="-122"/>
                <a:cs typeface="Calibri" pitchFamily="34" charset="-120"/>
              </a:rPr>
              <a:t>180,000 invoices, 25,634 customers</a:t>
            </a:r>
            <a:endParaRPr lang="en-US" sz="1100" dirty="0"/>
          </a:p>
        </p:txBody>
      </p:sp>
      <p:sp>
        <p:nvSpPr>
          <p:cNvPr id="33" name="Text 29"/>
          <p:cNvSpPr txBox="1"/>
          <p:nvPr/>
        </p:nvSpPr>
        <p:spPr>
          <a:xfrm>
            <a:off x="457200" y="4526280"/>
            <a:ext cx="7315200" cy="274320"/>
          </a:xfrm>
          <a:prstGeom prst="rect">
            <a:avLst/>
          </a:prstGeom>
          <a:noFill/>
          <a:ln/>
        </p:spPr>
        <p:txBody>
          <a:bodyPr wrap="square" lIns="0" tIns="0" rIns="0" bIns="0" rtlCol="0" anchor="t"/>
          <a:lstStyle/>
          <a:p>
            <a:pPr indent="0" marL="0">
              <a:buNone/>
            </a:pPr>
            <a:r>
              <a:rPr lang="en-US" sz="1100" b="1" spc="200" kern="0" dirty="0">
                <a:solidFill>
                  <a:srgbClr val="22D3EE"/>
                </a:solidFill>
                <a:latin typeface="Calibri" pitchFamily="34" charset="0"/>
                <a:ea typeface="Calibri" pitchFamily="34" charset="-122"/>
                <a:cs typeface="Calibri" pitchFamily="34" charset="-120"/>
              </a:rPr>
              <a:t>WHAT MANAGEMENT SHOULD TAKE AWAY</a:t>
            </a:r>
            <a:endParaRPr lang="en-US" sz="1100" dirty="0"/>
          </a:p>
        </p:txBody>
      </p:sp>
      <p:sp>
        <p:nvSpPr>
          <p:cNvPr id="34" name="Text 30"/>
          <p:cNvSpPr txBox="1"/>
          <p:nvPr/>
        </p:nvSpPr>
        <p:spPr>
          <a:xfrm>
            <a:off x="457200" y="4846320"/>
            <a:ext cx="11247120" cy="146304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Wholesale is 85% of sales but only 66% of gross profit: discounts are the issue, not demand.</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Retail and online hold ~4 months of stock while wholesale runs on ~11 days: working capital is misplaced.</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3,745 high-frequency customers (32% of retail-customer sales) have gone quiet - a ready win-back list.</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Quality losses (EGP 20.3M, 31% of gross profit) and two failing suppliers add further leaks.</a:t>
            </a:r>
            <a:endParaRPr lang="en-US" sz="1300" dirty="0"/>
          </a:p>
        </p:txBody>
      </p:sp>
      <p:sp>
        <p:nvSpPr>
          <p:cNvPr id="35" name="Text 31"/>
          <p:cNvSpPr txBox="1"/>
          <p:nvPr/>
        </p:nvSpPr>
        <p:spPr>
          <a:xfrm>
            <a:off x="8046720" y="4343400"/>
            <a:ext cx="3611880" cy="274320"/>
          </a:xfrm>
          <a:prstGeom prst="rect">
            <a:avLst/>
          </a:prstGeom>
          <a:noFill/>
          <a:ln/>
        </p:spPr>
        <p:txBody>
          <a:bodyPr wrap="square" lIns="0" tIns="0" rIns="0" bIns="0" rtlCol="0" anchor="t"/>
          <a:lstStyle/>
          <a:p>
            <a:pPr indent="0" marL="0">
              <a:buNone/>
            </a:pPr>
            <a:r>
              <a:rPr lang="en-US" sz="900" dirty="0">
                <a:solidFill>
                  <a:srgbClr val="A9B8D0"/>
                </a:solidFill>
                <a:latin typeface="Calibri" pitchFamily="34" charset="0"/>
                <a:ea typeface="Calibri" pitchFamily="34" charset="-122"/>
                <a:cs typeface="Calibri" pitchFamily="34" charset="-120"/>
              </a:rPr>
              <a:t>*Range = sum of the low and high cases of the seven levers.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22D3EE"/>
                </a:solidFill>
                <a:latin typeface="Calibri" pitchFamily="34" charset="0"/>
                <a:ea typeface="Calibri" pitchFamily="34" charset="-122"/>
                <a:cs typeface="Calibri" pitchFamily="34" charset="-120"/>
              </a:rPr>
              <a:t>BUSINESS HEALTH</a:t>
            </a:r>
            <a:endParaRPr lang="en-US" sz="1100" dirty="0"/>
          </a:p>
        </p:txBody>
      </p:sp>
      <p:sp>
        <p:nvSpPr>
          <p:cNvPr id="4" name="Text 2"/>
          <p:cNvSpPr txBox="1"/>
          <p:nvPr/>
        </p:nvSpPr>
        <p:spPr>
          <a:xfrm>
            <a:off x="457200" y="566928"/>
            <a:ext cx="11247120" cy="868680"/>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Five areas, one pattern: value leaks at pricing, stock balance, customer retention, factory flow and supplier reliability</a:t>
            </a:r>
            <a:endParaRPr lang="en-US" sz="2600" dirty="0"/>
          </a:p>
        </p:txBody>
      </p:sp>
      <p:pic>
        <p:nvPicPr>
          <p:cNvPr id="5" name="Image 0" descr="logo.png">    </p:cNvPr>
          <p:cNvPicPr>
            <a:picLocks noChangeAspect="1"/>
          </p:cNvPicPr>
          <p:nvPr/>
        </p:nvPicPr>
        <p:blipFill>
          <a:blip r:embed="rId1"/>
          <a:stretch>
            <a:fillRect/>
          </a:stretch>
        </p:blipFill>
        <p:spPr>
          <a:xfrm>
            <a:off x="457200" y="6400800"/>
            <a:ext cx="868680" cy="365760"/>
          </a:xfrm>
          <a:prstGeom prst="rect">
            <a:avLst/>
          </a:prstGeom>
        </p:spPr>
      </p:pic>
      <p:sp>
        <p:nvSpPr>
          <p:cNvPr id="6" name="Text 3"/>
          <p:cNvSpPr txBox="1"/>
          <p:nvPr/>
        </p:nvSpPr>
        <p:spPr>
          <a:xfrm>
            <a:off x="1554480" y="6419088"/>
            <a:ext cx="9418320" cy="329184"/>
          </a:xfrm>
          <a:prstGeom prst="rect">
            <a:avLst/>
          </a:prstGeom>
          <a:noFill/>
          <a:ln/>
        </p:spPr>
        <p:txBody>
          <a:bodyPr wrap="square" lIns="0" tIns="0" rIns="0" bIns="0" rtlCol="0" anchor="ctr"/>
          <a:lstStyle/>
          <a:p>
            <a:pPr indent="0" marL="0">
              <a:buNone/>
            </a:pPr>
            <a:r>
              <a:rPr lang="en-US" sz="1000" dirty="0">
                <a:solidFill>
                  <a:srgbClr val="A9B8D0"/>
                </a:solidFill>
                <a:latin typeface="Calibri" pitchFamily="34" charset="0"/>
                <a:ea typeface="Calibri" pitchFamily="34" charset="-122"/>
                <a:cs typeface="Calibri" pitchFamily="34" charset="-120"/>
              </a:rPr>
              <a:t>Scope: group-wide, 3 fiscal years unless stated. COGS is an estimate, not a verified standard cost.</a:t>
            </a:r>
            <a:endParaRPr lang="en-US" sz="1000" dirty="0"/>
          </a:p>
        </p:txBody>
      </p:sp>
      <p:sp>
        <p:nvSpPr>
          <p:cNvPr id="7" name="Text 4"/>
          <p:cNvSpPr txBox="1"/>
          <p:nvPr/>
        </p:nvSpPr>
        <p:spPr>
          <a:xfrm>
            <a:off x="11247120" y="6419088"/>
            <a:ext cx="548640" cy="329184"/>
          </a:xfrm>
          <a:prstGeom prst="rect">
            <a:avLst/>
          </a:prstGeom>
          <a:noFill/>
          <a:ln/>
        </p:spPr>
        <p:txBody>
          <a:bodyPr wrap="square" lIns="0" tIns="0" rIns="0" bIns="0" rtlCol="0" anchor="ctr"/>
          <a:lstStyle/>
          <a:p>
            <a:pPr algn="r" indent="0" marL="0">
              <a:buNone/>
            </a:pPr>
            <a:r>
              <a:rPr lang="en-US" sz="1000" dirty="0">
                <a:solidFill>
                  <a:srgbClr val="A9B8D0"/>
                </a:solidFill>
                <a:latin typeface="Calibri" pitchFamily="34" charset="0"/>
                <a:ea typeface="Calibri" pitchFamily="34" charset="-122"/>
                <a:cs typeface="Calibri" pitchFamily="34" charset="-120"/>
              </a:rPr>
              <a:t>3</a:t>
            </a:r>
            <a:endParaRPr lang="en-US" sz="1000" dirty="0"/>
          </a:p>
        </p:txBody>
      </p:sp>
      <p:sp>
        <p:nvSpPr>
          <p:cNvPr id="9" name="Shape 5"/>
          <p:cNvSpPr/>
          <p:nvPr/>
        </p:nvSpPr>
        <p:spPr>
          <a:xfrm>
            <a:off x="457200" y="1600200"/>
            <a:ext cx="11247120" cy="822960"/>
          </a:xfrm>
          <a:prstGeom prst="roundRect">
            <a:avLst>
              <a:gd name="adj" fmla="val 8889"/>
            </a:avLst>
          </a:prstGeom>
          <a:solidFill>
            <a:srgbClr val="0A1F3A"/>
          </a:solidFill>
          <a:ln w="12700">
            <a:solidFill>
              <a:srgbClr val="17406E"/>
            </a:solidFill>
            <a:prstDash val="solid"/>
          </a:ln>
        </p:spPr>
      </p:sp>
      <p:sp>
        <p:nvSpPr>
          <p:cNvPr id="10" name="Shape 6"/>
          <p:cNvSpPr/>
          <p:nvPr/>
        </p:nvSpPr>
        <p:spPr>
          <a:xfrm>
            <a:off x="457200" y="1709928"/>
            <a:ext cx="64008" cy="603504"/>
          </a:xfrm>
          <a:prstGeom prst="rect">
            <a:avLst/>
          </a:prstGeom>
          <a:solidFill>
            <a:srgbClr val="F5B942"/>
          </a:solidFill>
          <a:ln/>
        </p:spPr>
      </p:sp>
      <p:sp>
        <p:nvSpPr>
          <p:cNvPr id="11" name="Text 7"/>
          <p:cNvSpPr txBox="1"/>
          <p:nvPr/>
        </p:nvSpPr>
        <p:spPr>
          <a:xfrm>
            <a:off x="731520" y="1691640"/>
            <a:ext cx="2286000" cy="640080"/>
          </a:xfrm>
          <a:prstGeom prst="rect">
            <a:avLst/>
          </a:prstGeom>
          <a:noFill/>
          <a:ln/>
        </p:spPr>
        <p:txBody>
          <a:bodyPr wrap="square" lIns="0" tIns="0" rIns="0" bIns="0" rtlCol="0" anchor="ctr"/>
          <a:lstStyle/>
          <a:p>
            <a:pPr indent="0" marL="0">
              <a:buNone/>
            </a:pPr>
            <a:r>
              <a:rPr lang="en-US" sz="1200" b="1" dirty="0">
                <a:solidFill>
                  <a:srgbClr val="F5B942"/>
                </a:solidFill>
                <a:latin typeface="Calibri" pitchFamily="34" charset="0"/>
                <a:ea typeface="Calibri" pitchFamily="34" charset="-122"/>
                <a:cs typeface="Calibri" pitchFamily="34" charset="-120"/>
              </a:rPr>
              <a:t>SALES &amp; PROFIT</a:t>
            </a:r>
            <a:endParaRPr lang="en-US" sz="1200" dirty="0"/>
          </a:p>
        </p:txBody>
      </p:sp>
      <p:sp>
        <p:nvSpPr>
          <p:cNvPr id="12" name="Text 8"/>
          <p:cNvSpPr txBox="1"/>
          <p:nvPr/>
        </p:nvSpPr>
        <p:spPr>
          <a:xfrm>
            <a:off x="3108960" y="1673352"/>
            <a:ext cx="3657600" cy="182880"/>
          </a:xfrm>
          <a:prstGeom prst="rect">
            <a:avLst/>
          </a:prstGeom>
          <a:noFill/>
          <a:ln/>
        </p:spPr>
        <p:txBody>
          <a:bodyPr wrap="square" lIns="0" tIns="0" rIns="0" bIns="0" rtlCol="0" anchor="t"/>
          <a:lstStyle/>
          <a:p>
            <a:pPr indent="0" marL="0">
              <a:buNone/>
            </a:pPr>
            <a:r>
              <a:rPr lang="en-US" sz="900" b="1" dirty="0">
                <a:solidFill>
                  <a:srgbClr val="A9B8D0"/>
                </a:solidFill>
                <a:latin typeface="Calibri" pitchFamily="34" charset="0"/>
                <a:ea typeface="Calibri" pitchFamily="34" charset="-122"/>
                <a:cs typeface="Calibri" pitchFamily="34" charset="-120"/>
              </a:rPr>
              <a:t>WHAT'S HAPPENING</a:t>
            </a:r>
            <a:endParaRPr lang="en-US" sz="900" dirty="0"/>
          </a:p>
        </p:txBody>
      </p:sp>
      <p:sp>
        <p:nvSpPr>
          <p:cNvPr id="13" name="Text 9"/>
          <p:cNvSpPr txBox="1"/>
          <p:nvPr/>
        </p:nvSpPr>
        <p:spPr>
          <a:xfrm>
            <a:off x="3108960" y="1874520"/>
            <a:ext cx="4572000" cy="5486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Margin flat at ~15.5% while growth fell to +3.3% (FY26).</a:t>
            </a:r>
            <a:endParaRPr lang="en-US" sz="1200" dirty="0"/>
          </a:p>
        </p:txBody>
      </p:sp>
      <p:sp>
        <p:nvSpPr>
          <p:cNvPr id="14" name="Text 10"/>
          <p:cNvSpPr txBox="1"/>
          <p:nvPr/>
        </p:nvSpPr>
        <p:spPr>
          <a:xfrm>
            <a:off x="7955280" y="1673352"/>
            <a:ext cx="3657600" cy="182880"/>
          </a:xfrm>
          <a:prstGeom prst="rect">
            <a:avLst/>
          </a:prstGeom>
          <a:noFill/>
          <a:ln/>
        </p:spPr>
        <p:txBody>
          <a:bodyPr wrap="square" lIns="0" tIns="0" rIns="0" bIns="0" rtlCol="0" anchor="t"/>
          <a:lstStyle/>
          <a:p>
            <a:pPr indent="0" marL="0">
              <a:buNone/>
            </a:pPr>
            <a:r>
              <a:rPr lang="en-US" sz="900" b="1" dirty="0">
                <a:solidFill>
                  <a:srgbClr val="A9B8D0"/>
                </a:solidFill>
                <a:latin typeface="Calibri" pitchFamily="34" charset="0"/>
                <a:ea typeface="Calibri" pitchFamily="34" charset="-122"/>
                <a:cs typeface="Calibri" pitchFamily="34" charset="-120"/>
              </a:rPr>
              <a:t>WHY IT MATTERS</a:t>
            </a:r>
            <a:endParaRPr lang="en-US" sz="900" dirty="0"/>
          </a:p>
        </p:txBody>
      </p:sp>
      <p:sp>
        <p:nvSpPr>
          <p:cNvPr id="15" name="Text 11"/>
          <p:cNvSpPr txBox="1"/>
          <p:nvPr/>
        </p:nvSpPr>
        <p:spPr>
          <a:xfrm>
            <a:off x="7955280" y="1874520"/>
            <a:ext cx="3566160" cy="5486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Each extra wholesale riyal earns about 12 piasters.</a:t>
            </a:r>
            <a:endParaRPr lang="en-US" sz="1200" dirty="0"/>
          </a:p>
        </p:txBody>
      </p:sp>
      <p:sp>
        <p:nvSpPr>
          <p:cNvPr id="16" name="Shape 12"/>
          <p:cNvSpPr/>
          <p:nvPr/>
        </p:nvSpPr>
        <p:spPr>
          <a:xfrm>
            <a:off x="457200" y="2532888"/>
            <a:ext cx="11247120" cy="822960"/>
          </a:xfrm>
          <a:prstGeom prst="roundRect">
            <a:avLst>
              <a:gd name="adj" fmla="val 8889"/>
            </a:avLst>
          </a:prstGeom>
          <a:solidFill>
            <a:srgbClr val="0A1F3A"/>
          </a:solidFill>
          <a:ln w="12700">
            <a:solidFill>
              <a:srgbClr val="17406E"/>
            </a:solidFill>
            <a:prstDash val="solid"/>
          </a:ln>
        </p:spPr>
      </p:sp>
      <p:sp>
        <p:nvSpPr>
          <p:cNvPr id="17" name="Shape 13"/>
          <p:cNvSpPr/>
          <p:nvPr/>
        </p:nvSpPr>
        <p:spPr>
          <a:xfrm>
            <a:off x="457200" y="2642616"/>
            <a:ext cx="64008" cy="603504"/>
          </a:xfrm>
          <a:prstGeom prst="rect">
            <a:avLst/>
          </a:prstGeom>
          <a:solidFill>
            <a:srgbClr val="22D3EE"/>
          </a:solidFill>
          <a:ln/>
        </p:spPr>
      </p:sp>
      <p:sp>
        <p:nvSpPr>
          <p:cNvPr id="18" name="Text 14"/>
          <p:cNvSpPr txBox="1"/>
          <p:nvPr/>
        </p:nvSpPr>
        <p:spPr>
          <a:xfrm>
            <a:off x="731520" y="2624328"/>
            <a:ext cx="2286000" cy="640080"/>
          </a:xfrm>
          <a:prstGeom prst="rect">
            <a:avLst/>
          </a:prstGeom>
          <a:noFill/>
          <a:ln/>
        </p:spPr>
        <p:txBody>
          <a:bodyPr wrap="square" lIns="0" tIns="0" rIns="0" bIns="0" rtlCol="0" anchor="ctr"/>
          <a:lstStyle/>
          <a:p>
            <a:pPr indent="0" marL="0">
              <a:buNone/>
            </a:pPr>
            <a:r>
              <a:rPr lang="en-US" sz="1200" b="1" dirty="0">
                <a:solidFill>
                  <a:srgbClr val="22D3EE"/>
                </a:solidFill>
                <a:latin typeface="Calibri" pitchFamily="34" charset="0"/>
                <a:ea typeface="Calibri" pitchFamily="34" charset="-122"/>
                <a:cs typeface="Calibri" pitchFamily="34" charset="-120"/>
              </a:rPr>
              <a:t>CUSTOMERS</a:t>
            </a:r>
            <a:endParaRPr lang="en-US" sz="1200" dirty="0"/>
          </a:p>
        </p:txBody>
      </p:sp>
      <p:sp>
        <p:nvSpPr>
          <p:cNvPr id="19" name="Text 15"/>
          <p:cNvSpPr txBox="1"/>
          <p:nvPr/>
        </p:nvSpPr>
        <p:spPr>
          <a:xfrm>
            <a:off x="3108960" y="2606040"/>
            <a:ext cx="3657600" cy="182880"/>
          </a:xfrm>
          <a:prstGeom prst="rect">
            <a:avLst/>
          </a:prstGeom>
          <a:noFill/>
          <a:ln/>
        </p:spPr>
        <p:txBody>
          <a:bodyPr wrap="square" lIns="0" tIns="0" rIns="0" bIns="0" rtlCol="0" anchor="t"/>
          <a:lstStyle/>
          <a:p>
            <a:pPr indent="0" marL="0">
              <a:buNone/>
            </a:pPr>
            <a:r>
              <a:rPr lang="en-US" sz="900" b="1" dirty="0">
                <a:solidFill>
                  <a:srgbClr val="A9B8D0"/>
                </a:solidFill>
                <a:latin typeface="Calibri" pitchFamily="34" charset="0"/>
                <a:ea typeface="Calibri" pitchFamily="34" charset="-122"/>
                <a:cs typeface="Calibri" pitchFamily="34" charset="-120"/>
              </a:rPr>
              <a:t>WHAT'S HAPPENING</a:t>
            </a:r>
            <a:endParaRPr lang="en-US" sz="900" dirty="0"/>
          </a:p>
        </p:txBody>
      </p:sp>
      <p:sp>
        <p:nvSpPr>
          <p:cNvPr id="20" name="Text 16"/>
          <p:cNvSpPr txBox="1"/>
          <p:nvPr/>
        </p:nvSpPr>
        <p:spPr>
          <a:xfrm>
            <a:off x="3108960" y="2807208"/>
            <a:ext cx="4572000" cy="5486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Retail repeat rate 83.5%, but next-quarter retention of new cohorts fell from 91% to ~44%.</a:t>
            </a:r>
            <a:endParaRPr lang="en-US" sz="1200" dirty="0"/>
          </a:p>
        </p:txBody>
      </p:sp>
      <p:sp>
        <p:nvSpPr>
          <p:cNvPr id="21" name="Text 17"/>
          <p:cNvSpPr txBox="1"/>
          <p:nvPr/>
        </p:nvSpPr>
        <p:spPr>
          <a:xfrm>
            <a:off x="7955280" y="2606040"/>
            <a:ext cx="3657600" cy="182880"/>
          </a:xfrm>
          <a:prstGeom prst="rect">
            <a:avLst/>
          </a:prstGeom>
          <a:noFill/>
          <a:ln/>
        </p:spPr>
        <p:txBody>
          <a:bodyPr wrap="square" lIns="0" tIns="0" rIns="0" bIns="0" rtlCol="0" anchor="t"/>
          <a:lstStyle/>
          <a:p>
            <a:pPr indent="0" marL="0">
              <a:buNone/>
            </a:pPr>
            <a:r>
              <a:rPr lang="en-US" sz="900" b="1" dirty="0">
                <a:solidFill>
                  <a:srgbClr val="A9B8D0"/>
                </a:solidFill>
                <a:latin typeface="Calibri" pitchFamily="34" charset="0"/>
                <a:ea typeface="Calibri" pitchFamily="34" charset="-122"/>
                <a:cs typeface="Calibri" pitchFamily="34" charset="-120"/>
              </a:rPr>
              <a:t>WHY IT MATTERS</a:t>
            </a:r>
            <a:endParaRPr lang="en-US" sz="900" dirty="0"/>
          </a:p>
        </p:txBody>
      </p:sp>
      <p:sp>
        <p:nvSpPr>
          <p:cNvPr id="22" name="Text 18"/>
          <p:cNvSpPr txBox="1"/>
          <p:nvPr/>
        </p:nvSpPr>
        <p:spPr>
          <a:xfrm>
            <a:off x="7955280" y="2807208"/>
            <a:ext cx="3566160" cy="5486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Recent customers re-buy far less than early ones.</a:t>
            </a:r>
            <a:endParaRPr lang="en-US" sz="1200" dirty="0"/>
          </a:p>
        </p:txBody>
      </p:sp>
      <p:sp>
        <p:nvSpPr>
          <p:cNvPr id="23" name="Shape 19"/>
          <p:cNvSpPr/>
          <p:nvPr/>
        </p:nvSpPr>
        <p:spPr>
          <a:xfrm>
            <a:off x="457200" y="3465576"/>
            <a:ext cx="11247120" cy="822960"/>
          </a:xfrm>
          <a:prstGeom prst="roundRect">
            <a:avLst>
              <a:gd name="adj" fmla="val 8889"/>
            </a:avLst>
          </a:prstGeom>
          <a:solidFill>
            <a:srgbClr val="0A1F3A"/>
          </a:solidFill>
          <a:ln w="12700">
            <a:solidFill>
              <a:srgbClr val="17406E"/>
            </a:solidFill>
            <a:prstDash val="solid"/>
          </a:ln>
        </p:spPr>
      </p:sp>
      <p:sp>
        <p:nvSpPr>
          <p:cNvPr id="24" name="Shape 20"/>
          <p:cNvSpPr/>
          <p:nvPr/>
        </p:nvSpPr>
        <p:spPr>
          <a:xfrm>
            <a:off x="457200" y="3575304"/>
            <a:ext cx="64008" cy="603504"/>
          </a:xfrm>
          <a:prstGeom prst="rect">
            <a:avLst/>
          </a:prstGeom>
          <a:solidFill>
            <a:srgbClr val="3B82F6"/>
          </a:solidFill>
          <a:ln/>
        </p:spPr>
      </p:sp>
      <p:sp>
        <p:nvSpPr>
          <p:cNvPr id="25" name="Text 21"/>
          <p:cNvSpPr txBox="1"/>
          <p:nvPr/>
        </p:nvSpPr>
        <p:spPr>
          <a:xfrm>
            <a:off x="731520" y="3557016"/>
            <a:ext cx="2286000" cy="640080"/>
          </a:xfrm>
          <a:prstGeom prst="rect">
            <a:avLst/>
          </a:prstGeom>
          <a:noFill/>
          <a:ln/>
        </p:spPr>
        <p:txBody>
          <a:bodyPr wrap="square" lIns="0" tIns="0" rIns="0" bIns="0" rtlCol="0" anchor="ctr"/>
          <a:lstStyle/>
          <a:p>
            <a:pPr indent="0" marL="0">
              <a:buNone/>
            </a:pPr>
            <a:r>
              <a:rPr lang="en-US" sz="1200" b="1" dirty="0">
                <a:solidFill>
                  <a:srgbClr val="3B82F6"/>
                </a:solidFill>
                <a:latin typeface="Calibri" pitchFamily="34" charset="0"/>
                <a:ea typeface="Calibri" pitchFamily="34" charset="-122"/>
                <a:cs typeface="Calibri" pitchFamily="34" charset="-120"/>
              </a:rPr>
              <a:t>OPERATIONS</a:t>
            </a:r>
            <a:endParaRPr lang="en-US" sz="1200" dirty="0"/>
          </a:p>
        </p:txBody>
      </p:sp>
      <p:sp>
        <p:nvSpPr>
          <p:cNvPr id="26" name="Text 22"/>
          <p:cNvSpPr txBox="1"/>
          <p:nvPr/>
        </p:nvSpPr>
        <p:spPr>
          <a:xfrm>
            <a:off x="3108960" y="3538728"/>
            <a:ext cx="3657600" cy="182880"/>
          </a:xfrm>
          <a:prstGeom prst="rect">
            <a:avLst/>
          </a:prstGeom>
          <a:noFill/>
          <a:ln/>
        </p:spPr>
        <p:txBody>
          <a:bodyPr wrap="square" lIns="0" tIns="0" rIns="0" bIns="0" rtlCol="0" anchor="t"/>
          <a:lstStyle/>
          <a:p>
            <a:pPr indent="0" marL="0">
              <a:buNone/>
            </a:pPr>
            <a:r>
              <a:rPr lang="en-US" sz="900" b="1" dirty="0">
                <a:solidFill>
                  <a:srgbClr val="A9B8D0"/>
                </a:solidFill>
                <a:latin typeface="Calibri" pitchFamily="34" charset="0"/>
                <a:ea typeface="Calibri" pitchFamily="34" charset="-122"/>
                <a:cs typeface="Calibri" pitchFamily="34" charset="-120"/>
              </a:rPr>
              <a:t>WHAT'S HAPPENING</a:t>
            </a:r>
            <a:endParaRPr lang="en-US" sz="900" dirty="0"/>
          </a:p>
        </p:txBody>
      </p:sp>
      <p:sp>
        <p:nvSpPr>
          <p:cNvPr id="27" name="Text 23"/>
          <p:cNvSpPr txBox="1"/>
          <p:nvPr/>
        </p:nvSpPr>
        <p:spPr>
          <a:xfrm>
            <a:off x="3108960" y="3739896"/>
            <a:ext cx="4572000" cy="5486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Wholesale: 36 of 59 SKUs below reorder point. Retail/online: EGP 7.5M excess stock.</a:t>
            </a:r>
            <a:endParaRPr lang="en-US" sz="1200" dirty="0"/>
          </a:p>
        </p:txBody>
      </p:sp>
      <p:sp>
        <p:nvSpPr>
          <p:cNvPr id="28" name="Text 24"/>
          <p:cNvSpPr txBox="1"/>
          <p:nvPr/>
        </p:nvSpPr>
        <p:spPr>
          <a:xfrm>
            <a:off x="7955280" y="3538728"/>
            <a:ext cx="3657600" cy="182880"/>
          </a:xfrm>
          <a:prstGeom prst="rect">
            <a:avLst/>
          </a:prstGeom>
          <a:noFill/>
          <a:ln/>
        </p:spPr>
        <p:txBody>
          <a:bodyPr wrap="square" lIns="0" tIns="0" rIns="0" bIns="0" rtlCol="0" anchor="t"/>
          <a:lstStyle/>
          <a:p>
            <a:pPr indent="0" marL="0">
              <a:buNone/>
            </a:pPr>
            <a:r>
              <a:rPr lang="en-US" sz="900" b="1" dirty="0">
                <a:solidFill>
                  <a:srgbClr val="A9B8D0"/>
                </a:solidFill>
                <a:latin typeface="Calibri" pitchFamily="34" charset="0"/>
                <a:ea typeface="Calibri" pitchFamily="34" charset="-122"/>
                <a:cs typeface="Calibri" pitchFamily="34" charset="-120"/>
              </a:rPr>
              <a:t>WHY IT MATTERS</a:t>
            </a:r>
            <a:endParaRPr lang="en-US" sz="900" dirty="0"/>
          </a:p>
        </p:txBody>
      </p:sp>
      <p:sp>
        <p:nvSpPr>
          <p:cNvPr id="29" name="Text 25"/>
          <p:cNvSpPr txBox="1"/>
          <p:nvPr/>
        </p:nvSpPr>
        <p:spPr>
          <a:xfrm>
            <a:off x="7955280" y="3739896"/>
            <a:ext cx="3566160" cy="5486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Stockouts and tied-up cash at the same time.</a:t>
            </a:r>
            <a:endParaRPr lang="en-US" sz="1200" dirty="0"/>
          </a:p>
        </p:txBody>
      </p:sp>
      <p:sp>
        <p:nvSpPr>
          <p:cNvPr id="30" name="Shape 26"/>
          <p:cNvSpPr/>
          <p:nvPr/>
        </p:nvSpPr>
        <p:spPr>
          <a:xfrm>
            <a:off x="457200" y="4398264"/>
            <a:ext cx="11247120" cy="822960"/>
          </a:xfrm>
          <a:prstGeom prst="roundRect">
            <a:avLst>
              <a:gd name="adj" fmla="val 8889"/>
            </a:avLst>
          </a:prstGeom>
          <a:solidFill>
            <a:srgbClr val="0A1F3A"/>
          </a:solidFill>
          <a:ln w="12700">
            <a:solidFill>
              <a:srgbClr val="17406E"/>
            </a:solidFill>
            <a:prstDash val="solid"/>
          </a:ln>
        </p:spPr>
      </p:sp>
      <p:sp>
        <p:nvSpPr>
          <p:cNvPr id="31" name="Shape 27"/>
          <p:cNvSpPr/>
          <p:nvPr/>
        </p:nvSpPr>
        <p:spPr>
          <a:xfrm>
            <a:off x="457200" y="4507992"/>
            <a:ext cx="64008" cy="603504"/>
          </a:xfrm>
          <a:prstGeom prst="rect">
            <a:avLst/>
          </a:prstGeom>
          <a:solidFill>
            <a:srgbClr val="F87171"/>
          </a:solidFill>
          <a:ln/>
        </p:spPr>
      </p:sp>
      <p:sp>
        <p:nvSpPr>
          <p:cNvPr id="32" name="Text 28"/>
          <p:cNvSpPr txBox="1"/>
          <p:nvPr/>
        </p:nvSpPr>
        <p:spPr>
          <a:xfrm>
            <a:off x="731520" y="4489704"/>
            <a:ext cx="2286000" cy="640080"/>
          </a:xfrm>
          <a:prstGeom prst="rect">
            <a:avLst/>
          </a:prstGeom>
          <a:noFill/>
          <a:ln/>
        </p:spPr>
        <p:txBody>
          <a:bodyPr wrap="square" lIns="0" tIns="0" rIns="0" bIns="0" rtlCol="0" anchor="ctr"/>
          <a:lstStyle/>
          <a:p>
            <a:pPr indent="0" marL="0">
              <a:buNone/>
            </a:pPr>
            <a:r>
              <a:rPr lang="en-US" sz="1200" b="1" dirty="0">
                <a:solidFill>
                  <a:srgbClr val="F87171"/>
                </a:solidFill>
                <a:latin typeface="Calibri" pitchFamily="34" charset="0"/>
                <a:ea typeface="Calibri" pitchFamily="34" charset="-122"/>
                <a:cs typeface="Calibri" pitchFamily="34" charset="-120"/>
              </a:rPr>
              <a:t>SUPPLY CHAIN &amp; QUALITY</a:t>
            </a:r>
            <a:endParaRPr lang="en-US" sz="1200" dirty="0"/>
          </a:p>
        </p:txBody>
      </p:sp>
      <p:sp>
        <p:nvSpPr>
          <p:cNvPr id="33" name="Text 29"/>
          <p:cNvSpPr txBox="1"/>
          <p:nvPr/>
        </p:nvSpPr>
        <p:spPr>
          <a:xfrm>
            <a:off x="3108960" y="4471416"/>
            <a:ext cx="3657600" cy="182880"/>
          </a:xfrm>
          <a:prstGeom prst="rect">
            <a:avLst/>
          </a:prstGeom>
          <a:noFill/>
          <a:ln/>
        </p:spPr>
        <p:txBody>
          <a:bodyPr wrap="square" lIns="0" tIns="0" rIns="0" bIns="0" rtlCol="0" anchor="t"/>
          <a:lstStyle/>
          <a:p>
            <a:pPr indent="0" marL="0">
              <a:buNone/>
            </a:pPr>
            <a:r>
              <a:rPr lang="en-US" sz="900" b="1" dirty="0">
                <a:solidFill>
                  <a:srgbClr val="A9B8D0"/>
                </a:solidFill>
                <a:latin typeface="Calibri" pitchFamily="34" charset="0"/>
                <a:ea typeface="Calibri" pitchFamily="34" charset="-122"/>
                <a:cs typeface="Calibri" pitchFamily="34" charset="-120"/>
              </a:rPr>
              <a:t>WHAT'S HAPPENING</a:t>
            </a:r>
            <a:endParaRPr lang="en-US" sz="900" dirty="0"/>
          </a:p>
        </p:txBody>
      </p:sp>
      <p:sp>
        <p:nvSpPr>
          <p:cNvPr id="34" name="Text 30"/>
          <p:cNvSpPr txBox="1"/>
          <p:nvPr/>
        </p:nvSpPr>
        <p:spPr>
          <a:xfrm>
            <a:off x="3108960" y="4672584"/>
            <a:ext cx="4572000" cy="5486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SUP04 &amp; SUP09 on-time fell ~65% to ~15% in 2025. Cost of poor quality EGP 20.3M.</a:t>
            </a:r>
            <a:endParaRPr lang="en-US" sz="1200" dirty="0"/>
          </a:p>
        </p:txBody>
      </p:sp>
      <p:sp>
        <p:nvSpPr>
          <p:cNvPr id="35" name="Text 31"/>
          <p:cNvSpPr txBox="1"/>
          <p:nvPr/>
        </p:nvSpPr>
        <p:spPr>
          <a:xfrm>
            <a:off x="7955280" y="4471416"/>
            <a:ext cx="3657600" cy="182880"/>
          </a:xfrm>
          <a:prstGeom prst="rect">
            <a:avLst/>
          </a:prstGeom>
          <a:noFill/>
          <a:ln/>
        </p:spPr>
        <p:txBody>
          <a:bodyPr wrap="square" lIns="0" tIns="0" rIns="0" bIns="0" rtlCol="0" anchor="t"/>
          <a:lstStyle/>
          <a:p>
            <a:pPr indent="0" marL="0">
              <a:buNone/>
            </a:pPr>
            <a:r>
              <a:rPr lang="en-US" sz="900" b="1" dirty="0">
                <a:solidFill>
                  <a:srgbClr val="A9B8D0"/>
                </a:solidFill>
                <a:latin typeface="Calibri" pitchFamily="34" charset="0"/>
                <a:ea typeface="Calibri" pitchFamily="34" charset="-122"/>
                <a:cs typeface="Calibri" pitchFamily="34" charset="-120"/>
              </a:rPr>
              <a:t>WHY IT MATTERS</a:t>
            </a:r>
            <a:endParaRPr lang="en-US" sz="900" dirty="0"/>
          </a:p>
        </p:txBody>
      </p:sp>
      <p:sp>
        <p:nvSpPr>
          <p:cNvPr id="36" name="Text 32"/>
          <p:cNvSpPr txBox="1"/>
          <p:nvPr/>
        </p:nvSpPr>
        <p:spPr>
          <a:xfrm>
            <a:off x="7955280" y="4672584"/>
            <a:ext cx="3566160" cy="5486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Supplier risk is rising; quality loss equals 31% of gross profit.</a:t>
            </a:r>
            <a:endParaRPr lang="en-US" sz="1200" dirty="0"/>
          </a:p>
        </p:txBody>
      </p:sp>
      <p:sp>
        <p:nvSpPr>
          <p:cNvPr id="37" name="Shape 33"/>
          <p:cNvSpPr/>
          <p:nvPr/>
        </p:nvSpPr>
        <p:spPr>
          <a:xfrm>
            <a:off x="457200" y="5330952"/>
            <a:ext cx="11247120" cy="822960"/>
          </a:xfrm>
          <a:prstGeom prst="roundRect">
            <a:avLst>
              <a:gd name="adj" fmla="val 8889"/>
            </a:avLst>
          </a:prstGeom>
          <a:solidFill>
            <a:srgbClr val="0A1F3A"/>
          </a:solidFill>
          <a:ln w="12700">
            <a:solidFill>
              <a:srgbClr val="17406E"/>
            </a:solidFill>
            <a:prstDash val="solid"/>
          </a:ln>
        </p:spPr>
      </p:sp>
      <p:sp>
        <p:nvSpPr>
          <p:cNvPr id="38" name="Shape 34"/>
          <p:cNvSpPr/>
          <p:nvPr/>
        </p:nvSpPr>
        <p:spPr>
          <a:xfrm>
            <a:off x="457200" y="5440680"/>
            <a:ext cx="64008" cy="603504"/>
          </a:xfrm>
          <a:prstGeom prst="rect">
            <a:avLst/>
          </a:prstGeom>
          <a:solidFill>
            <a:srgbClr val="A78BFA"/>
          </a:solidFill>
          <a:ln/>
        </p:spPr>
      </p:sp>
      <p:sp>
        <p:nvSpPr>
          <p:cNvPr id="39" name="Text 35"/>
          <p:cNvSpPr txBox="1"/>
          <p:nvPr/>
        </p:nvSpPr>
        <p:spPr>
          <a:xfrm>
            <a:off x="731520" y="5422392"/>
            <a:ext cx="2286000" cy="640080"/>
          </a:xfrm>
          <a:prstGeom prst="rect">
            <a:avLst/>
          </a:prstGeom>
          <a:noFill/>
          <a:ln/>
        </p:spPr>
        <p:txBody>
          <a:bodyPr wrap="square" lIns="0" tIns="0" rIns="0" bIns="0" rtlCol="0" anchor="ctr"/>
          <a:lstStyle/>
          <a:p>
            <a:pPr indent="0" marL="0">
              <a:buNone/>
            </a:pPr>
            <a:r>
              <a:rPr lang="en-US" sz="1200" b="1" dirty="0">
                <a:solidFill>
                  <a:srgbClr val="A78BFA"/>
                </a:solidFill>
                <a:latin typeface="Calibri" pitchFamily="34" charset="0"/>
                <a:ea typeface="Calibri" pitchFamily="34" charset="-122"/>
                <a:cs typeface="Calibri" pitchFamily="34" charset="-120"/>
              </a:rPr>
              <a:t>MARKETING</a:t>
            </a:r>
            <a:endParaRPr lang="en-US" sz="1200" dirty="0"/>
          </a:p>
        </p:txBody>
      </p:sp>
      <p:sp>
        <p:nvSpPr>
          <p:cNvPr id="40" name="Text 36"/>
          <p:cNvSpPr txBox="1"/>
          <p:nvPr/>
        </p:nvSpPr>
        <p:spPr>
          <a:xfrm>
            <a:off x="3108960" y="5404104"/>
            <a:ext cx="3657600" cy="182880"/>
          </a:xfrm>
          <a:prstGeom prst="rect">
            <a:avLst/>
          </a:prstGeom>
          <a:noFill/>
          <a:ln/>
        </p:spPr>
        <p:txBody>
          <a:bodyPr wrap="square" lIns="0" tIns="0" rIns="0" bIns="0" rtlCol="0" anchor="t"/>
          <a:lstStyle/>
          <a:p>
            <a:pPr indent="0" marL="0">
              <a:buNone/>
            </a:pPr>
            <a:r>
              <a:rPr lang="en-US" sz="900" b="1" dirty="0">
                <a:solidFill>
                  <a:srgbClr val="A9B8D0"/>
                </a:solidFill>
                <a:latin typeface="Calibri" pitchFamily="34" charset="0"/>
                <a:ea typeface="Calibri" pitchFamily="34" charset="-122"/>
                <a:cs typeface="Calibri" pitchFamily="34" charset="-120"/>
              </a:rPr>
              <a:t>WHAT'S HAPPENING</a:t>
            </a:r>
            <a:endParaRPr lang="en-US" sz="900" dirty="0"/>
          </a:p>
        </p:txBody>
      </p:sp>
      <p:sp>
        <p:nvSpPr>
          <p:cNvPr id="41" name="Text 37"/>
          <p:cNvSpPr txBox="1"/>
          <p:nvPr/>
        </p:nvSpPr>
        <p:spPr>
          <a:xfrm>
            <a:off x="3108960" y="5605272"/>
            <a:ext cx="4572000" cy="5486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CRM 67x, Google 10x, Meta 4.4x, Influencer 1.1x reported ROAS.</a:t>
            </a:r>
            <a:endParaRPr lang="en-US" sz="1200" dirty="0"/>
          </a:p>
        </p:txBody>
      </p:sp>
      <p:sp>
        <p:nvSpPr>
          <p:cNvPr id="42" name="Text 38"/>
          <p:cNvSpPr txBox="1"/>
          <p:nvPr/>
        </p:nvSpPr>
        <p:spPr>
          <a:xfrm>
            <a:off x="7955280" y="5404104"/>
            <a:ext cx="3657600" cy="182880"/>
          </a:xfrm>
          <a:prstGeom prst="rect">
            <a:avLst/>
          </a:prstGeom>
          <a:noFill/>
          <a:ln/>
        </p:spPr>
        <p:txBody>
          <a:bodyPr wrap="square" lIns="0" tIns="0" rIns="0" bIns="0" rtlCol="0" anchor="t"/>
          <a:lstStyle/>
          <a:p>
            <a:pPr indent="0" marL="0">
              <a:buNone/>
            </a:pPr>
            <a:r>
              <a:rPr lang="en-US" sz="900" b="1" dirty="0">
                <a:solidFill>
                  <a:srgbClr val="A9B8D0"/>
                </a:solidFill>
                <a:latin typeface="Calibri" pitchFamily="34" charset="0"/>
                <a:ea typeface="Calibri" pitchFamily="34" charset="-122"/>
                <a:cs typeface="Calibri" pitchFamily="34" charset="-120"/>
              </a:rPr>
              <a:t>WHY IT MATTERS</a:t>
            </a:r>
            <a:endParaRPr lang="en-US" sz="900" dirty="0"/>
          </a:p>
        </p:txBody>
      </p:sp>
      <p:sp>
        <p:nvSpPr>
          <p:cNvPr id="43" name="Text 39"/>
          <p:cNvSpPr txBox="1"/>
          <p:nvPr/>
        </p:nvSpPr>
        <p:spPr>
          <a:xfrm>
            <a:off x="7955280" y="5605272"/>
            <a:ext cx="3566160" cy="5486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Attributed revenue is 5.5x actual online sales: rank, don't trust absolutes.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22D3EE"/>
                </a:solidFill>
                <a:latin typeface="Calibri" pitchFamily="34" charset="0"/>
                <a:ea typeface="Calibri" pitchFamily="34" charset="-122"/>
                <a:cs typeface="Calibri" pitchFamily="34" charset="-120"/>
              </a:rPr>
              <a:t>CHANNEL ECONOMICS</a:t>
            </a:r>
            <a:endParaRPr lang="en-US" sz="1100" dirty="0"/>
          </a:p>
        </p:txBody>
      </p:sp>
      <p:sp>
        <p:nvSpPr>
          <p:cNvPr id="4" name="Text 2"/>
          <p:cNvSpPr txBox="1"/>
          <p:nvPr/>
        </p:nvSpPr>
        <p:spPr>
          <a:xfrm>
            <a:off x="457200" y="566928"/>
            <a:ext cx="11247120" cy="868680"/>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Wholesale drives 85% of revenue - but Retail and Online earn three times the margin</a:t>
            </a:r>
            <a:endParaRPr lang="en-US" sz="2600" dirty="0"/>
          </a:p>
        </p:txBody>
      </p:sp>
      <p:pic>
        <p:nvPicPr>
          <p:cNvPr id="5" name="Image 0" descr="logo.png">    </p:cNvPr>
          <p:cNvPicPr>
            <a:picLocks noChangeAspect="1"/>
          </p:cNvPicPr>
          <p:nvPr/>
        </p:nvPicPr>
        <p:blipFill>
          <a:blip r:embed="rId1"/>
          <a:stretch>
            <a:fillRect/>
          </a:stretch>
        </p:blipFill>
        <p:spPr>
          <a:xfrm>
            <a:off x="457200" y="6400800"/>
            <a:ext cx="868680" cy="365760"/>
          </a:xfrm>
          <a:prstGeom prst="rect">
            <a:avLst/>
          </a:prstGeom>
        </p:spPr>
      </p:pic>
      <p:sp>
        <p:nvSpPr>
          <p:cNvPr id="6" name="Text 3"/>
          <p:cNvSpPr txBox="1"/>
          <p:nvPr/>
        </p:nvSpPr>
        <p:spPr>
          <a:xfrm>
            <a:off x="1554480" y="6419088"/>
            <a:ext cx="9418320" cy="329184"/>
          </a:xfrm>
          <a:prstGeom prst="rect">
            <a:avLst/>
          </a:prstGeom>
          <a:noFill/>
          <a:ln/>
        </p:spPr>
        <p:txBody>
          <a:bodyPr wrap="square" lIns="0" tIns="0" rIns="0" bIns="0" rtlCol="0" anchor="ctr"/>
          <a:lstStyle/>
          <a:p>
            <a:pPr indent="0" marL="0">
              <a:buNone/>
            </a:pPr>
            <a:r>
              <a:rPr lang="en-US" sz="1000" dirty="0">
                <a:solidFill>
                  <a:srgbClr val="A9B8D0"/>
                </a:solidFill>
                <a:latin typeface="Calibri" pitchFamily="34" charset="0"/>
                <a:ea typeface="Calibri" pitchFamily="34" charset="-122"/>
                <a:cs typeface="Calibri" pitchFamily="34" charset="-120"/>
              </a:rPr>
              <a:t>Scope: Oct 2023 - Sep 2026. Growth = FY26 vs FY24 net sales. Gross profit uses estimated COGS (unit cost ~EGP 214 in all channels).</a:t>
            </a:r>
            <a:endParaRPr lang="en-US" sz="1000" dirty="0"/>
          </a:p>
        </p:txBody>
      </p:sp>
      <p:sp>
        <p:nvSpPr>
          <p:cNvPr id="7" name="Text 4"/>
          <p:cNvSpPr txBox="1"/>
          <p:nvPr/>
        </p:nvSpPr>
        <p:spPr>
          <a:xfrm>
            <a:off x="11247120" y="6419088"/>
            <a:ext cx="548640" cy="329184"/>
          </a:xfrm>
          <a:prstGeom prst="rect">
            <a:avLst/>
          </a:prstGeom>
          <a:noFill/>
          <a:ln/>
        </p:spPr>
        <p:txBody>
          <a:bodyPr wrap="square" lIns="0" tIns="0" rIns="0" bIns="0" rtlCol="0" anchor="ctr"/>
          <a:lstStyle/>
          <a:p>
            <a:pPr algn="r" indent="0" marL="0">
              <a:buNone/>
            </a:pPr>
            <a:r>
              <a:rPr lang="en-US" sz="1000" dirty="0">
                <a:solidFill>
                  <a:srgbClr val="A9B8D0"/>
                </a:solidFill>
                <a:latin typeface="Calibri" pitchFamily="34" charset="0"/>
                <a:ea typeface="Calibri" pitchFamily="34" charset="-122"/>
                <a:cs typeface="Calibri" pitchFamily="34" charset="-120"/>
              </a:rPr>
              <a:t>4</a:t>
            </a:r>
            <a:endParaRPr lang="en-US" sz="1000" dirty="0"/>
          </a:p>
        </p:txBody>
      </p:sp>
      <p:graphicFrame>
        <p:nvGraphicFramePr>
          <p:cNvPr id="9" name="Chart 0" descr=""/>
          <p:cNvGraphicFramePr/>
          <p:nvPr/>
        </p:nvGraphicFramePr>
        <p:xfrm>
          <a:off x="457200" y="1554480"/>
          <a:ext cx="5120640" cy="4480560"/>
        </p:xfrm>
        <a:graphic xmlns:a="http://schemas.openxmlformats.org/drawingml/2006/main">
          <a:graphicData uri="http://schemas.openxmlformats.org/drawingml/2006/chart">
            <c:chart xmlns:c="http://schemas.openxmlformats.org/drawingml/2006/chart" r:id="rId2"/>
          </a:graphicData>
        </a:graphic>
      </p:graphicFrame>
      <p:sp>
        <p:nvSpPr>
          <p:cNvPr id="10" name="Shape 5"/>
          <p:cNvSpPr/>
          <p:nvPr/>
        </p:nvSpPr>
        <p:spPr>
          <a:xfrm>
            <a:off x="5943600" y="1554480"/>
            <a:ext cx="5760720" cy="1371600"/>
          </a:xfrm>
          <a:prstGeom prst="roundRect">
            <a:avLst>
              <a:gd name="adj" fmla="val 5333"/>
            </a:avLst>
          </a:prstGeom>
          <a:solidFill>
            <a:srgbClr val="0A1F3A"/>
          </a:solidFill>
          <a:ln w="12700">
            <a:solidFill>
              <a:srgbClr val="3B82F6"/>
            </a:solidFill>
            <a:prstDash val="solid"/>
          </a:ln>
        </p:spPr>
      </p:sp>
      <p:sp>
        <p:nvSpPr>
          <p:cNvPr id="11" name="Text 6"/>
          <p:cNvSpPr txBox="1"/>
          <p:nvPr/>
        </p:nvSpPr>
        <p:spPr>
          <a:xfrm>
            <a:off x="6126480" y="1664208"/>
            <a:ext cx="2743200" cy="274320"/>
          </a:xfrm>
          <a:prstGeom prst="rect">
            <a:avLst/>
          </a:prstGeom>
          <a:noFill/>
          <a:ln/>
        </p:spPr>
        <p:txBody>
          <a:bodyPr wrap="square" lIns="0" tIns="0" rIns="0" bIns="0" rtlCol="0" anchor="t"/>
          <a:lstStyle/>
          <a:p>
            <a:pPr indent="0" marL="0">
              <a:buNone/>
            </a:pPr>
            <a:r>
              <a:rPr lang="en-US" sz="1200" b="1" dirty="0">
                <a:solidFill>
                  <a:srgbClr val="3B82F6"/>
                </a:solidFill>
                <a:latin typeface="Calibri" pitchFamily="34" charset="0"/>
                <a:ea typeface="Calibri" pitchFamily="34" charset="-122"/>
                <a:cs typeface="Calibri" pitchFamily="34" charset="-120"/>
              </a:rPr>
              <a:t>WHOLESALE</a:t>
            </a:r>
            <a:endParaRPr lang="en-US" sz="1200" dirty="0"/>
          </a:p>
        </p:txBody>
      </p:sp>
      <p:sp>
        <p:nvSpPr>
          <p:cNvPr id="12" name="Text 7"/>
          <p:cNvSpPr txBox="1"/>
          <p:nvPr/>
        </p:nvSpPr>
        <p:spPr>
          <a:xfrm>
            <a:off x="6126480" y="2011680"/>
            <a:ext cx="5486400" cy="274320"/>
          </a:xfrm>
          <a:prstGeom prst="rect">
            <a:avLst/>
          </a:prstGeom>
          <a:noFill/>
          <a:ln/>
        </p:spPr>
        <p:txBody>
          <a:bodyPr wrap="square" lIns="0" tIns="0" rIns="0" bIns="0" rtlCol="0" anchor="t"/>
          <a:lstStyle/>
          <a:p>
            <a:pPr indent="0" marL="0">
              <a:buNone/>
            </a:pPr>
            <a:r>
              <a:rPr lang="en-US" sz="1100" dirty="0">
                <a:solidFill>
                  <a:srgbClr val="A9B8D0"/>
                </a:solidFill>
                <a:latin typeface="Calibri" pitchFamily="34" charset="0"/>
                <a:ea typeface="Calibri" pitchFamily="34" charset="-122"/>
                <a:cs typeface="Calibri" pitchFamily="34" charset="-120"/>
              </a:rPr>
              <a:t>Sales  </a:t>
            </a:r>
            <a:pPr indent="0" marL="0">
              <a:buNone/>
            </a:pPr>
            <a:r>
              <a:rPr lang="en-US" sz="1400" b="1" dirty="0">
                <a:solidFill>
                  <a:srgbClr val="FFFFFF"/>
                </a:solidFill>
                <a:latin typeface="Calibri" pitchFamily="34" charset="0"/>
                <a:ea typeface="Calibri" pitchFamily="34" charset="-122"/>
                <a:cs typeface="Calibri" pitchFamily="34" charset="-120"/>
              </a:rPr>
              <a:t>EGP 359.4M  (85%)</a:t>
            </a:r>
            <a:endParaRPr lang="en-US" sz="1400" dirty="0"/>
          </a:p>
        </p:txBody>
      </p:sp>
      <p:sp>
        <p:nvSpPr>
          <p:cNvPr id="13" name="Text 8"/>
          <p:cNvSpPr txBox="1"/>
          <p:nvPr/>
        </p:nvSpPr>
        <p:spPr>
          <a:xfrm>
            <a:off x="6126480" y="2304288"/>
            <a:ext cx="5486400" cy="274320"/>
          </a:xfrm>
          <a:prstGeom prst="rect">
            <a:avLst/>
          </a:prstGeom>
          <a:noFill/>
          <a:ln/>
        </p:spPr>
        <p:txBody>
          <a:bodyPr wrap="square" lIns="0" tIns="0" rIns="0" bIns="0" rtlCol="0" anchor="t"/>
          <a:lstStyle/>
          <a:p>
            <a:pPr indent="0" marL="0">
              <a:buNone/>
            </a:pPr>
            <a:r>
              <a:rPr lang="en-US" sz="1100" dirty="0">
                <a:solidFill>
                  <a:srgbClr val="A9B8D0"/>
                </a:solidFill>
                <a:latin typeface="Calibri" pitchFamily="34" charset="0"/>
                <a:ea typeface="Calibri" pitchFamily="34" charset="-122"/>
                <a:cs typeface="Calibri" pitchFamily="34" charset="-120"/>
              </a:rPr>
              <a:t>Gross profit  </a:t>
            </a:r>
            <a:pPr indent="0" marL="0">
              <a:buNone/>
            </a:pPr>
            <a:r>
              <a:rPr lang="en-US" sz="1400" b="1" dirty="0">
                <a:solidFill>
                  <a:srgbClr val="FFFFFF"/>
                </a:solidFill>
                <a:latin typeface="Calibri" pitchFamily="34" charset="0"/>
                <a:ea typeface="Calibri" pitchFamily="34" charset="-122"/>
                <a:cs typeface="Calibri" pitchFamily="34" charset="-120"/>
              </a:rPr>
              <a:t>EGP 42.6M  (66%)</a:t>
            </a:r>
            <a:endParaRPr lang="en-US" sz="1400" dirty="0"/>
          </a:p>
        </p:txBody>
      </p:sp>
      <p:sp>
        <p:nvSpPr>
          <p:cNvPr id="14" name="Text 9"/>
          <p:cNvSpPr txBox="1"/>
          <p:nvPr/>
        </p:nvSpPr>
        <p:spPr>
          <a:xfrm>
            <a:off x="6126480" y="2578608"/>
            <a:ext cx="5486400" cy="274320"/>
          </a:xfrm>
          <a:prstGeom prst="rect">
            <a:avLst/>
          </a:prstGeom>
          <a:noFill/>
          <a:ln/>
        </p:spPr>
        <p:txBody>
          <a:bodyPr wrap="square" lIns="0" tIns="0" rIns="0" bIns="0" rtlCol="0" anchor="t"/>
          <a:lstStyle/>
          <a:p>
            <a:pPr indent="0" marL="0">
              <a:buNone/>
            </a:pPr>
            <a:r>
              <a:rPr lang="en-US" sz="1100" dirty="0">
                <a:solidFill>
                  <a:srgbClr val="A9B8D0"/>
                </a:solidFill>
                <a:latin typeface="Calibri" pitchFamily="34" charset="0"/>
                <a:ea typeface="Calibri" pitchFamily="34" charset="-122"/>
                <a:cs typeface="Calibri" pitchFamily="34" charset="-120"/>
              </a:rPr>
              <a:t>Profit per unit  </a:t>
            </a:r>
            <a:pPr indent="0" marL="0">
              <a:buNone/>
            </a:pPr>
            <a:r>
              <a:rPr lang="en-US" sz="1400" b="1" dirty="0">
                <a:solidFill>
                  <a:srgbClr val="FFFFFF"/>
                </a:solidFill>
                <a:latin typeface="Calibri" pitchFamily="34" charset="0"/>
                <a:ea typeface="Calibri" pitchFamily="34" charset="-122"/>
                <a:cs typeface="Calibri" pitchFamily="34" charset="-120"/>
              </a:rPr>
              <a:t>EGP 29</a:t>
            </a:r>
            <a:endParaRPr lang="en-US" sz="1400" dirty="0"/>
          </a:p>
        </p:txBody>
      </p:sp>
      <p:sp>
        <p:nvSpPr>
          <p:cNvPr id="15" name="Shape 10"/>
          <p:cNvSpPr/>
          <p:nvPr/>
        </p:nvSpPr>
        <p:spPr>
          <a:xfrm>
            <a:off x="5943600" y="3063240"/>
            <a:ext cx="5760720" cy="1371600"/>
          </a:xfrm>
          <a:prstGeom prst="roundRect">
            <a:avLst>
              <a:gd name="adj" fmla="val 5333"/>
            </a:avLst>
          </a:prstGeom>
          <a:solidFill>
            <a:srgbClr val="0A1F3A"/>
          </a:solidFill>
          <a:ln w="12700">
            <a:solidFill>
              <a:srgbClr val="22D3EE"/>
            </a:solidFill>
            <a:prstDash val="solid"/>
          </a:ln>
        </p:spPr>
      </p:sp>
      <p:sp>
        <p:nvSpPr>
          <p:cNvPr id="16" name="Text 11"/>
          <p:cNvSpPr txBox="1"/>
          <p:nvPr/>
        </p:nvSpPr>
        <p:spPr>
          <a:xfrm>
            <a:off x="6126480" y="3172968"/>
            <a:ext cx="2743200" cy="274320"/>
          </a:xfrm>
          <a:prstGeom prst="rect">
            <a:avLst/>
          </a:prstGeom>
          <a:noFill/>
          <a:ln/>
        </p:spPr>
        <p:txBody>
          <a:bodyPr wrap="square" lIns="0" tIns="0" rIns="0" bIns="0" rtlCol="0" anchor="t"/>
          <a:lstStyle/>
          <a:p>
            <a:pPr indent="0" marL="0">
              <a:buNone/>
            </a:pPr>
            <a:r>
              <a:rPr lang="en-US" sz="1200" b="1" dirty="0">
                <a:solidFill>
                  <a:srgbClr val="22D3EE"/>
                </a:solidFill>
                <a:latin typeface="Calibri" pitchFamily="34" charset="0"/>
                <a:ea typeface="Calibri" pitchFamily="34" charset="-122"/>
                <a:cs typeface="Calibri" pitchFamily="34" charset="-120"/>
              </a:rPr>
              <a:t>RETAIL</a:t>
            </a:r>
            <a:endParaRPr lang="en-US" sz="1200" dirty="0"/>
          </a:p>
        </p:txBody>
      </p:sp>
      <p:sp>
        <p:nvSpPr>
          <p:cNvPr id="17" name="Text 12"/>
          <p:cNvSpPr txBox="1"/>
          <p:nvPr/>
        </p:nvSpPr>
        <p:spPr>
          <a:xfrm>
            <a:off x="6126480" y="3520440"/>
            <a:ext cx="5486400" cy="274320"/>
          </a:xfrm>
          <a:prstGeom prst="rect">
            <a:avLst/>
          </a:prstGeom>
          <a:noFill/>
          <a:ln/>
        </p:spPr>
        <p:txBody>
          <a:bodyPr wrap="square" lIns="0" tIns="0" rIns="0" bIns="0" rtlCol="0" anchor="t"/>
          <a:lstStyle/>
          <a:p>
            <a:pPr indent="0" marL="0">
              <a:buNone/>
            </a:pPr>
            <a:r>
              <a:rPr lang="en-US" sz="1100" dirty="0">
                <a:solidFill>
                  <a:srgbClr val="A9B8D0"/>
                </a:solidFill>
                <a:latin typeface="Calibri" pitchFamily="34" charset="0"/>
                <a:ea typeface="Calibri" pitchFamily="34" charset="-122"/>
                <a:cs typeface="Calibri" pitchFamily="34" charset="-120"/>
              </a:rPr>
              <a:t>Sales  </a:t>
            </a:r>
            <a:pPr indent="0" marL="0">
              <a:buNone/>
            </a:pPr>
            <a:r>
              <a:rPr lang="en-US" sz="1400" b="1" dirty="0">
                <a:solidFill>
                  <a:srgbClr val="FFFFFF"/>
                </a:solidFill>
                <a:latin typeface="Calibri" pitchFamily="34" charset="0"/>
                <a:ea typeface="Calibri" pitchFamily="34" charset="-122"/>
                <a:cs typeface="Calibri" pitchFamily="34" charset="-120"/>
              </a:rPr>
              <a:t>EGP 29.3M  (7%)</a:t>
            </a:r>
            <a:endParaRPr lang="en-US" sz="1400" dirty="0"/>
          </a:p>
        </p:txBody>
      </p:sp>
      <p:sp>
        <p:nvSpPr>
          <p:cNvPr id="18" name="Text 13"/>
          <p:cNvSpPr txBox="1"/>
          <p:nvPr/>
        </p:nvSpPr>
        <p:spPr>
          <a:xfrm>
            <a:off x="6126480" y="3813048"/>
            <a:ext cx="5486400" cy="274320"/>
          </a:xfrm>
          <a:prstGeom prst="rect">
            <a:avLst/>
          </a:prstGeom>
          <a:noFill/>
          <a:ln/>
        </p:spPr>
        <p:txBody>
          <a:bodyPr wrap="square" lIns="0" tIns="0" rIns="0" bIns="0" rtlCol="0" anchor="t"/>
          <a:lstStyle/>
          <a:p>
            <a:pPr indent="0" marL="0">
              <a:buNone/>
            </a:pPr>
            <a:r>
              <a:rPr lang="en-US" sz="1100" dirty="0">
                <a:solidFill>
                  <a:srgbClr val="A9B8D0"/>
                </a:solidFill>
                <a:latin typeface="Calibri" pitchFamily="34" charset="0"/>
                <a:ea typeface="Calibri" pitchFamily="34" charset="-122"/>
                <a:cs typeface="Calibri" pitchFamily="34" charset="-120"/>
              </a:rPr>
              <a:t>Gross profit  </a:t>
            </a:r>
            <a:pPr indent="0" marL="0">
              <a:buNone/>
            </a:pPr>
            <a:r>
              <a:rPr lang="en-US" sz="1400" b="1" dirty="0">
                <a:solidFill>
                  <a:srgbClr val="FFFFFF"/>
                </a:solidFill>
                <a:latin typeface="Calibri" pitchFamily="34" charset="0"/>
                <a:ea typeface="Calibri" pitchFamily="34" charset="-122"/>
                <a:cs typeface="Calibri" pitchFamily="34" charset="-120"/>
              </a:rPr>
              <a:t>EGP 10.9M  (17%)</a:t>
            </a:r>
            <a:endParaRPr lang="en-US" sz="1400" dirty="0"/>
          </a:p>
        </p:txBody>
      </p:sp>
      <p:sp>
        <p:nvSpPr>
          <p:cNvPr id="19" name="Text 14"/>
          <p:cNvSpPr txBox="1"/>
          <p:nvPr/>
        </p:nvSpPr>
        <p:spPr>
          <a:xfrm>
            <a:off x="6126480" y="4087368"/>
            <a:ext cx="5486400" cy="274320"/>
          </a:xfrm>
          <a:prstGeom prst="rect">
            <a:avLst/>
          </a:prstGeom>
          <a:noFill/>
          <a:ln/>
        </p:spPr>
        <p:txBody>
          <a:bodyPr wrap="square" lIns="0" tIns="0" rIns="0" bIns="0" rtlCol="0" anchor="t"/>
          <a:lstStyle/>
          <a:p>
            <a:pPr indent="0" marL="0">
              <a:buNone/>
            </a:pPr>
            <a:r>
              <a:rPr lang="en-US" sz="1100" dirty="0">
                <a:solidFill>
                  <a:srgbClr val="A9B8D0"/>
                </a:solidFill>
                <a:latin typeface="Calibri" pitchFamily="34" charset="0"/>
                <a:ea typeface="Calibri" pitchFamily="34" charset="-122"/>
                <a:cs typeface="Calibri" pitchFamily="34" charset="-120"/>
              </a:rPr>
              <a:t>Profit per unit  </a:t>
            </a:r>
            <a:pPr indent="0" marL="0">
              <a:buNone/>
            </a:pPr>
            <a:r>
              <a:rPr lang="en-US" sz="1400" b="1" dirty="0">
                <a:solidFill>
                  <a:srgbClr val="FFFFFF"/>
                </a:solidFill>
                <a:latin typeface="Calibri" pitchFamily="34" charset="0"/>
                <a:ea typeface="Calibri" pitchFamily="34" charset="-122"/>
                <a:cs typeface="Calibri" pitchFamily="34" charset="-120"/>
              </a:rPr>
              <a:t>EGP 126</a:t>
            </a:r>
            <a:endParaRPr lang="en-US" sz="1400" dirty="0"/>
          </a:p>
        </p:txBody>
      </p:sp>
      <p:sp>
        <p:nvSpPr>
          <p:cNvPr id="20" name="Shape 15"/>
          <p:cNvSpPr/>
          <p:nvPr/>
        </p:nvSpPr>
        <p:spPr>
          <a:xfrm>
            <a:off x="5943600" y="4572000"/>
            <a:ext cx="5760720" cy="1371600"/>
          </a:xfrm>
          <a:prstGeom prst="roundRect">
            <a:avLst>
              <a:gd name="adj" fmla="val 5333"/>
            </a:avLst>
          </a:prstGeom>
          <a:solidFill>
            <a:srgbClr val="0A1F3A"/>
          </a:solidFill>
          <a:ln w="12700">
            <a:solidFill>
              <a:srgbClr val="A78BFA"/>
            </a:solidFill>
            <a:prstDash val="solid"/>
          </a:ln>
        </p:spPr>
      </p:sp>
      <p:sp>
        <p:nvSpPr>
          <p:cNvPr id="21" name="Text 16"/>
          <p:cNvSpPr txBox="1"/>
          <p:nvPr/>
        </p:nvSpPr>
        <p:spPr>
          <a:xfrm>
            <a:off x="6126480" y="4681728"/>
            <a:ext cx="2743200" cy="274320"/>
          </a:xfrm>
          <a:prstGeom prst="rect">
            <a:avLst/>
          </a:prstGeom>
          <a:noFill/>
          <a:ln/>
        </p:spPr>
        <p:txBody>
          <a:bodyPr wrap="square" lIns="0" tIns="0" rIns="0" bIns="0" rtlCol="0" anchor="t"/>
          <a:lstStyle/>
          <a:p>
            <a:pPr indent="0" marL="0">
              <a:buNone/>
            </a:pPr>
            <a:r>
              <a:rPr lang="en-US" sz="1200" b="1" dirty="0">
                <a:solidFill>
                  <a:srgbClr val="A78BFA"/>
                </a:solidFill>
                <a:latin typeface="Calibri" pitchFamily="34" charset="0"/>
                <a:ea typeface="Calibri" pitchFamily="34" charset="-122"/>
                <a:cs typeface="Calibri" pitchFamily="34" charset="-120"/>
              </a:rPr>
              <a:t>ONLINE</a:t>
            </a:r>
            <a:endParaRPr lang="en-US" sz="1200" dirty="0"/>
          </a:p>
        </p:txBody>
      </p:sp>
      <p:sp>
        <p:nvSpPr>
          <p:cNvPr id="22" name="Text 17"/>
          <p:cNvSpPr txBox="1"/>
          <p:nvPr/>
        </p:nvSpPr>
        <p:spPr>
          <a:xfrm>
            <a:off x="6126480" y="5029200"/>
            <a:ext cx="5486400" cy="274320"/>
          </a:xfrm>
          <a:prstGeom prst="rect">
            <a:avLst/>
          </a:prstGeom>
          <a:noFill/>
          <a:ln/>
        </p:spPr>
        <p:txBody>
          <a:bodyPr wrap="square" lIns="0" tIns="0" rIns="0" bIns="0" rtlCol="0" anchor="t"/>
          <a:lstStyle/>
          <a:p>
            <a:pPr indent="0" marL="0">
              <a:buNone/>
            </a:pPr>
            <a:r>
              <a:rPr lang="en-US" sz="1100" dirty="0">
                <a:solidFill>
                  <a:srgbClr val="A9B8D0"/>
                </a:solidFill>
                <a:latin typeface="Calibri" pitchFamily="34" charset="0"/>
                <a:ea typeface="Calibri" pitchFamily="34" charset="-122"/>
                <a:cs typeface="Calibri" pitchFamily="34" charset="-120"/>
              </a:rPr>
              <a:t>Sales  </a:t>
            </a:r>
            <a:pPr indent="0" marL="0">
              <a:buNone/>
            </a:pPr>
            <a:r>
              <a:rPr lang="en-US" sz="1400" b="1" dirty="0">
                <a:solidFill>
                  <a:srgbClr val="FFFFFF"/>
                </a:solidFill>
                <a:latin typeface="Calibri" pitchFamily="34" charset="0"/>
                <a:ea typeface="Calibri" pitchFamily="34" charset="-122"/>
                <a:cs typeface="Calibri" pitchFamily="34" charset="-120"/>
              </a:rPr>
              <a:t>EGP 32.6M  (8%)</a:t>
            </a:r>
            <a:endParaRPr lang="en-US" sz="1400" dirty="0"/>
          </a:p>
        </p:txBody>
      </p:sp>
      <p:sp>
        <p:nvSpPr>
          <p:cNvPr id="23" name="Text 18"/>
          <p:cNvSpPr txBox="1"/>
          <p:nvPr/>
        </p:nvSpPr>
        <p:spPr>
          <a:xfrm>
            <a:off x="6126480" y="5321808"/>
            <a:ext cx="5486400" cy="274320"/>
          </a:xfrm>
          <a:prstGeom prst="rect">
            <a:avLst/>
          </a:prstGeom>
          <a:noFill/>
          <a:ln/>
        </p:spPr>
        <p:txBody>
          <a:bodyPr wrap="square" lIns="0" tIns="0" rIns="0" bIns="0" rtlCol="0" anchor="t"/>
          <a:lstStyle/>
          <a:p>
            <a:pPr indent="0" marL="0">
              <a:buNone/>
            </a:pPr>
            <a:r>
              <a:rPr lang="en-US" sz="1100" dirty="0">
                <a:solidFill>
                  <a:srgbClr val="A9B8D0"/>
                </a:solidFill>
                <a:latin typeface="Calibri" pitchFamily="34" charset="0"/>
                <a:ea typeface="Calibri" pitchFamily="34" charset="-122"/>
                <a:cs typeface="Calibri" pitchFamily="34" charset="-120"/>
              </a:rPr>
              <a:t>Gross profit  </a:t>
            </a:r>
            <a:pPr indent="0" marL="0">
              <a:buNone/>
            </a:pPr>
            <a:r>
              <a:rPr lang="en-US" sz="1400" b="1" dirty="0">
                <a:solidFill>
                  <a:srgbClr val="FFFFFF"/>
                </a:solidFill>
                <a:latin typeface="Calibri" pitchFamily="34" charset="0"/>
                <a:ea typeface="Calibri" pitchFamily="34" charset="-122"/>
                <a:cs typeface="Calibri" pitchFamily="34" charset="-120"/>
              </a:rPr>
              <a:t>EGP 11.4M  (18%)</a:t>
            </a:r>
            <a:endParaRPr lang="en-US" sz="1400" dirty="0"/>
          </a:p>
        </p:txBody>
      </p:sp>
      <p:sp>
        <p:nvSpPr>
          <p:cNvPr id="24" name="Text 19"/>
          <p:cNvSpPr txBox="1"/>
          <p:nvPr/>
        </p:nvSpPr>
        <p:spPr>
          <a:xfrm>
            <a:off x="6126480" y="5596128"/>
            <a:ext cx="5486400" cy="274320"/>
          </a:xfrm>
          <a:prstGeom prst="rect">
            <a:avLst/>
          </a:prstGeom>
          <a:noFill/>
          <a:ln/>
        </p:spPr>
        <p:txBody>
          <a:bodyPr wrap="square" lIns="0" tIns="0" rIns="0" bIns="0" rtlCol="0" anchor="t"/>
          <a:lstStyle/>
          <a:p>
            <a:pPr indent="0" marL="0">
              <a:buNone/>
            </a:pPr>
            <a:r>
              <a:rPr lang="en-US" sz="1100" dirty="0">
                <a:solidFill>
                  <a:srgbClr val="A9B8D0"/>
                </a:solidFill>
                <a:latin typeface="Calibri" pitchFamily="34" charset="0"/>
                <a:ea typeface="Calibri" pitchFamily="34" charset="-122"/>
                <a:cs typeface="Calibri" pitchFamily="34" charset="-120"/>
              </a:rPr>
              <a:t>Profit per unit  </a:t>
            </a:r>
            <a:pPr indent="0" marL="0">
              <a:buNone/>
            </a:pPr>
            <a:r>
              <a:rPr lang="en-US" sz="1400" b="1" dirty="0">
                <a:solidFill>
                  <a:srgbClr val="FFFFFF"/>
                </a:solidFill>
                <a:latin typeface="Calibri" pitchFamily="34" charset="0"/>
                <a:ea typeface="Calibri" pitchFamily="34" charset="-122"/>
                <a:cs typeface="Calibri" pitchFamily="34" charset="-120"/>
              </a:rPr>
              <a:t>EGP 115</a:t>
            </a:r>
            <a:endParaRPr lang="en-US" sz="1400" dirty="0"/>
          </a:p>
        </p:txBody>
      </p:sp>
      <p:sp>
        <p:nvSpPr>
          <p:cNvPr id="25" name="Text 20"/>
          <p:cNvSpPr txBox="1"/>
          <p:nvPr/>
        </p:nvSpPr>
        <p:spPr>
          <a:xfrm>
            <a:off x="457200" y="6053328"/>
            <a:ext cx="10972800" cy="274320"/>
          </a:xfrm>
          <a:prstGeom prst="rect">
            <a:avLst/>
          </a:prstGeom>
          <a:noFill/>
          <a:ln/>
        </p:spPr>
        <p:txBody>
          <a:bodyPr wrap="square" lIns="0" tIns="0" rIns="0" bIns="0" rtlCol="0" anchor="t"/>
          <a:lstStyle/>
          <a:p>
            <a:pPr indent="0" marL="0">
              <a:buNone/>
            </a:pPr>
            <a:r>
              <a:rPr lang="en-US" sz="1300" b="1" dirty="0">
                <a:solidFill>
                  <a:srgbClr val="F5B942"/>
                </a:solidFill>
                <a:latin typeface="Calibri" pitchFamily="34" charset="0"/>
                <a:ea typeface="Calibri" pitchFamily="34" charset="-122"/>
                <a:cs typeface="Calibri" pitchFamily="34" charset="-120"/>
              </a:rPr>
              <a:t>High revenue does not mean high profit: 85% of sales deliver 66% of gross profit.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22D3EE"/>
                </a:solidFill>
                <a:latin typeface="Calibri" pitchFamily="34" charset="0"/>
                <a:ea typeface="Calibri" pitchFamily="34" charset="-122"/>
                <a:cs typeface="Calibri" pitchFamily="34" charset="-120"/>
              </a:rPr>
              <a:t>THE WHOLESALE DISCOUNT PROBLEM</a:t>
            </a:r>
            <a:endParaRPr lang="en-US" sz="1100" dirty="0"/>
          </a:p>
        </p:txBody>
      </p:sp>
      <p:sp>
        <p:nvSpPr>
          <p:cNvPr id="4" name="Text 2"/>
          <p:cNvSpPr txBox="1"/>
          <p:nvPr/>
        </p:nvSpPr>
        <p:spPr>
          <a:xfrm>
            <a:off x="457200" y="566928"/>
            <a:ext cx="11247120" cy="868680"/>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We are giving away margin without evidence that deeper discounts buy more volume</a:t>
            </a:r>
            <a:endParaRPr lang="en-US" sz="2600" dirty="0"/>
          </a:p>
        </p:txBody>
      </p:sp>
      <p:pic>
        <p:nvPicPr>
          <p:cNvPr id="5" name="Image 0" descr="logo.png">    </p:cNvPr>
          <p:cNvPicPr>
            <a:picLocks noChangeAspect="1"/>
          </p:cNvPicPr>
          <p:nvPr/>
        </p:nvPicPr>
        <p:blipFill>
          <a:blip r:embed="rId1"/>
          <a:stretch>
            <a:fillRect/>
          </a:stretch>
        </p:blipFill>
        <p:spPr>
          <a:xfrm>
            <a:off x="457200" y="6400800"/>
            <a:ext cx="868680" cy="365760"/>
          </a:xfrm>
          <a:prstGeom prst="rect">
            <a:avLst/>
          </a:prstGeom>
        </p:spPr>
      </p:pic>
      <p:sp>
        <p:nvSpPr>
          <p:cNvPr id="6" name="Text 3"/>
          <p:cNvSpPr txBox="1"/>
          <p:nvPr/>
        </p:nvSpPr>
        <p:spPr>
          <a:xfrm>
            <a:off x="1554480" y="6419088"/>
            <a:ext cx="9418320" cy="329184"/>
          </a:xfrm>
          <a:prstGeom prst="rect">
            <a:avLst/>
          </a:prstGeom>
          <a:noFill/>
          <a:ln/>
        </p:spPr>
        <p:txBody>
          <a:bodyPr wrap="square" lIns="0" tIns="0" rIns="0" bIns="0" rtlCol="0" anchor="ctr"/>
          <a:lstStyle/>
          <a:p>
            <a:pPr indent="0" marL="0">
              <a:buNone/>
            </a:pPr>
            <a:r>
              <a:rPr lang="en-US" sz="1000" dirty="0">
                <a:solidFill>
                  <a:srgbClr val="A9B8D0"/>
                </a:solidFill>
                <a:latin typeface="Calibri" pitchFamily="34" charset="0"/>
                <a:ea typeface="Calibri" pitchFamily="34" charset="-122"/>
                <a:cs typeface="Calibri" pitchFamily="34" charset="-120"/>
              </a:rPr>
              <a:t>Scope: wholesale invoices Oct 2023 - Sep 2026 (chart). Promotion test = Retail + Online, Jun-Jul vs May/Aug. COGS estimated.</a:t>
            </a:r>
            <a:endParaRPr lang="en-US" sz="1000" dirty="0"/>
          </a:p>
        </p:txBody>
      </p:sp>
      <p:sp>
        <p:nvSpPr>
          <p:cNvPr id="7" name="Text 4"/>
          <p:cNvSpPr txBox="1"/>
          <p:nvPr/>
        </p:nvSpPr>
        <p:spPr>
          <a:xfrm>
            <a:off x="11247120" y="6419088"/>
            <a:ext cx="548640" cy="329184"/>
          </a:xfrm>
          <a:prstGeom prst="rect">
            <a:avLst/>
          </a:prstGeom>
          <a:noFill/>
          <a:ln/>
        </p:spPr>
        <p:txBody>
          <a:bodyPr wrap="square" lIns="0" tIns="0" rIns="0" bIns="0" rtlCol="0" anchor="ctr"/>
          <a:lstStyle/>
          <a:p>
            <a:pPr algn="r" indent="0" marL="0">
              <a:buNone/>
            </a:pPr>
            <a:r>
              <a:rPr lang="en-US" sz="1000" dirty="0">
                <a:solidFill>
                  <a:srgbClr val="A9B8D0"/>
                </a:solidFill>
                <a:latin typeface="Calibri" pitchFamily="34" charset="0"/>
                <a:ea typeface="Calibri" pitchFamily="34" charset="-122"/>
                <a:cs typeface="Calibri" pitchFamily="34" charset="-120"/>
              </a:rPr>
              <a:t>5</a:t>
            </a:r>
            <a:endParaRPr lang="en-US" sz="1000" dirty="0"/>
          </a:p>
        </p:txBody>
      </p:sp>
      <p:graphicFrame>
        <p:nvGraphicFramePr>
          <p:cNvPr id="9" name="Chart 0" descr=""/>
          <p:cNvGraphicFramePr/>
          <p:nvPr/>
        </p:nvGraphicFramePr>
        <p:xfrm>
          <a:off x="457200" y="1554480"/>
          <a:ext cx="5852160" cy="3840480"/>
        </p:xfrm>
        <a:graphic xmlns:a="http://schemas.openxmlformats.org/drawingml/2006/main">
          <a:graphicData uri="http://schemas.openxmlformats.org/drawingml/2006/chart">
            <c:chart xmlns:c="http://schemas.openxmlformats.org/drawingml/2006/chart" r:id="rId2"/>
          </a:graphicData>
        </a:graphic>
      </p:graphicFrame>
      <p:sp>
        <p:nvSpPr>
          <p:cNvPr id="10" name="Text 5"/>
          <p:cNvSpPr txBox="1"/>
          <p:nvPr/>
        </p:nvSpPr>
        <p:spPr>
          <a:xfrm>
            <a:off x="457200" y="5486400"/>
            <a:ext cx="5852160" cy="731520"/>
          </a:xfrm>
          <a:prstGeom prst="rect">
            <a:avLst/>
          </a:prstGeom>
          <a:noFill/>
          <a:ln/>
        </p:spPr>
        <p:txBody>
          <a:bodyPr wrap="square" lIns="0" tIns="0" rIns="0" bIns="0" rtlCol="0" anchor="t"/>
          <a:lstStyle/>
          <a:p>
            <a:pPr indent="0" marL="0">
              <a:buNone/>
            </a:pPr>
            <a:r>
              <a:rPr lang="en-US" sz="1200" dirty="0">
                <a:solidFill>
                  <a:srgbClr val="A9B8D0"/>
                </a:solidFill>
                <a:latin typeface="Calibri" pitchFamily="34" charset="0"/>
                <a:ea typeface="Calibri" pitchFamily="34" charset="-122"/>
                <a:cs typeface="Calibri" pitchFamily="34" charset="-120"/>
              </a:rPr>
              <a:t>Each discount level appears in ~20% of orders at EVERY order size (12-60 units): discounts follow no volume logic.</a:t>
            </a:r>
            <a:endParaRPr lang="en-US" sz="1200" dirty="0"/>
          </a:p>
        </p:txBody>
      </p:sp>
      <p:sp>
        <p:nvSpPr>
          <p:cNvPr id="11" name="Shape 6"/>
          <p:cNvSpPr/>
          <p:nvPr/>
        </p:nvSpPr>
        <p:spPr>
          <a:xfrm>
            <a:off x="6583680" y="1554480"/>
            <a:ext cx="2468880" cy="1234440"/>
          </a:xfrm>
          <a:prstGeom prst="roundRect">
            <a:avLst>
              <a:gd name="adj" fmla="val 5926"/>
            </a:avLst>
          </a:prstGeom>
          <a:solidFill>
            <a:srgbClr val="0A1F3A"/>
          </a:solidFill>
          <a:ln w="12700">
            <a:solidFill>
              <a:srgbClr val="F87171"/>
            </a:solidFill>
            <a:prstDash val="solid"/>
          </a:ln>
        </p:spPr>
      </p:sp>
      <p:sp>
        <p:nvSpPr>
          <p:cNvPr id="12" name="Text 7"/>
          <p:cNvSpPr txBox="1"/>
          <p:nvPr/>
        </p:nvSpPr>
        <p:spPr>
          <a:xfrm>
            <a:off x="6766560" y="1691640"/>
            <a:ext cx="2103120" cy="228600"/>
          </a:xfrm>
          <a:prstGeom prst="rect">
            <a:avLst/>
          </a:prstGeom>
          <a:noFill/>
          <a:ln/>
        </p:spPr>
        <p:txBody>
          <a:bodyPr wrap="square" lIns="0" tIns="0" rIns="0" bIns="0" rtlCol="0" anchor="t"/>
          <a:lstStyle/>
          <a:p>
            <a:pPr indent="0" marL="0">
              <a:buNone/>
            </a:pPr>
            <a:r>
              <a:rPr lang="en-US" sz="1000" b="1" spc="200" kern="0" dirty="0">
                <a:solidFill>
                  <a:srgbClr val="A9B8D0"/>
                </a:solidFill>
                <a:latin typeface="Calibri" pitchFamily="34" charset="0"/>
                <a:ea typeface="Calibri" pitchFamily="34" charset="-122"/>
                <a:cs typeface="Calibri" pitchFamily="34" charset="-120"/>
              </a:rPr>
              <a:t>LOSS-MAKING INVOICES</a:t>
            </a:r>
            <a:endParaRPr lang="en-US" sz="1000" dirty="0"/>
          </a:p>
        </p:txBody>
      </p:sp>
      <p:sp>
        <p:nvSpPr>
          <p:cNvPr id="13" name="Text 8"/>
          <p:cNvSpPr txBox="1"/>
          <p:nvPr/>
        </p:nvSpPr>
        <p:spPr>
          <a:xfrm>
            <a:off x="6766560" y="1938528"/>
            <a:ext cx="2103120" cy="457200"/>
          </a:xfrm>
          <a:prstGeom prst="rect">
            <a:avLst/>
          </a:prstGeom>
          <a:noFill/>
          <a:ln/>
        </p:spPr>
        <p:txBody>
          <a:bodyPr wrap="square" lIns="0" tIns="0" rIns="0" bIns="0" rtlCol="0" anchor="t"/>
          <a:lstStyle/>
          <a:p>
            <a:pPr indent="0" marL="0">
              <a:buNone/>
            </a:pPr>
            <a:r>
              <a:rPr lang="en-US" sz="2800" b="1" dirty="0">
                <a:solidFill>
                  <a:srgbClr val="F87171"/>
                </a:solidFill>
                <a:latin typeface="Calibri" pitchFamily="34" charset="0"/>
                <a:ea typeface="Calibri" pitchFamily="34" charset="-122"/>
                <a:cs typeface="Calibri" pitchFamily="34" charset="-120"/>
              </a:rPr>
              <a:t>4,876</a:t>
            </a:r>
            <a:endParaRPr lang="en-US" sz="2800" dirty="0"/>
          </a:p>
        </p:txBody>
      </p:sp>
      <p:sp>
        <p:nvSpPr>
          <p:cNvPr id="14" name="Text 9"/>
          <p:cNvSpPr txBox="1"/>
          <p:nvPr/>
        </p:nvSpPr>
        <p:spPr>
          <a:xfrm>
            <a:off x="6766560" y="2450592"/>
            <a:ext cx="2103120" cy="274320"/>
          </a:xfrm>
          <a:prstGeom prst="rect">
            <a:avLst/>
          </a:prstGeom>
          <a:noFill/>
          <a:ln/>
        </p:spPr>
        <p:txBody>
          <a:bodyPr wrap="square" lIns="0" tIns="0" rIns="0" bIns="0" rtlCol="0" anchor="t"/>
          <a:lstStyle/>
          <a:p>
            <a:pPr indent="0" marL="0">
              <a:buNone/>
            </a:pPr>
            <a:r>
              <a:rPr lang="en-US" sz="1100" dirty="0">
                <a:solidFill>
                  <a:srgbClr val="A9B8D0"/>
                </a:solidFill>
                <a:latin typeface="Calibri" pitchFamily="34" charset="0"/>
                <a:ea typeface="Calibri" pitchFamily="34" charset="-122"/>
                <a:cs typeface="Calibri" pitchFamily="34" charset="-120"/>
              </a:rPr>
              <a:t>10% of wholesale; EGP -1.4M</a:t>
            </a:r>
            <a:endParaRPr lang="en-US" sz="1100" dirty="0"/>
          </a:p>
        </p:txBody>
      </p:sp>
      <p:sp>
        <p:nvSpPr>
          <p:cNvPr id="15" name="Shape 10"/>
          <p:cNvSpPr/>
          <p:nvPr/>
        </p:nvSpPr>
        <p:spPr>
          <a:xfrm>
            <a:off x="9235440" y="1554480"/>
            <a:ext cx="2468880" cy="1234440"/>
          </a:xfrm>
          <a:prstGeom prst="roundRect">
            <a:avLst>
              <a:gd name="adj" fmla="val 5926"/>
            </a:avLst>
          </a:prstGeom>
          <a:solidFill>
            <a:srgbClr val="0A1F3A"/>
          </a:solidFill>
          <a:ln w="12700">
            <a:solidFill>
              <a:srgbClr val="F5B942"/>
            </a:solidFill>
            <a:prstDash val="solid"/>
          </a:ln>
        </p:spPr>
      </p:sp>
      <p:sp>
        <p:nvSpPr>
          <p:cNvPr id="16" name="Text 11"/>
          <p:cNvSpPr txBox="1"/>
          <p:nvPr/>
        </p:nvSpPr>
        <p:spPr>
          <a:xfrm>
            <a:off x="9418320" y="1691640"/>
            <a:ext cx="2103120" cy="228600"/>
          </a:xfrm>
          <a:prstGeom prst="rect">
            <a:avLst/>
          </a:prstGeom>
          <a:noFill/>
          <a:ln/>
        </p:spPr>
        <p:txBody>
          <a:bodyPr wrap="square" lIns="0" tIns="0" rIns="0" bIns="0" rtlCol="0" anchor="t"/>
          <a:lstStyle/>
          <a:p>
            <a:pPr indent="0" marL="0">
              <a:buNone/>
            </a:pPr>
            <a:r>
              <a:rPr lang="en-US" sz="1000" b="1" spc="200" kern="0" dirty="0">
                <a:solidFill>
                  <a:srgbClr val="A9B8D0"/>
                </a:solidFill>
                <a:latin typeface="Calibri" pitchFamily="34" charset="0"/>
                <a:ea typeface="Calibri" pitchFamily="34" charset="-122"/>
                <a:cs typeface="Calibri" pitchFamily="34" charset="-120"/>
              </a:rPr>
              <a:t>DISCOUNT GIVEN AWAY</a:t>
            </a:r>
            <a:endParaRPr lang="en-US" sz="1000" dirty="0"/>
          </a:p>
        </p:txBody>
      </p:sp>
      <p:sp>
        <p:nvSpPr>
          <p:cNvPr id="17" name="Text 12"/>
          <p:cNvSpPr txBox="1"/>
          <p:nvPr/>
        </p:nvSpPr>
        <p:spPr>
          <a:xfrm>
            <a:off x="9418320" y="1938528"/>
            <a:ext cx="2103120" cy="457200"/>
          </a:xfrm>
          <a:prstGeom prst="rect">
            <a:avLst/>
          </a:prstGeom>
          <a:noFill/>
          <a:ln/>
        </p:spPr>
        <p:txBody>
          <a:bodyPr wrap="square" lIns="0" tIns="0" rIns="0" bIns="0" rtlCol="0" anchor="t"/>
          <a:lstStyle/>
          <a:p>
            <a:pPr indent="0" marL="0">
              <a:buNone/>
            </a:pPr>
            <a:r>
              <a:rPr lang="en-US" sz="2800" b="1" dirty="0">
                <a:solidFill>
                  <a:srgbClr val="F5B942"/>
                </a:solidFill>
                <a:latin typeface="Calibri" pitchFamily="34" charset="0"/>
                <a:ea typeface="Calibri" pitchFamily="34" charset="-122"/>
                <a:cs typeface="Calibri" pitchFamily="34" charset="-120"/>
              </a:rPr>
              <a:t>EGP 173.9M</a:t>
            </a:r>
            <a:endParaRPr lang="en-US" sz="2800" dirty="0"/>
          </a:p>
        </p:txBody>
      </p:sp>
      <p:sp>
        <p:nvSpPr>
          <p:cNvPr id="18" name="Text 13"/>
          <p:cNvSpPr txBox="1"/>
          <p:nvPr/>
        </p:nvSpPr>
        <p:spPr>
          <a:xfrm>
            <a:off x="9418320" y="2450592"/>
            <a:ext cx="2103120" cy="274320"/>
          </a:xfrm>
          <a:prstGeom prst="rect">
            <a:avLst/>
          </a:prstGeom>
          <a:noFill/>
          <a:ln/>
        </p:spPr>
        <p:txBody>
          <a:bodyPr wrap="square" lIns="0" tIns="0" rIns="0" bIns="0" rtlCol="0" anchor="t"/>
          <a:lstStyle/>
          <a:p>
            <a:pPr indent="0" marL="0">
              <a:buNone/>
            </a:pPr>
            <a:r>
              <a:rPr lang="en-US" sz="1100" dirty="0">
                <a:solidFill>
                  <a:srgbClr val="A9B8D0"/>
                </a:solidFill>
                <a:latin typeface="Calibri" pitchFamily="34" charset="0"/>
                <a:ea typeface="Calibri" pitchFamily="34" charset="-122"/>
                <a:cs typeface="Calibri" pitchFamily="34" charset="-120"/>
              </a:rPr>
              <a:t>80% of pre-discount margin</a:t>
            </a:r>
            <a:endParaRPr lang="en-US" sz="1100" dirty="0"/>
          </a:p>
        </p:txBody>
      </p:sp>
      <p:sp>
        <p:nvSpPr>
          <p:cNvPr id="19" name="Shape 14"/>
          <p:cNvSpPr/>
          <p:nvPr/>
        </p:nvSpPr>
        <p:spPr>
          <a:xfrm>
            <a:off x="6583680" y="2971800"/>
            <a:ext cx="5120640" cy="3200400"/>
          </a:xfrm>
          <a:prstGeom prst="roundRect">
            <a:avLst>
              <a:gd name="adj" fmla="val 2286"/>
            </a:avLst>
          </a:prstGeom>
          <a:solidFill>
            <a:srgbClr val="0A1F3A"/>
          </a:solidFill>
          <a:ln w="12700">
            <a:solidFill>
              <a:srgbClr val="17406E"/>
            </a:solidFill>
            <a:prstDash val="solid"/>
          </a:ln>
        </p:spPr>
      </p:sp>
      <p:sp>
        <p:nvSpPr>
          <p:cNvPr id="20" name="Text 15"/>
          <p:cNvSpPr txBox="1"/>
          <p:nvPr/>
        </p:nvSpPr>
        <p:spPr>
          <a:xfrm>
            <a:off x="6766560" y="3108960"/>
            <a:ext cx="4754880" cy="274320"/>
          </a:xfrm>
          <a:prstGeom prst="rect">
            <a:avLst/>
          </a:prstGeom>
          <a:noFill/>
          <a:ln/>
        </p:spPr>
        <p:txBody>
          <a:bodyPr wrap="square" lIns="0" tIns="0" rIns="0" bIns="0" rtlCol="0" anchor="t"/>
          <a:lstStyle/>
          <a:p>
            <a:pPr indent="0" marL="0">
              <a:buNone/>
            </a:pPr>
            <a:r>
              <a:rPr lang="en-US" sz="1100" b="1" spc="100" kern="0" dirty="0">
                <a:solidFill>
                  <a:srgbClr val="22D3EE"/>
                </a:solidFill>
                <a:latin typeface="Calibri" pitchFamily="34" charset="0"/>
                <a:ea typeface="Calibri" pitchFamily="34" charset="-122"/>
                <a:cs typeface="Calibri" pitchFamily="34" charset="-120"/>
              </a:rPr>
              <a:t>JUN-JUL 2026 PROMOTION (RETAIL + ONLINE)</a:t>
            </a:r>
            <a:endParaRPr lang="en-US" sz="1100" dirty="0"/>
          </a:p>
        </p:txBody>
      </p:sp>
      <p:sp>
        <p:nvSpPr>
          <p:cNvPr id="21" name="Text 16"/>
          <p:cNvSpPr txBox="1"/>
          <p:nvPr/>
        </p:nvSpPr>
        <p:spPr>
          <a:xfrm>
            <a:off x="6766560" y="3474720"/>
            <a:ext cx="4754880" cy="27432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Discount raised from 7.3% to 9.7%</a:t>
            </a:r>
            <a:endParaRPr lang="en-US" sz="1500" dirty="0"/>
          </a:p>
        </p:txBody>
      </p:sp>
      <p:graphicFrame>
        <p:nvGraphicFramePr>
          <p:cNvPr id="22" name="Chart 1" descr=""/>
          <p:cNvGraphicFramePr/>
          <p:nvPr/>
        </p:nvGraphicFramePr>
        <p:xfrm>
          <a:off x="6675120" y="3749040"/>
          <a:ext cx="4937760" cy="1828800"/>
        </p:xfrm>
        <a:graphic xmlns:a="http://schemas.openxmlformats.org/drawingml/2006/main">
          <a:graphicData uri="http://schemas.openxmlformats.org/drawingml/2006/chart">
            <c:chart xmlns:c="http://schemas.openxmlformats.org/drawingml/2006/chart" r:id="rId3"/>
          </a:graphicData>
        </a:graphic>
      </p:graphicFrame>
      <p:sp>
        <p:nvSpPr>
          <p:cNvPr id="23" name="Text 17"/>
          <p:cNvSpPr txBox="1"/>
          <p:nvPr/>
        </p:nvSpPr>
        <p:spPr>
          <a:xfrm>
            <a:off x="6766560" y="5623560"/>
            <a:ext cx="4754880" cy="502920"/>
          </a:xfrm>
          <a:prstGeom prst="rect">
            <a:avLst/>
          </a:prstGeom>
          <a:noFill/>
          <a:ln/>
        </p:spPr>
        <p:txBody>
          <a:bodyPr wrap="square" lIns="0" tIns="0" rIns="0" bIns="0" rtlCol="0" anchor="t"/>
          <a:lstStyle/>
          <a:p>
            <a:pPr indent="0" marL="0">
              <a:buNone/>
            </a:pPr>
            <a:r>
              <a:rPr lang="en-US" sz="1150" dirty="0">
                <a:solidFill>
                  <a:srgbClr val="F5B942"/>
                </a:solidFill>
                <a:latin typeface="Calibri" pitchFamily="34" charset="0"/>
                <a:ea typeface="Calibri" pitchFamily="34" charset="-122"/>
                <a:cs typeface="Calibri" pitchFamily="34" charset="-120"/>
              </a:rPr>
              <a:t>The extra discount did not buy extra volume; gross profit per day -2.7% vs about +6% in earlier years.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22D3EE"/>
                </a:solidFill>
                <a:latin typeface="Calibri" pitchFamily="34" charset="0"/>
                <a:ea typeface="Calibri" pitchFamily="34" charset="-122"/>
                <a:cs typeface="Calibri" pitchFamily="34" charset="-120"/>
              </a:rPr>
              <a:t>CUSTOMER VALUE &amp; RETENTION</a:t>
            </a:r>
            <a:endParaRPr lang="en-US" sz="1100" dirty="0"/>
          </a:p>
        </p:txBody>
      </p:sp>
      <p:sp>
        <p:nvSpPr>
          <p:cNvPr id="4" name="Text 2"/>
          <p:cNvSpPr txBox="1"/>
          <p:nvPr/>
        </p:nvSpPr>
        <p:spPr>
          <a:xfrm>
            <a:off x="457200" y="566928"/>
            <a:ext cx="11247120" cy="868680"/>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3,745 high-frequency customers are at risk, representing 32% of retail-customer sales</a:t>
            </a:r>
            <a:endParaRPr lang="en-US" sz="2600" dirty="0"/>
          </a:p>
        </p:txBody>
      </p:sp>
      <p:pic>
        <p:nvPicPr>
          <p:cNvPr id="5" name="Image 0" descr="logo.png">    </p:cNvPr>
          <p:cNvPicPr>
            <a:picLocks noChangeAspect="1"/>
          </p:cNvPicPr>
          <p:nvPr/>
        </p:nvPicPr>
        <p:blipFill>
          <a:blip r:embed="rId1"/>
          <a:stretch>
            <a:fillRect/>
          </a:stretch>
        </p:blipFill>
        <p:spPr>
          <a:xfrm>
            <a:off x="457200" y="6400800"/>
            <a:ext cx="868680" cy="365760"/>
          </a:xfrm>
          <a:prstGeom prst="rect">
            <a:avLst/>
          </a:prstGeom>
        </p:spPr>
      </p:pic>
      <p:sp>
        <p:nvSpPr>
          <p:cNvPr id="6" name="Text 3"/>
          <p:cNvSpPr txBox="1"/>
          <p:nvPr/>
        </p:nvSpPr>
        <p:spPr>
          <a:xfrm>
            <a:off x="1554480" y="6419088"/>
            <a:ext cx="9418320" cy="329184"/>
          </a:xfrm>
          <a:prstGeom prst="rect">
            <a:avLst/>
          </a:prstGeom>
          <a:noFill/>
          <a:ln/>
        </p:spPr>
        <p:txBody>
          <a:bodyPr wrap="square" lIns="0" tIns="0" rIns="0" bIns="0" rtlCol="0" anchor="ctr"/>
          <a:lstStyle/>
          <a:p>
            <a:pPr indent="0" marL="0">
              <a:buNone/>
            </a:pPr>
            <a:r>
              <a:rPr lang="en-US" sz="1000" dirty="0">
                <a:solidFill>
                  <a:srgbClr val="A9B8D0"/>
                </a:solidFill>
                <a:latin typeface="Calibri" pitchFamily="34" charset="0"/>
                <a:ea typeface="Calibri" pitchFamily="34" charset="-122"/>
                <a:cs typeface="Calibri" pitchFamily="34" charset="-120"/>
              </a:rPr>
              <a:t>Scope: 24,035 retail-type customers (wholesale customers analysed separately: 96% repeat). Lapsed = no purchase in 180+ days. Cohort retention = share re-buying in the next quarter.</a:t>
            </a:r>
            <a:endParaRPr lang="en-US" sz="1000" dirty="0"/>
          </a:p>
        </p:txBody>
      </p:sp>
      <p:sp>
        <p:nvSpPr>
          <p:cNvPr id="7" name="Text 4"/>
          <p:cNvSpPr txBox="1"/>
          <p:nvPr/>
        </p:nvSpPr>
        <p:spPr>
          <a:xfrm>
            <a:off x="11247120" y="6419088"/>
            <a:ext cx="548640" cy="329184"/>
          </a:xfrm>
          <a:prstGeom prst="rect">
            <a:avLst/>
          </a:prstGeom>
          <a:noFill/>
          <a:ln/>
        </p:spPr>
        <p:txBody>
          <a:bodyPr wrap="square" lIns="0" tIns="0" rIns="0" bIns="0" rtlCol="0" anchor="ctr"/>
          <a:lstStyle/>
          <a:p>
            <a:pPr algn="r" indent="0" marL="0">
              <a:buNone/>
            </a:pPr>
            <a:r>
              <a:rPr lang="en-US" sz="1000" dirty="0">
                <a:solidFill>
                  <a:srgbClr val="A9B8D0"/>
                </a:solidFill>
                <a:latin typeface="Calibri" pitchFamily="34" charset="0"/>
                <a:ea typeface="Calibri" pitchFamily="34" charset="-122"/>
                <a:cs typeface="Calibri" pitchFamily="34" charset="-120"/>
              </a:rPr>
              <a:t>6</a:t>
            </a:r>
            <a:endParaRPr lang="en-US" sz="1000" dirty="0"/>
          </a:p>
        </p:txBody>
      </p:sp>
      <p:graphicFrame>
        <p:nvGraphicFramePr>
          <p:cNvPr id="9" name="Chart 0" descr=""/>
          <p:cNvGraphicFramePr/>
          <p:nvPr/>
        </p:nvGraphicFramePr>
        <p:xfrm>
          <a:off x="457200" y="1554480"/>
          <a:ext cx="6583680" cy="4297680"/>
        </p:xfrm>
        <a:graphic xmlns:a="http://schemas.openxmlformats.org/drawingml/2006/main">
          <a:graphicData uri="http://schemas.openxmlformats.org/drawingml/2006/chart">
            <c:chart xmlns:c="http://schemas.openxmlformats.org/drawingml/2006/chart" r:id="rId2"/>
          </a:graphicData>
        </a:graphic>
      </p:graphicFrame>
      <p:sp>
        <p:nvSpPr>
          <p:cNvPr id="10" name="Shape 5"/>
          <p:cNvSpPr/>
          <p:nvPr/>
        </p:nvSpPr>
        <p:spPr>
          <a:xfrm>
            <a:off x="7315200" y="1554480"/>
            <a:ext cx="4389120" cy="1234440"/>
          </a:xfrm>
          <a:prstGeom prst="roundRect">
            <a:avLst>
              <a:gd name="adj" fmla="val 5926"/>
            </a:avLst>
          </a:prstGeom>
          <a:solidFill>
            <a:srgbClr val="0A1F3A"/>
          </a:solidFill>
          <a:ln w="12700">
            <a:solidFill>
              <a:srgbClr val="F5B942"/>
            </a:solidFill>
            <a:prstDash val="solid"/>
          </a:ln>
        </p:spPr>
      </p:sp>
      <p:sp>
        <p:nvSpPr>
          <p:cNvPr id="11" name="Text 6"/>
          <p:cNvSpPr txBox="1"/>
          <p:nvPr/>
        </p:nvSpPr>
        <p:spPr>
          <a:xfrm>
            <a:off x="7498080" y="1691640"/>
            <a:ext cx="4023360" cy="228600"/>
          </a:xfrm>
          <a:prstGeom prst="rect">
            <a:avLst/>
          </a:prstGeom>
          <a:noFill/>
          <a:ln/>
        </p:spPr>
        <p:txBody>
          <a:bodyPr wrap="square" lIns="0" tIns="0" rIns="0" bIns="0" rtlCol="0" anchor="t"/>
          <a:lstStyle/>
          <a:p>
            <a:pPr indent="0" marL="0">
              <a:buNone/>
            </a:pPr>
            <a:r>
              <a:rPr lang="en-US" sz="1000" b="1" spc="200" kern="0" dirty="0">
                <a:solidFill>
                  <a:srgbClr val="A9B8D0"/>
                </a:solidFill>
                <a:latin typeface="Calibri" pitchFamily="34" charset="0"/>
                <a:ea typeface="Calibri" pitchFamily="34" charset="-122"/>
                <a:cs typeface="Calibri" pitchFamily="34" charset="-120"/>
              </a:rPr>
              <a:t>AT RISK (HIGH FREQUENCY)</a:t>
            </a:r>
            <a:endParaRPr lang="en-US" sz="1000" dirty="0"/>
          </a:p>
        </p:txBody>
      </p:sp>
      <p:sp>
        <p:nvSpPr>
          <p:cNvPr id="12" name="Text 7"/>
          <p:cNvSpPr txBox="1"/>
          <p:nvPr/>
        </p:nvSpPr>
        <p:spPr>
          <a:xfrm>
            <a:off x="7498080" y="1938528"/>
            <a:ext cx="4023360" cy="457200"/>
          </a:xfrm>
          <a:prstGeom prst="rect">
            <a:avLst/>
          </a:prstGeom>
          <a:noFill/>
          <a:ln/>
        </p:spPr>
        <p:txBody>
          <a:bodyPr wrap="square" lIns="0" tIns="0" rIns="0" bIns="0" rtlCol="0" anchor="t"/>
          <a:lstStyle/>
          <a:p>
            <a:pPr indent="0" marL="0">
              <a:buNone/>
            </a:pPr>
            <a:r>
              <a:rPr lang="en-US" sz="2800" b="1" dirty="0">
                <a:solidFill>
                  <a:srgbClr val="F5B942"/>
                </a:solidFill>
                <a:latin typeface="Calibri" pitchFamily="34" charset="0"/>
                <a:ea typeface="Calibri" pitchFamily="34" charset="-122"/>
                <a:cs typeface="Calibri" pitchFamily="34" charset="-120"/>
              </a:rPr>
              <a:t>3,745 customers</a:t>
            </a:r>
            <a:endParaRPr lang="en-US" sz="2800" dirty="0"/>
          </a:p>
        </p:txBody>
      </p:sp>
      <p:sp>
        <p:nvSpPr>
          <p:cNvPr id="13" name="Text 8"/>
          <p:cNvSpPr txBox="1"/>
          <p:nvPr/>
        </p:nvSpPr>
        <p:spPr>
          <a:xfrm>
            <a:off x="7498080" y="2450592"/>
            <a:ext cx="4023360" cy="274320"/>
          </a:xfrm>
          <a:prstGeom prst="rect">
            <a:avLst/>
          </a:prstGeom>
          <a:noFill/>
          <a:ln/>
        </p:spPr>
        <p:txBody>
          <a:bodyPr wrap="square" lIns="0" tIns="0" rIns="0" bIns="0" rtlCol="0" anchor="t"/>
          <a:lstStyle/>
          <a:p>
            <a:pPr indent="0" marL="0">
              <a:buNone/>
            </a:pPr>
            <a:r>
              <a:rPr lang="en-US" sz="1100" dirty="0">
                <a:solidFill>
                  <a:srgbClr val="A9B8D0"/>
                </a:solidFill>
                <a:latin typeface="Calibri" pitchFamily="34" charset="0"/>
                <a:ea typeface="Calibri" pitchFamily="34" charset="-122"/>
                <a:cs typeface="Calibri" pitchFamily="34" charset="-120"/>
              </a:rPr>
              <a:t>16% of base | 32% of sales | median 229 days silent</a:t>
            </a:r>
            <a:endParaRPr lang="en-US" sz="1100" dirty="0"/>
          </a:p>
        </p:txBody>
      </p:sp>
      <p:sp>
        <p:nvSpPr>
          <p:cNvPr id="14" name="Shape 9"/>
          <p:cNvSpPr/>
          <p:nvPr/>
        </p:nvSpPr>
        <p:spPr>
          <a:xfrm>
            <a:off x="7315200" y="2926080"/>
            <a:ext cx="4389120" cy="3291840"/>
          </a:xfrm>
          <a:prstGeom prst="roundRect">
            <a:avLst>
              <a:gd name="adj" fmla="val 2222"/>
            </a:avLst>
          </a:prstGeom>
          <a:solidFill>
            <a:srgbClr val="0A1F3A"/>
          </a:solidFill>
          <a:ln w="12700">
            <a:solidFill>
              <a:srgbClr val="17406E"/>
            </a:solidFill>
            <a:prstDash val="solid"/>
          </a:ln>
        </p:spPr>
      </p:sp>
      <p:sp>
        <p:nvSpPr>
          <p:cNvPr id="15" name="Text 10"/>
          <p:cNvSpPr txBox="1"/>
          <p:nvPr/>
        </p:nvSpPr>
        <p:spPr>
          <a:xfrm>
            <a:off x="7498080" y="3063240"/>
            <a:ext cx="4023360" cy="274320"/>
          </a:xfrm>
          <a:prstGeom prst="rect">
            <a:avLst/>
          </a:prstGeom>
          <a:noFill/>
          <a:ln/>
        </p:spPr>
        <p:txBody>
          <a:bodyPr wrap="square" lIns="0" tIns="0" rIns="0" bIns="0" rtlCol="0" anchor="t"/>
          <a:lstStyle/>
          <a:p>
            <a:pPr indent="0" marL="0">
              <a:buNone/>
            </a:pPr>
            <a:r>
              <a:rPr lang="en-US" sz="1100" b="1" spc="200" kern="0" dirty="0">
                <a:solidFill>
                  <a:srgbClr val="22D3EE"/>
                </a:solidFill>
                <a:latin typeface="Calibri" pitchFamily="34" charset="0"/>
                <a:ea typeface="Calibri" pitchFamily="34" charset="-122"/>
                <a:cs typeface="Calibri" pitchFamily="34" charset="-120"/>
              </a:rPr>
              <a:t>WHY IT MATTERS</a:t>
            </a:r>
            <a:endParaRPr lang="en-US" sz="1100" dirty="0"/>
          </a:p>
        </p:txBody>
      </p:sp>
      <p:sp>
        <p:nvSpPr>
          <p:cNvPr id="16" name="Text 11"/>
          <p:cNvSpPr txBox="1"/>
          <p:nvPr/>
        </p:nvSpPr>
        <p:spPr>
          <a:xfrm>
            <a:off x="7498080" y="3429000"/>
            <a:ext cx="4023360" cy="274320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65% are opted in for WhatsApp/SMS win-back (CRM cost per order ~EGP 7).</a:t>
            </a:r>
            <a:endParaRPr lang="en-US" sz="1200" dirty="0"/>
          </a:p>
          <a:p>
            <a:pPr marL="177800" indent="-1778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6,625 retail customers lapsed 180+ days: EGP 22.0M historical sales.</a:t>
            </a:r>
            <a:endParaRPr lang="en-US" sz="1200" dirty="0"/>
          </a:p>
          <a:p>
            <a:pPr marL="177800" indent="-1778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Next-quarter retention of new cohorts: 91% (Q4-2023) down to ~44% (2025+ cohorts).</a:t>
            </a:r>
            <a:endParaRPr lang="en-US" sz="1200" dirty="0"/>
          </a:p>
          <a:p>
            <a:pPr marL="177800" indent="-1778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Acquisition channel makes no difference to repeat rate (82-84%): the gap is after the first purchase.</a:t>
            </a:r>
            <a:endParaRPr lang="en-US" sz="1200" dirty="0"/>
          </a:p>
          <a:p>
            <a:pPr marL="177800" indent="-1778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Win-back value: EGP 0.12-0.36M GP/yr (5-15% reactivation).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22D3EE"/>
                </a:solidFill>
                <a:latin typeface="Calibri" pitchFamily="34" charset="0"/>
                <a:ea typeface="Calibri" pitchFamily="34" charset="-122"/>
                <a:cs typeface="Calibri" pitchFamily="34" charset="-120"/>
              </a:rPr>
              <a:t>OPERATIONS, INVENTORY, SUPPLIERS &amp; QUALITY</a:t>
            </a:r>
            <a:endParaRPr lang="en-US" sz="1100" dirty="0"/>
          </a:p>
        </p:txBody>
      </p:sp>
      <p:sp>
        <p:nvSpPr>
          <p:cNvPr id="4" name="Text 2"/>
          <p:cNvSpPr txBox="1"/>
          <p:nvPr/>
        </p:nvSpPr>
        <p:spPr>
          <a:xfrm>
            <a:off x="457200" y="566928"/>
            <a:ext cx="11247120" cy="868680"/>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Value also leaks inside the operation: misplaced stock, a failing supplier pair, factory bottlenecks and poor quality</a:t>
            </a:r>
            <a:endParaRPr lang="en-US" sz="2600" dirty="0"/>
          </a:p>
        </p:txBody>
      </p:sp>
      <p:pic>
        <p:nvPicPr>
          <p:cNvPr id="5" name="Image 0" descr="logo.png">    </p:cNvPr>
          <p:cNvPicPr>
            <a:picLocks noChangeAspect="1"/>
          </p:cNvPicPr>
          <p:nvPr/>
        </p:nvPicPr>
        <p:blipFill>
          <a:blip r:embed="rId1"/>
          <a:stretch>
            <a:fillRect/>
          </a:stretch>
        </p:blipFill>
        <p:spPr>
          <a:xfrm>
            <a:off x="457200" y="6400800"/>
            <a:ext cx="868680" cy="365760"/>
          </a:xfrm>
          <a:prstGeom prst="rect">
            <a:avLst/>
          </a:prstGeom>
        </p:spPr>
      </p:pic>
      <p:sp>
        <p:nvSpPr>
          <p:cNvPr id="6" name="Text 3"/>
          <p:cNvSpPr txBox="1"/>
          <p:nvPr/>
        </p:nvSpPr>
        <p:spPr>
          <a:xfrm>
            <a:off x="1554480" y="6419088"/>
            <a:ext cx="9418320" cy="329184"/>
          </a:xfrm>
          <a:prstGeom prst="rect">
            <a:avLst/>
          </a:prstGeom>
          <a:noFill/>
          <a:ln/>
        </p:spPr>
        <p:txBody>
          <a:bodyPr wrap="square" lIns="0" tIns="0" rIns="0" bIns="0" rtlCol="0" anchor="ctr"/>
          <a:lstStyle/>
          <a:p>
            <a:pPr indent="0" marL="0">
              <a:buNone/>
            </a:pPr>
            <a:r>
              <a:rPr lang="en-US" sz="1000" dirty="0">
                <a:solidFill>
                  <a:srgbClr val="A9B8D0"/>
                </a:solidFill>
                <a:latin typeface="Calibri" pitchFamily="34" charset="0"/>
                <a:ea typeface="Calibri" pitchFamily="34" charset="-122"/>
                <a:cs typeface="Calibri" pitchFamily="34" charset="-120"/>
              </a:rPr>
              <a:t>Scope: inventory = Sep 2026 snapshot; other metrics Oct 2023 - Sep 2026. Cost of poor quality is estimated (QC loss + print rework/waste + quality-return refunds).</a:t>
            </a:r>
            <a:endParaRPr lang="en-US" sz="1000" dirty="0"/>
          </a:p>
        </p:txBody>
      </p:sp>
      <p:sp>
        <p:nvSpPr>
          <p:cNvPr id="7" name="Text 4"/>
          <p:cNvSpPr txBox="1"/>
          <p:nvPr/>
        </p:nvSpPr>
        <p:spPr>
          <a:xfrm>
            <a:off x="11247120" y="6419088"/>
            <a:ext cx="548640" cy="329184"/>
          </a:xfrm>
          <a:prstGeom prst="rect">
            <a:avLst/>
          </a:prstGeom>
          <a:noFill/>
          <a:ln/>
        </p:spPr>
        <p:txBody>
          <a:bodyPr wrap="square" lIns="0" tIns="0" rIns="0" bIns="0" rtlCol="0" anchor="ctr"/>
          <a:lstStyle/>
          <a:p>
            <a:pPr algn="r" indent="0" marL="0">
              <a:buNone/>
            </a:pPr>
            <a:r>
              <a:rPr lang="en-US" sz="1000" dirty="0">
                <a:solidFill>
                  <a:srgbClr val="A9B8D0"/>
                </a:solidFill>
                <a:latin typeface="Calibri" pitchFamily="34" charset="0"/>
                <a:ea typeface="Calibri" pitchFamily="34" charset="-122"/>
                <a:cs typeface="Calibri" pitchFamily="34" charset="-120"/>
              </a:rPr>
              <a:t>7</a:t>
            </a:r>
            <a:endParaRPr lang="en-US" sz="1000" dirty="0"/>
          </a:p>
        </p:txBody>
      </p:sp>
      <p:sp>
        <p:nvSpPr>
          <p:cNvPr id="9" name="Text 5"/>
          <p:cNvSpPr txBox="1"/>
          <p:nvPr/>
        </p:nvSpPr>
        <p:spPr>
          <a:xfrm>
            <a:off x="1600200" y="1536192"/>
            <a:ext cx="3383280" cy="228600"/>
          </a:xfrm>
          <a:prstGeom prst="rect">
            <a:avLst/>
          </a:prstGeom>
          <a:noFill/>
          <a:ln/>
        </p:spPr>
        <p:txBody>
          <a:bodyPr wrap="square" lIns="0" tIns="0" rIns="0" bIns="0" rtlCol="0" anchor="t"/>
          <a:lstStyle/>
          <a:p>
            <a:pPr indent="0" marL="0">
              <a:buNone/>
            </a:pPr>
            <a:r>
              <a:rPr lang="en-US" sz="1000" b="1" spc="200" kern="0" dirty="0">
                <a:solidFill>
                  <a:srgbClr val="22D3EE"/>
                </a:solidFill>
                <a:latin typeface="Calibri" pitchFamily="34" charset="0"/>
                <a:ea typeface="Calibri" pitchFamily="34" charset="-122"/>
                <a:cs typeface="Calibri" pitchFamily="34" charset="-120"/>
              </a:rPr>
              <a:t>PROBLEM</a:t>
            </a:r>
            <a:endParaRPr lang="en-US" sz="1000" dirty="0"/>
          </a:p>
        </p:txBody>
      </p:sp>
      <p:sp>
        <p:nvSpPr>
          <p:cNvPr id="10" name="Text 6"/>
          <p:cNvSpPr txBox="1"/>
          <p:nvPr/>
        </p:nvSpPr>
        <p:spPr>
          <a:xfrm>
            <a:off x="5120640" y="1536192"/>
            <a:ext cx="3200400" cy="228600"/>
          </a:xfrm>
          <a:prstGeom prst="rect">
            <a:avLst/>
          </a:prstGeom>
          <a:noFill/>
          <a:ln/>
        </p:spPr>
        <p:txBody>
          <a:bodyPr wrap="square" lIns="0" tIns="0" rIns="0" bIns="0" rtlCol="0" anchor="t"/>
          <a:lstStyle/>
          <a:p>
            <a:pPr indent="0" marL="0">
              <a:buNone/>
            </a:pPr>
            <a:r>
              <a:rPr lang="en-US" sz="1000" b="1" spc="200" kern="0" dirty="0">
                <a:solidFill>
                  <a:srgbClr val="22D3EE"/>
                </a:solidFill>
                <a:latin typeface="Calibri" pitchFamily="34" charset="0"/>
                <a:ea typeface="Calibri" pitchFamily="34" charset="-122"/>
                <a:cs typeface="Calibri" pitchFamily="34" charset="-120"/>
              </a:rPr>
              <a:t>BUSINESS IMPACT</a:t>
            </a:r>
            <a:endParaRPr lang="en-US" sz="1000" dirty="0"/>
          </a:p>
        </p:txBody>
      </p:sp>
      <p:sp>
        <p:nvSpPr>
          <p:cNvPr id="11" name="Text 7"/>
          <p:cNvSpPr txBox="1"/>
          <p:nvPr/>
        </p:nvSpPr>
        <p:spPr>
          <a:xfrm>
            <a:off x="8458200" y="1536192"/>
            <a:ext cx="3200400" cy="228600"/>
          </a:xfrm>
          <a:prstGeom prst="rect">
            <a:avLst/>
          </a:prstGeom>
          <a:noFill/>
          <a:ln/>
        </p:spPr>
        <p:txBody>
          <a:bodyPr wrap="square" lIns="0" tIns="0" rIns="0" bIns="0" rtlCol="0" anchor="t"/>
          <a:lstStyle/>
          <a:p>
            <a:pPr indent="0" marL="0">
              <a:buNone/>
            </a:pPr>
            <a:r>
              <a:rPr lang="en-US" sz="1000" b="1" spc="200" kern="0" dirty="0">
                <a:solidFill>
                  <a:srgbClr val="22D3EE"/>
                </a:solidFill>
                <a:latin typeface="Calibri" pitchFamily="34" charset="0"/>
                <a:ea typeface="Calibri" pitchFamily="34" charset="-122"/>
                <a:cs typeface="Calibri" pitchFamily="34" charset="-120"/>
              </a:rPr>
              <a:t>ACTION</a:t>
            </a:r>
            <a:endParaRPr lang="en-US" sz="1000" dirty="0"/>
          </a:p>
        </p:txBody>
      </p:sp>
      <p:sp>
        <p:nvSpPr>
          <p:cNvPr id="12" name="Shape 8"/>
          <p:cNvSpPr/>
          <p:nvPr/>
        </p:nvSpPr>
        <p:spPr>
          <a:xfrm>
            <a:off x="457200" y="1810512"/>
            <a:ext cx="11247120" cy="1024128"/>
          </a:xfrm>
          <a:prstGeom prst="roundRect">
            <a:avLst>
              <a:gd name="adj" fmla="val 7143"/>
            </a:avLst>
          </a:prstGeom>
          <a:solidFill>
            <a:srgbClr val="0A1F3A"/>
          </a:solidFill>
          <a:ln w="12700">
            <a:solidFill>
              <a:srgbClr val="17406E"/>
            </a:solidFill>
            <a:prstDash val="solid"/>
          </a:ln>
        </p:spPr>
      </p:sp>
      <p:sp>
        <p:nvSpPr>
          <p:cNvPr id="13" name="Shape 9"/>
          <p:cNvSpPr/>
          <p:nvPr/>
        </p:nvSpPr>
        <p:spPr>
          <a:xfrm>
            <a:off x="457200" y="1901952"/>
            <a:ext cx="64008" cy="841248"/>
          </a:xfrm>
          <a:prstGeom prst="rect">
            <a:avLst/>
          </a:prstGeom>
          <a:solidFill>
            <a:srgbClr val="3B82F6"/>
          </a:solidFill>
          <a:ln/>
        </p:spPr>
      </p:sp>
      <p:sp>
        <p:nvSpPr>
          <p:cNvPr id="14" name="Text 10"/>
          <p:cNvSpPr txBox="1"/>
          <p:nvPr/>
        </p:nvSpPr>
        <p:spPr>
          <a:xfrm>
            <a:off x="658368" y="1810512"/>
            <a:ext cx="914400" cy="1024128"/>
          </a:xfrm>
          <a:prstGeom prst="rect">
            <a:avLst/>
          </a:prstGeom>
          <a:noFill/>
          <a:ln/>
        </p:spPr>
        <p:txBody>
          <a:bodyPr wrap="square" lIns="0" tIns="0" rIns="0" bIns="0" rtlCol="0" anchor="ctr"/>
          <a:lstStyle/>
          <a:p>
            <a:pPr indent="0" marL="0">
              <a:buNone/>
            </a:pPr>
            <a:r>
              <a:rPr lang="en-US" sz="900" b="1" dirty="0">
                <a:solidFill>
                  <a:srgbClr val="3B82F6"/>
                </a:solidFill>
                <a:latin typeface="Calibri" pitchFamily="34" charset="0"/>
                <a:ea typeface="Calibri" pitchFamily="34" charset="-122"/>
                <a:cs typeface="Calibri" pitchFamily="34" charset="-120"/>
              </a:rPr>
              <a:t>INVENTORY</a:t>
            </a:r>
            <a:endParaRPr lang="en-US" sz="900" dirty="0"/>
          </a:p>
        </p:txBody>
      </p:sp>
      <p:sp>
        <p:nvSpPr>
          <p:cNvPr id="15" name="Text 11"/>
          <p:cNvSpPr txBox="1"/>
          <p:nvPr/>
        </p:nvSpPr>
        <p:spPr>
          <a:xfrm>
            <a:off x="1600200" y="1883664"/>
            <a:ext cx="3291840" cy="89611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Wholesale: ~11 days cover, 36/59 SKUs below reorder point. Retail/online: ~115 days cover.</a:t>
            </a:r>
            <a:endParaRPr lang="en-US" sz="1100" dirty="0"/>
          </a:p>
        </p:txBody>
      </p:sp>
      <p:sp>
        <p:nvSpPr>
          <p:cNvPr id="16" name="Text 12"/>
          <p:cNvSpPr txBox="1"/>
          <p:nvPr/>
        </p:nvSpPr>
        <p:spPr>
          <a:xfrm>
            <a:off x="5120640" y="1883664"/>
            <a:ext cx="3108960" cy="89611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EGP 7.5M excess stock (49% of stock value); est. EGP 1.06M gross profit lost to wholesale stockouts (3 yrs).</a:t>
            </a:r>
            <a:endParaRPr lang="en-US" sz="1100" dirty="0"/>
          </a:p>
        </p:txBody>
      </p:sp>
      <p:sp>
        <p:nvSpPr>
          <p:cNvPr id="17" name="Text 13"/>
          <p:cNvSpPr txBox="1"/>
          <p:nvPr/>
        </p:nvSpPr>
        <p:spPr>
          <a:xfrm>
            <a:off x="8458200" y="1883664"/>
            <a:ext cx="3108960" cy="89611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Forecast-driven replenishment (EGP 10.1M of wholesale orders needed); freeze buying on overstocked SKUs.</a:t>
            </a:r>
            <a:endParaRPr lang="en-US" sz="1100" dirty="0"/>
          </a:p>
        </p:txBody>
      </p:sp>
      <p:sp>
        <p:nvSpPr>
          <p:cNvPr id="18" name="Shape 14"/>
          <p:cNvSpPr/>
          <p:nvPr/>
        </p:nvSpPr>
        <p:spPr>
          <a:xfrm>
            <a:off x="457200" y="2926080"/>
            <a:ext cx="11247120" cy="1024128"/>
          </a:xfrm>
          <a:prstGeom prst="roundRect">
            <a:avLst>
              <a:gd name="adj" fmla="val 7143"/>
            </a:avLst>
          </a:prstGeom>
          <a:solidFill>
            <a:srgbClr val="0A1F3A"/>
          </a:solidFill>
          <a:ln w="12700">
            <a:solidFill>
              <a:srgbClr val="17406E"/>
            </a:solidFill>
            <a:prstDash val="solid"/>
          </a:ln>
        </p:spPr>
      </p:sp>
      <p:sp>
        <p:nvSpPr>
          <p:cNvPr id="19" name="Shape 15"/>
          <p:cNvSpPr/>
          <p:nvPr/>
        </p:nvSpPr>
        <p:spPr>
          <a:xfrm>
            <a:off x="457200" y="3017520"/>
            <a:ext cx="64008" cy="841248"/>
          </a:xfrm>
          <a:prstGeom prst="rect">
            <a:avLst/>
          </a:prstGeom>
          <a:solidFill>
            <a:srgbClr val="F5B942"/>
          </a:solidFill>
          <a:ln/>
        </p:spPr>
      </p:sp>
      <p:sp>
        <p:nvSpPr>
          <p:cNvPr id="20" name="Text 16"/>
          <p:cNvSpPr txBox="1"/>
          <p:nvPr/>
        </p:nvSpPr>
        <p:spPr>
          <a:xfrm>
            <a:off x="658368" y="2926080"/>
            <a:ext cx="914400" cy="1024128"/>
          </a:xfrm>
          <a:prstGeom prst="rect">
            <a:avLst/>
          </a:prstGeom>
          <a:noFill/>
          <a:ln/>
        </p:spPr>
        <p:txBody>
          <a:bodyPr wrap="square" lIns="0" tIns="0" rIns="0" bIns="0" rtlCol="0" anchor="ctr"/>
          <a:lstStyle/>
          <a:p>
            <a:pPr indent="0" marL="0">
              <a:buNone/>
            </a:pPr>
            <a:r>
              <a:rPr lang="en-US" sz="900" b="1" dirty="0">
                <a:solidFill>
                  <a:srgbClr val="F5B942"/>
                </a:solidFill>
                <a:latin typeface="Calibri" pitchFamily="34" charset="0"/>
                <a:ea typeface="Calibri" pitchFamily="34" charset="-122"/>
                <a:cs typeface="Calibri" pitchFamily="34" charset="-120"/>
              </a:rPr>
              <a:t>PRODUCTION</a:t>
            </a:r>
            <a:endParaRPr lang="en-US" sz="900" dirty="0"/>
          </a:p>
        </p:txBody>
      </p:sp>
      <p:sp>
        <p:nvSpPr>
          <p:cNvPr id="21" name="Text 17"/>
          <p:cNvSpPr txBox="1"/>
          <p:nvPr/>
        </p:nvSpPr>
        <p:spPr>
          <a:xfrm>
            <a:off x="1600200" y="2999232"/>
            <a:ext cx="3291840" cy="89611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Sewing + Finishing = 68% of delay days; LINE-04 late 20% vs 15%. Orders needing &gt;15h overtime are late 66% of the time.</a:t>
            </a:r>
            <a:endParaRPr lang="en-US" sz="1100" dirty="0"/>
          </a:p>
        </p:txBody>
      </p:sp>
      <p:sp>
        <p:nvSpPr>
          <p:cNvPr id="22" name="Text 18"/>
          <p:cNvSpPr txBox="1"/>
          <p:nvPr/>
        </p:nvSpPr>
        <p:spPr>
          <a:xfrm>
            <a:off x="5120640" y="2999232"/>
            <a:ext cx="3108960" cy="89611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Missed due dates; overtime is a symptom, not a cure. Not linked to supplier delays.</a:t>
            </a:r>
            <a:endParaRPr lang="en-US" sz="1100" dirty="0"/>
          </a:p>
        </p:txBody>
      </p:sp>
      <p:sp>
        <p:nvSpPr>
          <p:cNvPr id="23" name="Text 19"/>
          <p:cNvSpPr txBox="1"/>
          <p:nvPr/>
        </p:nvSpPr>
        <p:spPr>
          <a:xfrm>
            <a:off x="8458200" y="2999232"/>
            <a:ext cx="3108960" cy="89611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Re-balance Sewing/Finishing; review LINE-04; cap overtime.</a:t>
            </a:r>
            <a:endParaRPr lang="en-US" sz="1100" dirty="0"/>
          </a:p>
        </p:txBody>
      </p:sp>
      <p:sp>
        <p:nvSpPr>
          <p:cNvPr id="24" name="Shape 20"/>
          <p:cNvSpPr/>
          <p:nvPr/>
        </p:nvSpPr>
        <p:spPr>
          <a:xfrm>
            <a:off x="457200" y="4041648"/>
            <a:ext cx="11247120" cy="1024128"/>
          </a:xfrm>
          <a:prstGeom prst="roundRect">
            <a:avLst>
              <a:gd name="adj" fmla="val 7143"/>
            </a:avLst>
          </a:prstGeom>
          <a:solidFill>
            <a:srgbClr val="0A1F3A"/>
          </a:solidFill>
          <a:ln w="12700">
            <a:solidFill>
              <a:srgbClr val="17406E"/>
            </a:solidFill>
            <a:prstDash val="solid"/>
          </a:ln>
        </p:spPr>
      </p:sp>
      <p:sp>
        <p:nvSpPr>
          <p:cNvPr id="25" name="Shape 21"/>
          <p:cNvSpPr/>
          <p:nvPr/>
        </p:nvSpPr>
        <p:spPr>
          <a:xfrm>
            <a:off x="457200" y="4133088"/>
            <a:ext cx="64008" cy="841248"/>
          </a:xfrm>
          <a:prstGeom prst="rect">
            <a:avLst/>
          </a:prstGeom>
          <a:solidFill>
            <a:srgbClr val="F87171"/>
          </a:solidFill>
          <a:ln/>
        </p:spPr>
      </p:sp>
      <p:sp>
        <p:nvSpPr>
          <p:cNvPr id="26" name="Text 22"/>
          <p:cNvSpPr txBox="1"/>
          <p:nvPr/>
        </p:nvSpPr>
        <p:spPr>
          <a:xfrm>
            <a:off x="658368" y="4041648"/>
            <a:ext cx="914400" cy="1024128"/>
          </a:xfrm>
          <a:prstGeom prst="rect">
            <a:avLst/>
          </a:prstGeom>
          <a:noFill/>
          <a:ln/>
        </p:spPr>
        <p:txBody>
          <a:bodyPr wrap="square" lIns="0" tIns="0" rIns="0" bIns="0" rtlCol="0" anchor="ctr"/>
          <a:lstStyle/>
          <a:p>
            <a:pPr indent="0" marL="0">
              <a:buNone/>
            </a:pPr>
            <a:r>
              <a:rPr lang="en-US" sz="900" b="1" dirty="0">
                <a:solidFill>
                  <a:srgbClr val="F87171"/>
                </a:solidFill>
                <a:latin typeface="Calibri" pitchFamily="34" charset="0"/>
                <a:ea typeface="Calibri" pitchFamily="34" charset="-122"/>
                <a:cs typeface="Calibri" pitchFamily="34" charset="-120"/>
              </a:rPr>
              <a:t>SUPPLIERS</a:t>
            </a:r>
            <a:endParaRPr lang="en-US" sz="900" dirty="0"/>
          </a:p>
        </p:txBody>
      </p:sp>
      <p:sp>
        <p:nvSpPr>
          <p:cNvPr id="27" name="Text 23"/>
          <p:cNvSpPr txBox="1"/>
          <p:nvPr/>
        </p:nvSpPr>
        <p:spPr>
          <a:xfrm>
            <a:off x="1600200" y="4114800"/>
            <a:ext cx="3291840" cy="89611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SUP04 and SUP09 on-time: ~65% to ~15% in 2025 (others steady ~71%).</a:t>
            </a:r>
            <a:endParaRPr lang="en-US" sz="1100" dirty="0"/>
          </a:p>
        </p:txBody>
      </p:sp>
      <p:sp>
        <p:nvSpPr>
          <p:cNvPr id="28" name="Text 24"/>
          <p:cNvSpPr txBox="1"/>
          <p:nvPr/>
        </p:nvSpPr>
        <p:spPr>
          <a:xfrm>
            <a:off x="5120640" y="4114800"/>
            <a:ext cx="3108960" cy="89611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16% of purchase spend at risk; shortage risk highest for thread, ink, rib cotton.</a:t>
            </a:r>
            <a:endParaRPr lang="en-US" sz="1100" dirty="0"/>
          </a:p>
        </p:txBody>
      </p:sp>
      <p:sp>
        <p:nvSpPr>
          <p:cNvPr id="29" name="Text 25"/>
          <p:cNvSpPr txBox="1"/>
          <p:nvPr/>
        </p:nvSpPr>
        <p:spPr>
          <a:xfrm>
            <a:off x="8458200" y="4114800"/>
            <a:ext cx="3108960" cy="89611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Enforce SLA on SUP04; contract or replace SUP09; add safety stock.</a:t>
            </a:r>
            <a:endParaRPr lang="en-US" sz="1100" dirty="0"/>
          </a:p>
        </p:txBody>
      </p:sp>
      <p:sp>
        <p:nvSpPr>
          <p:cNvPr id="30" name="Shape 26"/>
          <p:cNvSpPr/>
          <p:nvPr/>
        </p:nvSpPr>
        <p:spPr>
          <a:xfrm>
            <a:off x="457200" y="5157216"/>
            <a:ext cx="11247120" cy="1024128"/>
          </a:xfrm>
          <a:prstGeom prst="roundRect">
            <a:avLst>
              <a:gd name="adj" fmla="val 7143"/>
            </a:avLst>
          </a:prstGeom>
          <a:solidFill>
            <a:srgbClr val="0A1F3A"/>
          </a:solidFill>
          <a:ln w="12700">
            <a:solidFill>
              <a:srgbClr val="17406E"/>
            </a:solidFill>
            <a:prstDash val="solid"/>
          </a:ln>
        </p:spPr>
      </p:sp>
      <p:sp>
        <p:nvSpPr>
          <p:cNvPr id="31" name="Shape 27"/>
          <p:cNvSpPr/>
          <p:nvPr/>
        </p:nvSpPr>
        <p:spPr>
          <a:xfrm>
            <a:off x="457200" y="5248656"/>
            <a:ext cx="64008" cy="841248"/>
          </a:xfrm>
          <a:prstGeom prst="rect">
            <a:avLst/>
          </a:prstGeom>
          <a:solidFill>
            <a:srgbClr val="A78BFA"/>
          </a:solidFill>
          <a:ln/>
        </p:spPr>
      </p:sp>
      <p:sp>
        <p:nvSpPr>
          <p:cNvPr id="32" name="Text 28"/>
          <p:cNvSpPr txBox="1"/>
          <p:nvPr/>
        </p:nvSpPr>
        <p:spPr>
          <a:xfrm>
            <a:off x="658368" y="5157216"/>
            <a:ext cx="914400" cy="1024128"/>
          </a:xfrm>
          <a:prstGeom prst="rect">
            <a:avLst/>
          </a:prstGeom>
          <a:noFill/>
          <a:ln/>
        </p:spPr>
        <p:txBody>
          <a:bodyPr wrap="square" lIns="0" tIns="0" rIns="0" bIns="0" rtlCol="0" anchor="ctr"/>
          <a:lstStyle/>
          <a:p>
            <a:pPr indent="0" marL="0">
              <a:buNone/>
            </a:pPr>
            <a:r>
              <a:rPr lang="en-US" sz="900" b="1" dirty="0">
                <a:solidFill>
                  <a:srgbClr val="A78BFA"/>
                </a:solidFill>
                <a:latin typeface="Calibri" pitchFamily="34" charset="0"/>
                <a:ea typeface="Calibri" pitchFamily="34" charset="-122"/>
                <a:cs typeface="Calibri" pitchFamily="34" charset="-120"/>
              </a:rPr>
              <a:t>QUALITY</a:t>
            </a:r>
            <a:endParaRPr lang="en-US" sz="900" dirty="0"/>
          </a:p>
        </p:txBody>
      </p:sp>
      <p:sp>
        <p:nvSpPr>
          <p:cNvPr id="33" name="Text 29"/>
          <p:cNvSpPr txBox="1"/>
          <p:nvPr/>
        </p:nvSpPr>
        <p:spPr>
          <a:xfrm>
            <a:off x="1600200" y="5230368"/>
            <a:ext cx="3291840" cy="89611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Cost of poor quality EGP 20.3M. Losses spread across 9 defect types; 12% unclassified.</a:t>
            </a:r>
            <a:endParaRPr lang="en-US" sz="1100" dirty="0"/>
          </a:p>
        </p:txBody>
      </p:sp>
      <p:sp>
        <p:nvSpPr>
          <p:cNvPr id="34" name="Text 30"/>
          <p:cNvSpPr txBox="1"/>
          <p:nvPr/>
        </p:nvSpPr>
        <p:spPr>
          <a:xfrm>
            <a:off x="5120640" y="5230368"/>
            <a:ext cx="3108960" cy="89611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31% of gross profit. Fabric/stitching defects link to returns; size/fit (36% of returns) is not a factory issue.</a:t>
            </a:r>
            <a:endParaRPr lang="en-US" sz="1100" dirty="0"/>
          </a:p>
        </p:txBody>
      </p:sp>
      <p:sp>
        <p:nvSpPr>
          <p:cNvPr id="35" name="Text 31"/>
          <p:cNvSpPr txBox="1"/>
          <p:nvPr/>
        </p:nvSpPr>
        <p:spPr>
          <a:xfrm>
            <a:off x="8458200" y="5230368"/>
            <a:ext cx="3108960" cy="89611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Fix defect coding; process-control programme; PR-M03 and PR-M02 printer maintenance.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22D3EE"/>
                </a:solidFill>
                <a:latin typeface="Calibri" pitchFamily="34" charset="0"/>
                <a:ea typeface="Calibri" pitchFamily="34" charset="-122"/>
                <a:cs typeface="Calibri" pitchFamily="34" charset="-120"/>
              </a:rPr>
              <a:t>MARKETING &amp; OTHER VALUE LEAKS</a:t>
            </a:r>
            <a:endParaRPr lang="en-US" sz="1100" dirty="0"/>
          </a:p>
        </p:txBody>
      </p:sp>
      <p:sp>
        <p:nvSpPr>
          <p:cNvPr id="4" name="Text 2"/>
          <p:cNvSpPr txBox="1"/>
          <p:nvPr/>
        </p:nvSpPr>
        <p:spPr>
          <a:xfrm>
            <a:off x="457200" y="566928"/>
            <a:ext cx="11247120" cy="868680"/>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Marketing rankings are reliable, absolute returns are not - decide on ranking and test before scaling</a:t>
            </a:r>
            <a:endParaRPr lang="en-US" sz="2600" dirty="0"/>
          </a:p>
        </p:txBody>
      </p:sp>
      <p:pic>
        <p:nvPicPr>
          <p:cNvPr id="5" name="Image 0" descr="logo.png">    </p:cNvPr>
          <p:cNvPicPr>
            <a:picLocks noChangeAspect="1"/>
          </p:cNvPicPr>
          <p:nvPr/>
        </p:nvPicPr>
        <p:blipFill>
          <a:blip r:embed="rId1"/>
          <a:stretch>
            <a:fillRect/>
          </a:stretch>
        </p:blipFill>
        <p:spPr>
          <a:xfrm>
            <a:off x="457200" y="6400800"/>
            <a:ext cx="868680" cy="365760"/>
          </a:xfrm>
          <a:prstGeom prst="rect">
            <a:avLst/>
          </a:prstGeom>
        </p:spPr>
      </p:pic>
      <p:sp>
        <p:nvSpPr>
          <p:cNvPr id="6" name="Text 3"/>
          <p:cNvSpPr txBox="1"/>
          <p:nvPr/>
        </p:nvSpPr>
        <p:spPr>
          <a:xfrm>
            <a:off x="1554480" y="6419088"/>
            <a:ext cx="9418320" cy="329184"/>
          </a:xfrm>
          <a:prstGeom prst="rect">
            <a:avLst/>
          </a:prstGeom>
          <a:noFill/>
          <a:ln/>
        </p:spPr>
        <p:txBody>
          <a:bodyPr wrap="square" lIns="0" tIns="0" rIns="0" bIns="0" rtlCol="0" anchor="ctr"/>
          <a:lstStyle/>
          <a:p>
            <a:pPr indent="0" marL="0">
              <a:buNone/>
            </a:pPr>
            <a:r>
              <a:rPr lang="en-US" sz="1000" dirty="0">
                <a:solidFill>
                  <a:srgbClr val="A9B8D0"/>
                </a:solidFill>
                <a:latin typeface="Calibri" pitchFamily="34" charset="0"/>
                <a:ea typeface="Calibri" pitchFamily="34" charset="-122"/>
                <a:cs typeface="Calibri" pitchFamily="34" charset="-120"/>
              </a:rPr>
              <a:t>Scope: platform-reported ROAS, Oct 2023 - Sep 2026. Break-even ROAS 2.8x = 1 / retail+online gross margin. Marketing reallocation range = low/high scenario.</a:t>
            </a:r>
            <a:endParaRPr lang="en-US" sz="1000" dirty="0"/>
          </a:p>
        </p:txBody>
      </p:sp>
      <p:sp>
        <p:nvSpPr>
          <p:cNvPr id="7" name="Text 4"/>
          <p:cNvSpPr txBox="1"/>
          <p:nvPr/>
        </p:nvSpPr>
        <p:spPr>
          <a:xfrm>
            <a:off x="11247120" y="6419088"/>
            <a:ext cx="548640" cy="329184"/>
          </a:xfrm>
          <a:prstGeom prst="rect">
            <a:avLst/>
          </a:prstGeom>
          <a:noFill/>
          <a:ln/>
        </p:spPr>
        <p:txBody>
          <a:bodyPr wrap="square" lIns="0" tIns="0" rIns="0" bIns="0" rtlCol="0" anchor="ctr"/>
          <a:lstStyle/>
          <a:p>
            <a:pPr algn="r" indent="0" marL="0">
              <a:buNone/>
            </a:pPr>
            <a:r>
              <a:rPr lang="en-US" sz="1000" dirty="0">
                <a:solidFill>
                  <a:srgbClr val="A9B8D0"/>
                </a:solidFill>
                <a:latin typeface="Calibri" pitchFamily="34" charset="0"/>
                <a:ea typeface="Calibri" pitchFamily="34" charset="-122"/>
                <a:cs typeface="Calibri" pitchFamily="34" charset="-120"/>
              </a:rPr>
              <a:t>8</a:t>
            </a:r>
            <a:endParaRPr lang="en-US" sz="1000" dirty="0"/>
          </a:p>
        </p:txBody>
      </p:sp>
      <p:graphicFrame>
        <p:nvGraphicFramePr>
          <p:cNvPr id="9" name="Chart 0" descr=""/>
          <p:cNvGraphicFramePr/>
          <p:nvPr/>
        </p:nvGraphicFramePr>
        <p:xfrm>
          <a:off x="457200" y="1554480"/>
          <a:ext cx="6035040" cy="3657600"/>
        </p:xfrm>
        <a:graphic xmlns:a="http://schemas.openxmlformats.org/drawingml/2006/main">
          <a:graphicData uri="http://schemas.openxmlformats.org/drawingml/2006/chart">
            <c:chart xmlns:c="http://schemas.openxmlformats.org/drawingml/2006/chart" r:id="rId2"/>
          </a:graphicData>
        </a:graphic>
      </p:graphicFrame>
      <p:sp>
        <p:nvSpPr>
          <p:cNvPr id="10" name="Text 5"/>
          <p:cNvSpPr txBox="1"/>
          <p:nvPr/>
        </p:nvSpPr>
        <p:spPr>
          <a:xfrm>
            <a:off x="457200" y="5303520"/>
            <a:ext cx="6035040" cy="548640"/>
          </a:xfrm>
          <a:prstGeom prst="rect">
            <a:avLst/>
          </a:prstGeom>
          <a:noFill/>
          <a:ln/>
        </p:spPr>
        <p:txBody>
          <a:bodyPr wrap="square" lIns="0" tIns="0" rIns="0" bIns="0" rtlCol="0" anchor="t"/>
          <a:lstStyle/>
          <a:p>
            <a:pPr indent="0" marL="0">
              <a:buNone/>
            </a:pPr>
            <a:r>
              <a:rPr lang="en-US" sz="1200" dirty="0">
                <a:solidFill>
                  <a:srgbClr val="A9B8D0"/>
                </a:solidFill>
                <a:latin typeface="Calibri" pitchFamily="34" charset="0"/>
                <a:ea typeface="Calibri" pitchFamily="34" charset="-122"/>
                <a:cs typeface="Calibri" pitchFamily="34" charset="-120"/>
              </a:rPr>
              <a:t>Meta takes 37% of spend for 13% of attributed revenue. Influencer: 1.1x, CAC EGP 471.</a:t>
            </a:r>
            <a:endParaRPr lang="en-US" sz="1200" dirty="0"/>
          </a:p>
        </p:txBody>
      </p:sp>
      <p:sp>
        <p:nvSpPr>
          <p:cNvPr id="11" name="Shape 6"/>
          <p:cNvSpPr/>
          <p:nvPr/>
        </p:nvSpPr>
        <p:spPr>
          <a:xfrm>
            <a:off x="6766560" y="1554480"/>
            <a:ext cx="4937760" cy="1143000"/>
          </a:xfrm>
          <a:prstGeom prst="roundRect">
            <a:avLst>
              <a:gd name="adj" fmla="val 6400"/>
            </a:avLst>
          </a:prstGeom>
          <a:solidFill>
            <a:srgbClr val="0A1F3A"/>
          </a:solidFill>
          <a:ln w="12700">
            <a:solidFill>
              <a:srgbClr val="F5B942"/>
            </a:solidFill>
            <a:prstDash val="solid"/>
          </a:ln>
        </p:spPr>
      </p:sp>
      <p:sp>
        <p:nvSpPr>
          <p:cNvPr id="12" name="Text 7"/>
          <p:cNvSpPr txBox="1"/>
          <p:nvPr/>
        </p:nvSpPr>
        <p:spPr>
          <a:xfrm>
            <a:off x="6949440" y="1664208"/>
            <a:ext cx="4572000" cy="228600"/>
          </a:xfrm>
          <a:prstGeom prst="rect">
            <a:avLst/>
          </a:prstGeom>
          <a:noFill/>
          <a:ln/>
        </p:spPr>
        <p:txBody>
          <a:bodyPr wrap="square" lIns="0" tIns="0" rIns="0" bIns="0" rtlCol="0" anchor="t"/>
          <a:lstStyle/>
          <a:p>
            <a:pPr indent="0" marL="0">
              <a:buNone/>
            </a:pPr>
            <a:r>
              <a:rPr lang="en-US" sz="1000" b="1" spc="200" kern="0" dirty="0">
                <a:solidFill>
                  <a:srgbClr val="F5B942"/>
                </a:solidFill>
                <a:latin typeface="Calibri" pitchFamily="34" charset="0"/>
                <a:ea typeface="Calibri" pitchFamily="34" charset="-122"/>
                <a:cs typeface="Calibri" pitchFamily="34" charset="-120"/>
              </a:rPr>
              <a:t>ATTRIBUTION WARNING</a:t>
            </a:r>
            <a:endParaRPr lang="en-US" sz="1000" dirty="0"/>
          </a:p>
        </p:txBody>
      </p:sp>
      <p:sp>
        <p:nvSpPr>
          <p:cNvPr id="13" name="Text 8"/>
          <p:cNvSpPr txBox="1"/>
          <p:nvPr/>
        </p:nvSpPr>
        <p:spPr>
          <a:xfrm>
            <a:off x="6949440" y="1938528"/>
            <a:ext cx="457200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Platform-attributed revenue is 5.5x actual online sales. Use ROAS to rank, not as absolute profit.</a:t>
            </a:r>
            <a:endParaRPr lang="en-US" sz="1300" dirty="0"/>
          </a:p>
        </p:txBody>
      </p:sp>
      <p:sp>
        <p:nvSpPr>
          <p:cNvPr id="14" name="Shape 9"/>
          <p:cNvSpPr/>
          <p:nvPr/>
        </p:nvSpPr>
        <p:spPr>
          <a:xfrm>
            <a:off x="6766560" y="2834640"/>
            <a:ext cx="4937760" cy="1600200"/>
          </a:xfrm>
          <a:prstGeom prst="roundRect">
            <a:avLst>
              <a:gd name="adj" fmla="val 4571"/>
            </a:avLst>
          </a:prstGeom>
          <a:solidFill>
            <a:srgbClr val="0A1F3A"/>
          </a:solidFill>
          <a:ln w="12700">
            <a:solidFill>
              <a:srgbClr val="17406E"/>
            </a:solidFill>
            <a:prstDash val="solid"/>
          </a:ln>
        </p:spPr>
      </p:sp>
      <p:sp>
        <p:nvSpPr>
          <p:cNvPr id="15" name="Text 10"/>
          <p:cNvSpPr txBox="1"/>
          <p:nvPr/>
        </p:nvSpPr>
        <p:spPr>
          <a:xfrm>
            <a:off x="6949440" y="2944368"/>
            <a:ext cx="4572000" cy="228600"/>
          </a:xfrm>
          <a:prstGeom prst="rect">
            <a:avLst/>
          </a:prstGeom>
          <a:noFill/>
          <a:ln/>
        </p:spPr>
        <p:txBody>
          <a:bodyPr wrap="square" lIns="0" tIns="0" rIns="0" bIns="0" rtlCol="0" anchor="t"/>
          <a:lstStyle/>
          <a:p>
            <a:pPr indent="0" marL="0">
              <a:buNone/>
            </a:pPr>
            <a:r>
              <a:rPr lang="en-US" sz="1000" b="1" spc="200" kern="0" dirty="0">
                <a:solidFill>
                  <a:srgbClr val="22D3EE"/>
                </a:solidFill>
                <a:latin typeface="Calibri" pitchFamily="34" charset="0"/>
                <a:ea typeface="Calibri" pitchFamily="34" charset="-122"/>
                <a:cs typeface="Calibri" pitchFamily="34" charset="-120"/>
              </a:rPr>
              <a:t>RECOMMENDED REALLOCATION</a:t>
            </a:r>
            <a:endParaRPr lang="en-US" sz="1000" dirty="0"/>
          </a:p>
        </p:txBody>
      </p:sp>
      <p:sp>
        <p:nvSpPr>
          <p:cNvPr id="16" name="Text 11"/>
          <p:cNvSpPr txBox="1"/>
          <p:nvPr/>
        </p:nvSpPr>
        <p:spPr>
          <a:xfrm>
            <a:off x="6949440" y="3246120"/>
            <a:ext cx="4572000" cy="118872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Cut 50% of Influencer; pause 7 campaigns below 2x ROAS</a:t>
            </a:r>
            <a:endParaRPr lang="en-US" sz="1200" dirty="0"/>
          </a:p>
          <a:p>
            <a:pPr marL="177800" indent="-1778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+30% budget to Google; holdout tests on Meta/TikTok</a:t>
            </a:r>
            <a:endParaRPr lang="en-US" sz="1200" dirty="0"/>
          </a:p>
          <a:p>
            <a:pPr marL="177800" indent="-1778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Value: EGP -0.02M to +1.0M GP/yr (uncertain)</a:t>
            </a:r>
            <a:endParaRPr lang="en-US" sz="1200" dirty="0"/>
          </a:p>
        </p:txBody>
      </p:sp>
      <p:sp>
        <p:nvSpPr>
          <p:cNvPr id="17" name="Shape 12"/>
          <p:cNvSpPr/>
          <p:nvPr/>
        </p:nvSpPr>
        <p:spPr>
          <a:xfrm>
            <a:off x="6766560" y="4572000"/>
            <a:ext cx="4937760" cy="1600200"/>
          </a:xfrm>
          <a:prstGeom prst="roundRect">
            <a:avLst>
              <a:gd name="adj" fmla="val 4571"/>
            </a:avLst>
          </a:prstGeom>
          <a:solidFill>
            <a:srgbClr val="0A1F3A"/>
          </a:solidFill>
          <a:ln w="12700">
            <a:solidFill>
              <a:srgbClr val="17406E"/>
            </a:solidFill>
            <a:prstDash val="solid"/>
          </a:ln>
        </p:spPr>
      </p:sp>
      <p:sp>
        <p:nvSpPr>
          <p:cNvPr id="18" name="Text 13"/>
          <p:cNvSpPr txBox="1"/>
          <p:nvPr/>
        </p:nvSpPr>
        <p:spPr>
          <a:xfrm>
            <a:off x="6949440" y="4681728"/>
            <a:ext cx="4572000" cy="228600"/>
          </a:xfrm>
          <a:prstGeom prst="rect">
            <a:avLst/>
          </a:prstGeom>
          <a:noFill/>
          <a:ln/>
        </p:spPr>
        <p:txBody>
          <a:bodyPr wrap="square" lIns="0" tIns="0" rIns="0" bIns="0" rtlCol="0" anchor="t"/>
          <a:lstStyle/>
          <a:p>
            <a:pPr indent="0" marL="0">
              <a:buNone/>
            </a:pPr>
            <a:r>
              <a:rPr lang="en-US" sz="1000" b="1" spc="200" kern="0" dirty="0">
                <a:solidFill>
                  <a:srgbClr val="22D3EE"/>
                </a:solidFill>
                <a:latin typeface="Calibri" pitchFamily="34" charset="0"/>
                <a:ea typeface="Calibri" pitchFamily="34" charset="-122"/>
                <a:cs typeface="Calibri" pitchFamily="34" charset="-120"/>
              </a:rPr>
              <a:t>OTHER QUANTIFIED LEAKS</a:t>
            </a:r>
            <a:endParaRPr lang="en-US" sz="1000" dirty="0"/>
          </a:p>
        </p:txBody>
      </p:sp>
      <p:sp>
        <p:nvSpPr>
          <p:cNvPr id="19" name="Text 14"/>
          <p:cNvSpPr txBox="1"/>
          <p:nvPr/>
        </p:nvSpPr>
        <p:spPr>
          <a:xfrm>
            <a:off x="6949440" y="4983480"/>
            <a:ext cx="4572000" cy="118872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Online return rate 7.7% vs retail 3.5%; size/fit = 36% of returns</a:t>
            </a:r>
            <a:endParaRPr lang="en-US" sz="1200" dirty="0"/>
          </a:p>
          <a:p>
            <a:pPr marL="177800" indent="-1778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Size-guide value is small: ~EGP 0.02M GP/yr</a:t>
            </a:r>
            <a:endParaRPr lang="en-US" sz="1200" dirty="0"/>
          </a:p>
          <a:p>
            <a:pPr marL="177800" indent="-1778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Web conversion 2.9% falls to 2.0% when pages load &gt;3.5s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22D3EE"/>
                </a:solidFill>
                <a:latin typeface="Calibri" pitchFamily="34" charset="0"/>
                <a:ea typeface="Calibri" pitchFamily="34" charset="-122"/>
                <a:cs typeface="Calibri" pitchFamily="34" charset="-120"/>
              </a:rPr>
              <a:t>VALUE AT STAKE</a:t>
            </a:r>
            <a:endParaRPr lang="en-US" sz="1100" dirty="0"/>
          </a:p>
        </p:txBody>
      </p:sp>
      <p:sp>
        <p:nvSpPr>
          <p:cNvPr id="4" name="Text 2"/>
          <p:cNvSpPr txBox="1"/>
          <p:nvPr/>
        </p:nvSpPr>
        <p:spPr>
          <a:xfrm>
            <a:off x="457200" y="566928"/>
            <a:ext cx="11247120" cy="868680"/>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Pricing discipline is worth more than every other lever combined: act on wholesale discounts first</a:t>
            </a:r>
            <a:endParaRPr lang="en-US" sz="2600" dirty="0"/>
          </a:p>
        </p:txBody>
      </p:sp>
      <p:pic>
        <p:nvPicPr>
          <p:cNvPr id="5" name="Image 0" descr="logo.png">    </p:cNvPr>
          <p:cNvPicPr>
            <a:picLocks noChangeAspect="1"/>
          </p:cNvPicPr>
          <p:nvPr/>
        </p:nvPicPr>
        <p:blipFill>
          <a:blip r:embed="rId1"/>
          <a:stretch>
            <a:fillRect/>
          </a:stretch>
        </p:blipFill>
        <p:spPr>
          <a:xfrm>
            <a:off x="457200" y="6400800"/>
            <a:ext cx="868680" cy="365760"/>
          </a:xfrm>
          <a:prstGeom prst="rect">
            <a:avLst/>
          </a:prstGeom>
        </p:spPr>
      </p:pic>
      <p:sp>
        <p:nvSpPr>
          <p:cNvPr id="6" name="Text 3"/>
          <p:cNvSpPr txBox="1"/>
          <p:nvPr/>
        </p:nvSpPr>
        <p:spPr>
          <a:xfrm>
            <a:off x="1554480" y="6419088"/>
            <a:ext cx="9418320" cy="329184"/>
          </a:xfrm>
          <a:prstGeom prst="rect">
            <a:avLst/>
          </a:prstGeom>
          <a:noFill/>
          <a:ln/>
        </p:spPr>
        <p:txBody>
          <a:bodyPr wrap="square" lIns="0" tIns="0" rIns="0" bIns="0" rtlCol="0" anchor="ctr"/>
          <a:lstStyle/>
          <a:p>
            <a:pPr indent="0" marL="0">
              <a:buNone/>
            </a:pPr>
            <a:r>
              <a:rPr lang="en-US" sz="1000" dirty="0">
                <a:solidFill>
                  <a:srgbClr val="A9B8D0"/>
                </a:solidFill>
                <a:latin typeface="Calibri" pitchFamily="34" charset="0"/>
                <a:ea typeface="Calibri" pitchFamily="34" charset="-122"/>
                <a:cs typeface="Calibri" pitchFamily="34" charset="-120"/>
              </a:rPr>
              <a:t>Scope: annual gross profit, base case (low-high range). Pricing levers apply to wholesale invoices; items are additive estimates before implementation cost.</a:t>
            </a:r>
            <a:endParaRPr lang="en-US" sz="1000" dirty="0"/>
          </a:p>
        </p:txBody>
      </p:sp>
      <p:sp>
        <p:nvSpPr>
          <p:cNvPr id="7" name="Text 4"/>
          <p:cNvSpPr txBox="1"/>
          <p:nvPr/>
        </p:nvSpPr>
        <p:spPr>
          <a:xfrm>
            <a:off x="11247120" y="6419088"/>
            <a:ext cx="548640" cy="329184"/>
          </a:xfrm>
          <a:prstGeom prst="rect">
            <a:avLst/>
          </a:prstGeom>
          <a:noFill/>
          <a:ln/>
        </p:spPr>
        <p:txBody>
          <a:bodyPr wrap="square" lIns="0" tIns="0" rIns="0" bIns="0" rtlCol="0" anchor="ctr"/>
          <a:lstStyle/>
          <a:p>
            <a:pPr algn="r" indent="0" marL="0">
              <a:buNone/>
            </a:pPr>
            <a:r>
              <a:rPr lang="en-US" sz="1000" dirty="0">
                <a:solidFill>
                  <a:srgbClr val="A9B8D0"/>
                </a:solidFill>
                <a:latin typeface="Calibri" pitchFamily="34" charset="0"/>
                <a:ea typeface="Calibri" pitchFamily="34" charset="-122"/>
                <a:cs typeface="Calibri" pitchFamily="34" charset="-120"/>
              </a:rPr>
              <a:t>9</a:t>
            </a:r>
            <a:endParaRPr lang="en-US" sz="1000" dirty="0"/>
          </a:p>
        </p:txBody>
      </p:sp>
      <p:graphicFrame>
        <p:nvGraphicFramePr>
          <p:cNvPr id="9" name="Chart 0" descr=""/>
          <p:cNvGraphicFramePr/>
          <p:nvPr/>
        </p:nvGraphicFramePr>
        <p:xfrm>
          <a:off x="457200" y="1508760"/>
          <a:ext cx="7223760" cy="4206240"/>
        </p:xfrm>
        <a:graphic xmlns:a="http://schemas.openxmlformats.org/drawingml/2006/main">
          <a:graphicData uri="http://schemas.openxmlformats.org/drawingml/2006/chart">
            <c:chart xmlns:c="http://schemas.openxmlformats.org/drawingml/2006/chart" r:id="rId2"/>
          </a:graphicData>
        </a:graphic>
      </p:graphicFrame>
      <p:sp>
        <p:nvSpPr>
          <p:cNvPr id="10" name="Text 5"/>
          <p:cNvSpPr txBox="1"/>
          <p:nvPr/>
        </p:nvSpPr>
        <p:spPr>
          <a:xfrm>
            <a:off x="457200" y="5760720"/>
            <a:ext cx="7223760" cy="548640"/>
          </a:xfrm>
          <a:prstGeom prst="rect">
            <a:avLst/>
          </a:prstGeom>
          <a:noFill/>
          <a:ln/>
        </p:spPr>
        <p:txBody>
          <a:bodyPr wrap="square" lIns="0" tIns="0" rIns="0" bIns="0" rtlCol="0" anchor="t"/>
          <a:lstStyle/>
          <a:p>
            <a:pPr indent="0" marL="0">
              <a:buNone/>
            </a:pPr>
            <a:r>
              <a:rPr lang="en-US" sz="1050" dirty="0">
                <a:solidFill>
                  <a:srgbClr val="A9B8D0"/>
                </a:solidFill>
                <a:latin typeface="Calibri" pitchFamily="34" charset="0"/>
                <a:ea typeface="Calibri" pitchFamily="34" charset="-122"/>
                <a:cs typeface="Calibri" pitchFamily="34" charset="-120"/>
              </a:rPr>
              <a:t>Annual gross profit, base case. Ranges (low - high): Phase 1 EGP 2.9-4.9M | Phase 2 2.7-3.9M | quality 0.5-1.6M | win-back 0.1-0.4M | stockouts 0.1-0.3M | marketing -0.02-1.0M | size/fit 0.01-0.04M</a:t>
            </a:r>
            <a:endParaRPr lang="en-US" sz="1050" dirty="0"/>
          </a:p>
        </p:txBody>
      </p:sp>
      <p:sp>
        <p:nvSpPr>
          <p:cNvPr id="11" name="Shape 6"/>
          <p:cNvSpPr/>
          <p:nvPr/>
        </p:nvSpPr>
        <p:spPr>
          <a:xfrm>
            <a:off x="7955280" y="1508760"/>
            <a:ext cx="3749040" cy="1234440"/>
          </a:xfrm>
          <a:prstGeom prst="roundRect">
            <a:avLst>
              <a:gd name="adj" fmla="val 5926"/>
            </a:avLst>
          </a:prstGeom>
          <a:solidFill>
            <a:srgbClr val="0A1F3A"/>
          </a:solidFill>
          <a:ln w="12700">
            <a:solidFill>
              <a:srgbClr val="34D399"/>
            </a:solidFill>
            <a:prstDash val="solid"/>
          </a:ln>
        </p:spPr>
      </p:sp>
      <p:sp>
        <p:nvSpPr>
          <p:cNvPr id="12" name="Text 7"/>
          <p:cNvSpPr txBox="1"/>
          <p:nvPr/>
        </p:nvSpPr>
        <p:spPr>
          <a:xfrm>
            <a:off x="8138160" y="1645920"/>
            <a:ext cx="3383280" cy="228600"/>
          </a:xfrm>
          <a:prstGeom prst="rect">
            <a:avLst/>
          </a:prstGeom>
          <a:noFill/>
          <a:ln/>
        </p:spPr>
        <p:txBody>
          <a:bodyPr wrap="square" lIns="0" tIns="0" rIns="0" bIns="0" rtlCol="0" anchor="t"/>
          <a:lstStyle/>
          <a:p>
            <a:pPr indent="0" marL="0">
              <a:buNone/>
            </a:pPr>
            <a:r>
              <a:rPr lang="en-US" sz="1000" b="1" spc="200" kern="0" dirty="0">
                <a:solidFill>
                  <a:srgbClr val="A9B8D0"/>
                </a:solidFill>
                <a:latin typeface="Calibri" pitchFamily="34" charset="0"/>
                <a:ea typeface="Calibri" pitchFamily="34" charset="-122"/>
                <a:cs typeface="Calibri" pitchFamily="34" charset="-120"/>
              </a:rPr>
              <a:t>TOTAL BASE CASE</a:t>
            </a:r>
            <a:endParaRPr lang="en-US" sz="1000" dirty="0"/>
          </a:p>
        </p:txBody>
      </p:sp>
      <p:sp>
        <p:nvSpPr>
          <p:cNvPr id="13" name="Text 8"/>
          <p:cNvSpPr txBox="1"/>
          <p:nvPr/>
        </p:nvSpPr>
        <p:spPr>
          <a:xfrm>
            <a:off x="8138160" y="1892808"/>
            <a:ext cx="3383280" cy="457200"/>
          </a:xfrm>
          <a:prstGeom prst="rect">
            <a:avLst/>
          </a:prstGeom>
          <a:noFill/>
          <a:ln/>
        </p:spPr>
        <p:txBody>
          <a:bodyPr wrap="square" lIns="0" tIns="0" rIns="0" bIns="0" rtlCol="0" anchor="t"/>
          <a:lstStyle/>
          <a:p>
            <a:pPr indent="0" marL="0">
              <a:buNone/>
            </a:pPr>
            <a:r>
              <a:rPr lang="en-US" sz="2800" b="1" dirty="0">
                <a:solidFill>
                  <a:srgbClr val="34D399"/>
                </a:solidFill>
                <a:latin typeface="Calibri" pitchFamily="34" charset="0"/>
                <a:ea typeface="Calibri" pitchFamily="34" charset="-122"/>
                <a:cs typeface="Calibri" pitchFamily="34" charset="-120"/>
              </a:rPr>
              <a:t>EGP 8.8M / yr</a:t>
            </a:r>
            <a:endParaRPr lang="en-US" sz="2800" dirty="0"/>
          </a:p>
        </p:txBody>
      </p:sp>
      <p:sp>
        <p:nvSpPr>
          <p:cNvPr id="14" name="Text 9"/>
          <p:cNvSpPr txBox="1"/>
          <p:nvPr/>
        </p:nvSpPr>
        <p:spPr>
          <a:xfrm>
            <a:off x="8138160" y="2404872"/>
            <a:ext cx="3383280" cy="274320"/>
          </a:xfrm>
          <a:prstGeom prst="rect">
            <a:avLst/>
          </a:prstGeom>
          <a:noFill/>
          <a:ln/>
        </p:spPr>
        <p:txBody>
          <a:bodyPr wrap="square" lIns="0" tIns="0" rIns="0" bIns="0" rtlCol="0" anchor="t"/>
          <a:lstStyle/>
          <a:p>
            <a:pPr indent="0" marL="0">
              <a:buNone/>
            </a:pPr>
            <a:r>
              <a:rPr lang="en-US" sz="1100" dirty="0">
                <a:solidFill>
                  <a:srgbClr val="A9B8D0"/>
                </a:solidFill>
                <a:latin typeface="Calibri" pitchFamily="34" charset="0"/>
                <a:ea typeface="Calibri" pitchFamily="34" charset="-122"/>
                <a:cs typeface="Calibri" pitchFamily="34" charset="-120"/>
              </a:rPr>
              <a:t>= 38% of FY26 gross profit (~EGP 23M)</a:t>
            </a:r>
            <a:endParaRPr lang="en-US" sz="1100" dirty="0"/>
          </a:p>
        </p:txBody>
      </p:sp>
      <p:sp>
        <p:nvSpPr>
          <p:cNvPr id="15" name="Shape 10"/>
          <p:cNvSpPr/>
          <p:nvPr/>
        </p:nvSpPr>
        <p:spPr>
          <a:xfrm>
            <a:off x="7955280" y="2880360"/>
            <a:ext cx="3749040" cy="3383280"/>
          </a:xfrm>
          <a:prstGeom prst="roundRect">
            <a:avLst>
              <a:gd name="adj" fmla="val 2162"/>
            </a:avLst>
          </a:prstGeom>
          <a:solidFill>
            <a:srgbClr val="0A1F3A"/>
          </a:solidFill>
          <a:ln w="12700">
            <a:solidFill>
              <a:srgbClr val="F5B942"/>
            </a:solidFill>
            <a:prstDash val="solid"/>
          </a:ln>
        </p:spPr>
      </p:sp>
      <p:sp>
        <p:nvSpPr>
          <p:cNvPr id="16" name="Text 11"/>
          <p:cNvSpPr txBox="1"/>
          <p:nvPr/>
        </p:nvSpPr>
        <p:spPr>
          <a:xfrm>
            <a:off x="8138160" y="2999232"/>
            <a:ext cx="3474720" cy="274320"/>
          </a:xfrm>
          <a:prstGeom prst="rect">
            <a:avLst/>
          </a:prstGeom>
          <a:noFill/>
          <a:ln/>
        </p:spPr>
        <p:txBody>
          <a:bodyPr wrap="square" lIns="0" tIns="0" rIns="0" bIns="0" rtlCol="0" anchor="t"/>
          <a:lstStyle/>
          <a:p>
            <a:pPr indent="0" marL="0">
              <a:buNone/>
            </a:pPr>
            <a:r>
              <a:rPr lang="en-US" sz="1000" b="1" spc="100" kern="0" dirty="0">
                <a:solidFill>
                  <a:srgbClr val="F5B942"/>
                </a:solidFill>
                <a:latin typeface="Calibri" pitchFamily="34" charset="0"/>
                <a:ea typeface="Calibri" pitchFamily="34" charset="-122"/>
                <a:cs typeface="Calibri" pitchFamily="34" charset="-120"/>
              </a:rPr>
              <a:t>VALIDATE BEFORE IMPLEMENTATION</a:t>
            </a:r>
            <a:endParaRPr lang="en-US" sz="1000" dirty="0"/>
          </a:p>
        </p:txBody>
      </p:sp>
      <p:sp>
        <p:nvSpPr>
          <p:cNvPr id="17" name="Text 12"/>
          <p:cNvSpPr txBox="1"/>
          <p:nvPr/>
        </p:nvSpPr>
        <p:spPr>
          <a:xfrm>
            <a:off x="8138160" y="3337560"/>
            <a:ext cx="3474720" cy="2834640"/>
          </a:xfrm>
          <a:prstGeom prst="rect">
            <a:avLst/>
          </a:prstGeom>
          <a:noFill/>
          <a:ln/>
        </p:spPr>
        <p:txBody>
          <a:bodyPr wrap="square" lIns="0" tIns="0" rIns="0" bIns="0" rtlCol="0" anchor="t"/>
          <a:lstStyle/>
          <a:p>
            <a:pPr marL="177800" indent="-177800">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COGS is an estimate: confirm with Finance.</a:t>
            </a:r>
            <a:endParaRPr lang="en-US" sz="1150" dirty="0"/>
          </a:p>
          <a:p>
            <a:pPr marL="177800" indent="-177800">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Zero price-response observed only inside 28-38% discounts: pilot first.</a:t>
            </a:r>
            <a:endParaRPr lang="en-US" sz="1150" dirty="0"/>
          </a:p>
          <a:p>
            <a:pPr marL="177800" indent="-177800">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Marketing attribution, production volume (3.8x units sold) and purchases vs BOM do not reconcile.</a:t>
            </a:r>
            <a:endParaRPr lang="en-US" sz="1150" dirty="0"/>
          </a:p>
          <a:p>
            <a:pPr marL="177800" indent="-177800">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Customer retention trend: verify with CRM data.</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300" kern="0" dirty="0">
                <a:solidFill>
                  <a:srgbClr val="22D3EE"/>
                </a:solidFill>
                <a:latin typeface="Calibri" pitchFamily="34" charset="0"/>
                <a:ea typeface="Calibri" pitchFamily="34" charset="-122"/>
                <a:cs typeface="Calibri" pitchFamily="34" charset="-120"/>
              </a:rPr>
              <a:t>FROM INSIGHT TO ACTION: THE HVIA SOLUTION</a:t>
            </a:r>
            <a:endParaRPr lang="en-US" sz="1100" dirty="0"/>
          </a:p>
        </p:txBody>
      </p:sp>
      <p:sp>
        <p:nvSpPr>
          <p:cNvPr id="4" name="Text 2"/>
          <p:cNvSpPr txBox="1"/>
          <p:nvPr/>
        </p:nvSpPr>
        <p:spPr>
          <a:xfrm>
            <a:off x="457200" y="566928"/>
            <a:ext cx="11247120" cy="868680"/>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A Wholesale Deal Desk comes first - the same decision-support approach then extends to five other problems</a:t>
            </a:r>
            <a:endParaRPr lang="en-US" sz="2600" dirty="0"/>
          </a:p>
        </p:txBody>
      </p:sp>
      <p:pic>
        <p:nvPicPr>
          <p:cNvPr id="5" name="Image 0" descr="logo.png">    </p:cNvPr>
          <p:cNvPicPr>
            <a:picLocks noChangeAspect="1"/>
          </p:cNvPicPr>
          <p:nvPr/>
        </p:nvPicPr>
        <p:blipFill>
          <a:blip r:embed="rId1"/>
          <a:stretch>
            <a:fillRect/>
          </a:stretch>
        </p:blipFill>
        <p:spPr>
          <a:xfrm>
            <a:off x="457200" y="6400800"/>
            <a:ext cx="868680" cy="365760"/>
          </a:xfrm>
          <a:prstGeom prst="rect">
            <a:avLst/>
          </a:prstGeom>
        </p:spPr>
      </p:pic>
      <p:sp>
        <p:nvSpPr>
          <p:cNvPr id="6" name="Text 3"/>
          <p:cNvSpPr txBox="1"/>
          <p:nvPr/>
        </p:nvSpPr>
        <p:spPr>
          <a:xfrm>
            <a:off x="1554480" y="6419088"/>
            <a:ext cx="9418320" cy="329184"/>
          </a:xfrm>
          <a:prstGeom prst="rect">
            <a:avLst/>
          </a:prstGeom>
          <a:noFill/>
          <a:ln/>
        </p:spPr>
        <p:txBody>
          <a:bodyPr wrap="square" lIns="0" tIns="0" rIns="0" bIns="0" rtlCol="0" anchor="ctr"/>
          <a:lstStyle/>
          <a:p>
            <a:pPr indent="0" marL="0">
              <a:buNone/>
            </a:pPr>
            <a:r>
              <a:rPr lang="en-US" sz="1000" dirty="0">
                <a:solidFill>
                  <a:srgbClr val="A9B8D0"/>
                </a:solidFill>
                <a:latin typeface="Calibri" pitchFamily="34" charset="0"/>
                <a:ea typeface="Calibri" pitchFamily="34" charset="-122"/>
                <a:cs typeface="Calibri" pitchFamily="34" charset="-120"/>
              </a:rPr>
              <a:t>Scope: Deal Desk simulated on Oct 2023 - Sep 2026 wholesale invoices; tiers: 12-23 units max 28%, 24-47 max 30%, 48+ max 32%; margin floor 15%.</a:t>
            </a:r>
            <a:endParaRPr lang="en-US" sz="1000" dirty="0"/>
          </a:p>
        </p:txBody>
      </p:sp>
      <p:sp>
        <p:nvSpPr>
          <p:cNvPr id="7" name="Text 4"/>
          <p:cNvSpPr txBox="1"/>
          <p:nvPr/>
        </p:nvSpPr>
        <p:spPr>
          <a:xfrm>
            <a:off x="11247120" y="6419088"/>
            <a:ext cx="548640" cy="329184"/>
          </a:xfrm>
          <a:prstGeom prst="rect">
            <a:avLst/>
          </a:prstGeom>
          <a:noFill/>
          <a:ln/>
        </p:spPr>
        <p:txBody>
          <a:bodyPr wrap="square" lIns="0" tIns="0" rIns="0" bIns="0" rtlCol="0" anchor="ctr"/>
          <a:lstStyle/>
          <a:p>
            <a:pPr algn="r" indent="0" marL="0">
              <a:buNone/>
            </a:pPr>
            <a:r>
              <a:rPr lang="en-US" sz="1000" dirty="0">
                <a:solidFill>
                  <a:srgbClr val="A9B8D0"/>
                </a:solidFill>
                <a:latin typeface="Calibri" pitchFamily="34" charset="0"/>
                <a:ea typeface="Calibri" pitchFamily="34" charset="-122"/>
                <a:cs typeface="Calibri" pitchFamily="34" charset="-120"/>
              </a:rPr>
              <a:t>10</a:t>
            </a:r>
            <a:endParaRPr lang="en-US" sz="1000" dirty="0"/>
          </a:p>
        </p:txBody>
      </p:sp>
      <p:sp>
        <p:nvSpPr>
          <p:cNvPr id="9" name="Shape 5"/>
          <p:cNvSpPr/>
          <p:nvPr/>
        </p:nvSpPr>
        <p:spPr>
          <a:xfrm>
            <a:off x="457200" y="1600200"/>
            <a:ext cx="1691640" cy="777240"/>
          </a:xfrm>
          <a:prstGeom prst="roundRect">
            <a:avLst>
              <a:gd name="adj" fmla="val 9412"/>
            </a:avLst>
          </a:prstGeom>
          <a:solidFill>
            <a:srgbClr val="0A1F3A"/>
          </a:solidFill>
          <a:ln w="12700">
            <a:solidFill>
              <a:srgbClr val="22D3EE"/>
            </a:solidFill>
            <a:prstDash val="solid"/>
          </a:ln>
        </p:spPr>
      </p:sp>
      <p:sp>
        <p:nvSpPr>
          <p:cNvPr id="10" name="Text 6"/>
          <p:cNvSpPr txBox="1"/>
          <p:nvPr/>
        </p:nvSpPr>
        <p:spPr>
          <a:xfrm>
            <a:off x="530352" y="1600200"/>
            <a:ext cx="1545336" cy="7772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Quote request</a:t>
            </a:r>
            <a:endParaRPr lang="en-US" sz="1200" dirty="0"/>
          </a:p>
        </p:txBody>
      </p:sp>
      <p:sp>
        <p:nvSpPr>
          <p:cNvPr id="11" name="Text 7"/>
          <p:cNvSpPr txBox="1"/>
          <p:nvPr/>
        </p:nvSpPr>
        <p:spPr>
          <a:xfrm>
            <a:off x="2148840" y="1600200"/>
            <a:ext cx="201168" cy="777240"/>
          </a:xfrm>
          <a:prstGeom prst="rect">
            <a:avLst/>
          </a:prstGeom>
          <a:noFill/>
          <a:ln/>
        </p:spPr>
        <p:txBody>
          <a:bodyPr wrap="square" lIns="0" tIns="0" rIns="0" bIns="0" rtlCol="0" anchor="ctr"/>
          <a:lstStyle/>
          <a:p>
            <a:pPr algn="ctr" indent="0" marL="0">
              <a:buNone/>
            </a:pPr>
            <a:r>
              <a:rPr lang="en-US" sz="1600" b="1" dirty="0">
                <a:solidFill>
                  <a:srgbClr val="22D3EE"/>
                </a:solidFill>
                <a:latin typeface="Calibri" pitchFamily="34" charset="0"/>
                <a:ea typeface="Calibri" pitchFamily="34" charset="-122"/>
                <a:cs typeface="Calibri" pitchFamily="34" charset="-120"/>
              </a:rPr>
              <a:t>&gt;</a:t>
            </a:r>
            <a:endParaRPr lang="en-US" sz="1600" dirty="0"/>
          </a:p>
        </p:txBody>
      </p:sp>
      <p:sp>
        <p:nvSpPr>
          <p:cNvPr id="12" name="Shape 8"/>
          <p:cNvSpPr/>
          <p:nvPr/>
        </p:nvSpPr>
        <p:spPr>
          <a:xfrm>
            <a:off x="2350008" y="1600200"/>
            <a:ext cx="1691640" cy="777240"/>
          </a:xfrm>
          <a:prstGeom prst="roundRect">
            <a:avLst>
              <a:gd name="adj" fmla="val 9412"/>
            </a:avLst>
          </a:prstGeom>
          <a:solidFill>
            <a:srgbClr val="0A1F3A"/>
          </a:solidFill>
          <a:ln w="12700">
            <a:solidFill>
              <a:srgbClr val="22D3EE"/>
            </a:solidFill>
            <a:prstDash val="solid"/>
          </a:ln>
        </p:spPr>
      </p:sp>
      <p:sp>
        <p:nvSpPr>
          <p:cNvPr id="13" name="Text 9"/>
          <p:cNvSpPr txBox="1"/>
          <p:nvPr/>
        </p:nvSpPr>
        <p:spPr>
          <a:xfrm>
            <a:off x="2423160" y="1600200"/>
            <a:ext cx="1545336" cy="7772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Customer &amp; quantity</a:t>
            </a:r>
            <a:endParaRPr lang="en-US" sz="1200" dirty="0"/>
          </a:p>
        </p:txBody>
      </p:sp>
      <p:sp>
        <p:nvSpPr>
          <p:cNvPr id="14" name="Text 10"/>
          <p:cNvSpPr txBox="1"/>
          <p:nvPr/>
        </p:nvSpPr>
        <p:spPr>
          <a:xfrm>
            <a:off x="4041648" y="1600200"/>
            <a:ext cx="201168" cy="777240"/>
          </a:xfrm>
          <a:prstGeom prst="rect">
            <a:avLst/>
          </a:prstGeom>
          <a:noFill/>
          <a:ln/>
        </p:spPr>
        <p:txBody>
          <a:bodyPr wrap="square" lIns="0" tIns="0" rIns="0" bIns="0" rtlCol="0" anchor="ctr"/>
          <a:lstStyle/>
          <a:p>
            <a:pPr algn="ctr" indent="0" marL="0">
              <a:buNone/>
            </a:pPr>
            <a:r>
              <a:rPr lang="en-US" sz="1600" b="1" dirty="0">
                <a:solidFill>
                  <a:srgbClr val="22D3EE"/>
                </a:solidFill>
                <a:latin typeface="Calibri" pitchFamily="34" charset="0"/>
                <a:ea typeface="Calibri" pitchFamily="34" charset="-122"/>
                <a:cs typeface="Calibri" pitchFamily="34" charset="-120"/>
              </a:rPr>
              <a:t>&gt;</a:t>
            </a:r>
            <a:endParaRPr lang="en-US" sz="1600" dirty="0"/>
          </a:p>
        </p:txBody>
      </p:sp>
      <p:sp>
        <p:nvSpPr>
          <p:cNvPr id="15" name="Shape 11"/>
          <p:cNvSpPr/>
          <p:nvPr/>
        </p:nvSpPr>
        <p:spPr>
          <a:xfrm>
            <a:off x="4242816" y="1600200"/>
            <a:ext cx="1691640" cy="777240"/>
          </a:xfrm>
          <a:prstGeom prst="roundRect">
            <a:avLst>
              <a:gd name="adj" fmla="val 9412"/>
            </a:avLst>
          </a:prstGeom>
          <a:solidFill>
            <a:srgbClr val="0A1F3A"/>
          </a:solidFill>
          <a:ln w="12700">
            <a:solidFill>
              <a:srgbClr val="22D3EE"/>
            </a:solidFill>
            <a:prstDash val="solid"/>
          </a:ln>
        </p:spPr>
      </p:sp>
      <p:sp>
        <p:nvSpPr>
          <p:cNvPr id="16" name="Text 12"/>
          <p:cNvSpPr txBox="1"/>
          <p:nvPr/>
        </p:nvSpPr>
        <p:spPr>
          <a:xfrm>
            <a:off x="4315968" y="1600200"/>
            <a:ext cx="1545336" cy="7772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Recommended discount</a:t>
            </a:r>
            <a:endParaRPr lang="en-US" sz="1200" dirty="0"/>
          </a:p>
        </p:txBody>
      </p:sp>
      <p:sp>
        <p:nvSpPr>
          <p:cNvPr id="17" name="Text 13"/>
          <p:cNvSpPr txBox="1"/>
          <p:nvPr/>
        </p:nvSpPr>
        <p:spPr>
          <a:xfrm>
            <a:off x="5934456" y="1600200"/>
            <a:ext cx="201168" cy="777240"/>
          </a:xfrm>
          <a:prstGeom prst="rect">
            <a:avLst/>
          </a:prstGeom>
          <a:noFill/>
          <a:ln/>
        </p:spPr>
        <p:txBody>
          <a:bodyPr wrap="square" lIns="0" tIns="0" rIns="0" bIns="0" rtlCol="0" anchor="ctr"/>
          <a:lstStyle/>
          <a:p>
            <a:pPr algn="ctr" indent="0" marL="0">
              <a:buNone/>
            </a:pPr>
            <a:r>
              <a:rPr lang="en-US" sz="1600" b="1" dirty="0">
                <a:solidFill>
                  <a:srgbClr val="22D3EE"/>
                </a:solidFill>
                <a:latin typeface="Calibri" pitchFamily="34" charset="0"/>
                <a:ea typeface="Calibri" pitchFamily="34" charset="-122"/>
                <a:cs typeface="Calibri" pitchFamily="34" charset="-120"/>
              </a:rPr>
              <a:t>&gt;</a:t>
            </a:r>
            <a:endParaRPr lang="en-US" sz="1600" dirty="0"/>
          </a:p>
        </p:txBody>
      </p:sp>
      <p:sp>
        <p:nvSpPr>
          <p:cNvPr id="18" name="Shape 14"/>
          <p:cNvSpPr/>
          <p:nvPr/>
        </p:nvSpPr>
        <p:spPr>
          <a:xfrm>
            <a:off x="6135624" y="1600200"/>
            <a:ext cx="1691640" cy="777240"/>
          </a:xfrm>
          <a:prstGeom prst="roundRect">
            <a:avLst>
              <a:gd name="adj" fmla="val 9412"/>
            </a:avLst>
          </a:prstGeom>
          <a:solidFill>
            <a:srgbClr val="0A1F3A"/>
          </a:solidFill>
          <a:ln w="12700">
            <a:solidFill>
              <a:srgbClr val="22D3EE"/>
            </a:solidFill>
            <a:prstDash val="solid"/>
          </a:ln>
        </p:spPr>
      </p:sp>
      <p:sp>
        <p:nvSpPr>
          <p:cNvPr id="19" name="Text 15"/>
          <p:cNvSpPr txBox="1"/>
          <p:nvPr/>
        </p:nvSpPr>
        <p:spPr>
          <a:xfrm>
            <a:off x="6208776" y="1600200"/>
            <a:ext cx="1545336" cy="7772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Margin check</a:t>
            </a:r>
            <a:endParaRPr lang="en-US" sz="1200" dirty="0"/>
          </a:p>
        </p:txBody>
      </p:sp>
      <p:sp>
        <p:nvSpPr>
          <p:cNvPr id="20" name="Text 16"/>
          <p:cNvSpPr txBox="1"/>
          <p:nvPr/>
        </p:nvSpPr>
        <p:spPr>
          <a:xfrm>
            <a:off x="7827264" y="1600200"/>
            <a:ext cx="201168" cy="777240"/>
          </a:xfrm>
          <a:prstGeom prst="rect">
            <a:avLst/>
          </a:prstGeom>
          <a:noFill/>
          <a:ln/>
        </p:spPr>
        <p:txBody>
          <a:bodyPr wrap="square" lIns="0" tIns="0" rIns="0" bIns="0" rtlCol="0" anchor="ctr"/>
          <a:lstStyle/>
          <a:p>
            <a:pPr algn="ctr" indent="0" marL="0">
              <a:buNone/>
            </a:pPr>
            <a:r>
              <a:rPr lang="en-US" sz="1600" b="1" dirty="0">
                <a:solidFill>
                  <a:srgbClr val="22D3EE"/>
                </a:solidFill>
                <a:latin typeface="Calibri" pitchFamily="34" charset="0"/>
                <a:ea typeface="Calibri" pitchFamily="34" charset="-122"/>
                <a:cs typeface="Calibri" pitchFamily="34" charset="-120"/>
              </a:rPr>
              <a:t>&gt;</a:t>
            </a:r>
            <a:endParaRPr lang="en-US" sz="1600" dirty="0"/>
          </a:p>
        </p:txBody>
      </p:sp>
      <p:sp>
        <p:nvSpPr>
          <p:cNvPr id="21" name="Shape 17"/>
          <p:cNvSpPr/>
          <p:nvPr/>
        </p:nvSpPr>
        <p:spPr>
          <a:xfrm>
            <a:off x="8028432" y="1600200"/>
            <a:ext cx="1691640" cy="777240"/>
          </a:xfrm>
          <a:prstGeom prst="roundRect">
            <a:avLst>
              <a:gd name="adj" fmla="val 9412"/>
            </a:avLst>
          </a:prstGeom>
          <a:solidFill>
            <a:srgbClr val="0A1F3A"/>
          </a:solidFill>
          <a:ln w="12700">
            <a:solidFill>
              <a:srgbClr val="22D3EE"/>
            </a:solidFill>
            <a:prstDash val="solid"/>
          </a:ln>
        </p:spPr>
      </p:sp>
      <p:sp>
        <p:nvSpPr>
          <p:cNvPr id="22" name="Text 18"/>
          <p:cNvSpPr txBox="1"/>
          <p:nvPr/>
        </p:nvSpPr>
        <p:spPr>
          <a:xfrm>
            <a:off x="8101584" y="1600200"/>
            <a:ext cx="1545336" cy="7772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Approval if exception</a:t>
            </a:r>
            <a:endParaRPr lang="en-US" sz="1200" dirty="0"/>
          </a:p>
        </p:txBody>
      </p:sp>
      <p:sp>
        <p:nvSpPr>
          <p:cNvPr id="23" name="Text 19"/>
          <p:cNvSpPr txBox="1"/>
          <p:nvPr/>
        </p:nvSpPr>
        <p:spPr>
          <a:xfrm>
            <a:off x="9720072" y="1600200"/>
            <a:ext cx="201168" cy="777240"/>
          </a:xfrm>
          <a:prstGeom prst="rect">
            <a:avLst/>
          </a:prstGeom>
          <a:noFill/>
          <a:ln/>
        </p:spPr>
        <p:txBody>
          <a:bodyPr wrap="square" lIns="0" tIns="0" rIns="0" bIns="0" rtlCol="0" anchor="ctr"/>
          <a:lstStyle/>
          <a:p>
            <a:pPr algn="ctr" indent="0" marL="0">
              <a:buNone/>
            </a:pPr>
            <a:r>
              <a:rPr lang="en-US" sz="1600" b="1" dirty="0">
                <a:solidFill>
                  <a:srgbClr val="22D3EE"/>
                </a:solidFill>
                <a:latin typeface="Calibri" pitchFamily="34" charset="0"/>
                <a:ea typeface="Calibri" pitchFamily="34" charset="-122"/>
                <a:cs typeface="Calibri" pitchFamily="34" charset="-120"/>
              </a:rPr>
              <a:t>&gt;</a:t>
            </a:r>
            <a:endParaRPr lang="en-US" sz="1600" dirty="0"/>
          </a:p>
        </p:txBody>
      </p:sp>
      <p:sp>
        <p:nvSpPr>
          <p:cNvPr id="24" name="Shape 20"/>
          <p:cNvSpPr/>
          <p:nvPr/>
        </p:nvSpPr>
        <p:spPr>
          <a:xfrm>
            <a:off x="9921240" y="1600200"/>
            <a:ext cx="1691640" cy="777240"/>
          </a:xfrm>
          <a:prstGeom prst="roundRect">
            <a:avLst>
              <a:gd name="adj" fmla="val 9412"/>
            </a:avLst>
          </a:prstGeom>
          <a:solidFill>
            <a:srgbClr val="34D399">
              <a:alpha val="85000"/>
            </a:srgbClr>
          </a:solidFill>
          <a:ln w="12700">
            <a:solidFill>
              <a:srgbClr val="34D399"/>
            </a:solidFill>
            <a:prstDash val="solid"/>
          </a:ln>
        </p:spPr>
      </p:sp>
      <p:sp>
        <p:nvSpPr>
          <p:cNvPr id="25" name="Text 21"/>
          <p:cNvSpPr txBox="1"/>
          <p:nvPr/>
        </p:nvSpPr>
        <p:spPr>
          <a:xfrm>
            <a:off x="9994392" y="1600200"/>
            <a:ext cx="1545336" cy="777240"/>
          </a:xfrm>
          <a:prstGeom prst="rect">
            <a:avLst/>
          </a:prstGeom>
          <a:noFill/>
          <a:ln/>
        </p:spPr>
        <p:txBody>
          <a:bodyPr wrap="square" lIns="0" tIns="0" rIns="0" bIns="0" rtlCol="0" anchor="ctr"/>
          <a:lstStyle/>
          <a:p>
            <a:pPr algn="ctr" indent="0" marL="0">
              <a:buNone/>
            </a:pPr>
            <a:r>
              <a:rPr lang="en-US" sz="1200" b="1" dirty="0">
                <a:solidFill>
                  <a:srgbClr val="02101E"/>
                </a:solidFill>
                <a:latin typeface="Calibri" pitchFamily="34" charset="0"/>
                <a:ea typeface="Calibri" pitchFamily="34" charset="-122"/>
                <a:cs typeface="Calibri" pitchFamily="34" charset="-120"/>
              </a:rPr>
              <a:t>Profitable quote</a:t>
            </a:r>
            <a:endParaRPr lang="en-US" sz="1200" dirty="0"/>
          </a:p>
        </p:txBody>
      </p:sp>
      <p:sp>
        <p:nvSpPr>
          <p:cNvPr id="26" name="Text 22"/>
          <p:cNvSpPr txBox="1"/>
          <p:nvPr/>
        </p:nvSpPr>
        <p:spPr>
          <a:xfrm>
            <a:off x="457200" y="2450592"/>
            <a:ext cx="11247120" cy="274320"/>
          </a:xfrm>
          <a:prstGeom prst="rect">
            <a:avLst/>
          </a:prstGeom>
          <a:noFill/>
          <a:ln/>
        </p:spPr>
        <p:txBody>
          <a:bodyPr wrap="square" lIns="0" tIns="0" rIns="0" bIns="0" rtlCol="0" anchor="t"/>
          <a:lstStyle/>
          <a:p>
            <a:pPr algn="ctr" indent="0" marL="0">
              <a:buNone/>
            </a:pPr>
            <a:r>
              <a:rPr lang="en-US" sz="1100" dirty="0">
                <a:solidFill>
                  <a:srgbClr val="A9B8D0"/>
                </a:solidFill>
                <a:latin typeface="Calibri" pitchFamily="34" charset="0"/>
                <a:ea typeface="Calibri" pitchFamily="34" charset="-122"/>
                <a:cs typeface="Calibri" pitchFamily="34" charset="-120"/>
              </a:rPr>
              <a:t>Tier caps 28% / 30% / 32% (12-23 / 24-47 / 48+ units) | 15% margin floor | auto &gt; manager (margin 8%+) &gt; director | never below cost</a:t>
            </a:r>
            <a:endParaRPr lang="en-US" sz="1100" dirty="0"/>
          </a:p>
        </p:txBody>
      </p:sp>
      <p:sp>
        <p:nvSpPr>
          <p:cNvPr id="27" name="Shape 23"/>
          <p:cNvSpPr/>
          <p:nvPr/>
        </p:nvSpPr>
        <p:spPr>
          <a:xfrm>
            <a:off x="457200" y="2880360"/>
            <a:ext cx="1783080" cy="1097280"/>
          </a:xfrm>
          <a:prstGeom prst="roundRect">
            <a:avLst>
              <a:gd name="adj" fmla="val 6667"/>
            </a:avLst>
          </a:prstGeom>
          <a:solidFill>
            <a:srgbClr val="0A1F3A"/>
          </a:solidFill>
          <a:ln w="12700">
            <a:solidFill>
              <a:srgbClr val="17406E"/>
            </a:solidFill>
            <a:prstDash val="solid"/>
          </a:ln>
        </p:spPr>
      </p:sp>
      <p:sp>
        <p:nvSpPr>
          <p:cNvPr id="28" name="Text 24"/>
          <p:cNvSpPr txBox="1"/>
          <p:nvPr/>
        </p:nvSpPr>
        <p:spPr>
          <a:xfrm>
            <a:off x="566928" y="2944368"/>
            <a:ext cx="1600200" cy="274320"/>
          </a:xfrm>
          <a:prstGeom prst="rect">
            <a:avLst/>
          </a:prstGeom>
          <a:noFill/>
          <a:ln/>
        </p:spPr>
        <p:txBody>
          <a:bodyPr wrap="square" lIns="0" tIns="0" rIns="0" bIns="0" rtlCol="0" anchor="t"/>
          <a:lstStyle/>
          <a:p>
            <a:pPr indent="0" marL="0">
              <a:buNone/>
            </a:pPr>
            <a:r>
              <a:rPr lang="en-US" sz="1200" b="1" dirty="0">
                <a:solidFill>
                  <a:srgbClr val="22D3EE"/>
                </a:solidFill>
                <a:latin typeface="Calibri" pitchFamily="34" charset="0"/>
                <a:ea typeface="Calibri" pitchFamily="34" charset="-122"/>
                <a:cs typeface="Calibri" pitchFamily="34" charset="-120"/>
              </a:rPr>
              <a:t>Customer win-back</a:t>
            </a:r>
            <a:endParaRPr lang="en-US" sz="1200" dirty="0"/>
          </a:p>
        </p:txBody>
      </p:sp>
      <p:sp>
        <p:nvSpPr>
          <p:cNvPr id="29" name="Text 25"/>
          <p:cNvSpPr txBox="1"/>
          <p:nvPr/>
        </p:nvSpPr>
        <p:spPr>
          <a:xfrm>
            <a:off x="566928" y="3246120"/>
            <a:ext cx="1600200" cy="685800"/>
          </a:xfrm>
          <a:prstGeom prst="rect">
            <a:avLst/>
          </a:prstGeom>
          <a:noFill/>
          <a:ln/>
        </p:spPr>
        <p:txBody>
          <a:bodyPr wrap="square" lIns="0" tIns="0" rIns="0" bIns="0" rtlCol="0" anchor="t"/>
          <a:lstStyle/>
          <a:p>
            <a:pPr indent="0" marL="0">
              <a:buNone/>
            </a:pPr>
            <a:r>
              <a:rPr lang="en-US" sz="1050" dirty="0">
                <a:solidFill>
                  <a:srgbClr val="A9B8D0"/>
                </a:solidFill>
                <a:latin typeface="Calibri" pitchFamily="34" charset="0"/>
                <a:ea typeface="Calibri" pitchFamily="34" charset="-122"/>
                <a:cs typeface="Calibri" pitchFamily="34" charset="-120"/>
              </a:rPr>
              <a:t>Prioritise high-value at-risk customers</a:t>
            </a:r>
            <a:endParaRPr lang="en-US" sz="1050" dirty="0"/>
          </a:p>
        </p:txBody>
      </p:sp>
      <p:sp>
        <p:nvSpPr>
          <p:cNvPr id="30" name="Shape 26"/>
          <p:cNvSpPr/>
          <p:nvPr/>
        </p:nvSpPr>
        <p:spPr>
          <a:xfrm>
            <a:off x="2350008" y="2880360"/>
            <a:ext cx="1783080" cy="1097280"/>
          </a:xfrm>
          <a:prstGeom prst="roundRect">
            <a:avLst>
              <a:gd name="adj" fmla="val 6667"/>
            </a:avLst>
          </a:prstGeom>
          <a:solidFill>
            <a:srgbClr val="0A1F3A"/>
          </a:solidFill>
          <a:ln w="12700">
            <a:solidFill>
              <a:srgbClr val="17406E"/>
            </a:solidFill>
            <a:prstDash val="solid"/>
          </a:ln>
        </p:spPr>
      </p:sp>
      <p:sp>
        <p:nvSpPr>
          <p:cNvPr id="31" name="Text 27"/>
          <p:cNvSpPr txBox="1"/>
          <p:nvPr/>
        </p:nvSpPr>
        <p:spPr>
          <a:xfrm>
            <a:off x="2459736" y="2944368"/>
            <a:ext cx="1600200" cy="274320"/>
          </a:xfrm>
          <a:prstGeom prst="rect">
            <a:avLst/>
          </a:prstGeom>
          <a:noFill/>
          <a:ln/>
        </p:spPr>
        <p:txBody>
          <a:bodyPr wrap="square" lIns="0" tIns="0" rIns="0" bIns="0" rtlCol="0" anchor="t"/>
          <a:lstStyle/>
          <a:p>
            <a:pPr indent="0" marL="0">
              <a:buNone/>
            </a:pPr>
            <a:r>
              <a:rPr lang="en-US" sz="1200" b="1" dirty="0">
                <a:solidFill>
                  <a:srgbClr val="22D3EE"/>
                </a:solidFill>
                <a:latin typeface="Calibri" pitchFamily="34" charset="0"/>
                <a:ea typeface="Calibri" pitchFamily="34" charset="-122"/>
                <a:cs typeface="Calibri" pitchFamily="34" charset="-120"/>
              </a:rPr>
              <a:t>Inventory</a:t>
            </a:r>
            <a:endParaRPr lang="en-US" sz="1200" dirty="0"/>
          </a:p>
        </p:txBody>
      </p:sp>
      <p:sp>
        <p:nvSpPr>
          <p:cNvPr id="32" name="Text 28"/>
          <p:cNvSpPr txBox="1"/>
          <p:nvPr/>
        </p:nvSpPr>
        <p:spPr>
          <a:xfrm>
            <a:off x="2459736" y="3246120"/>
            <a:ext cx="1600200" cy="685800"/>
          </a:xfrm>
          <a:prstGeom prst="rect">
            <a:avLst/>
          </a:prstGeom>
          <a:noFill/>
          <a:ln/>
        </p:spPr>
        <p:txBody>
          <a:bodyPr wrap="square" lIns="0" tIns="0" rIns="0" bIns="0" rtlCol="0" anchor="t"/>
          <a:lstStyle/>
          <a:p>
            <a:pPr indent="0" marL="0">
              <a:buNone/>
            </a:pPr>
            <a:r>
              <a:rPr lang="en-US" sz="1050" dirty="0">
                <a:solidFill>
                  <a:srgbClr val="A9B8D0"/>
                </a:solidFill>
                <a:latin typeface="Calibri" pitchFamily="34" charset="0"/>
                <a:ea typeface="Calibri" pitchFamily="34" charset="-122"/>
                <a:cs typeface="Calibri" pitchFamily="34" charset="-120"/>
              </a:rPr>
              <a:t>Forecast demand, recommend replenishment</a:t>
            </a:r>
            <a:endParaRPr lang="en-US" sz="1050" dirty="0"/>
          </a:p>
        </p:txBody>
      </p:sp>
      <p:sp>
        <p:nvSpPr>
          <p:cNvPr id="33" name="Shape 29"/>
          <p:cNvSpPr/>
          <p:nvPr/>
        </p:nvSpPr>
        <p:spPr>
          <a:xfrm>
            <a:off x="4242816" y="2880360"/>
            <a:ext cx="1783080" cy="1097280"/>
          </a:xfrm>
          <a:prstGeom prst="roundRect">
            <a:avLst>
              <a:gd name="adj" fmla="val 6667"/>
            </a:avLst>
          </a:prstGeom>
          <a:solidFill>
            <a:srgbClr val="0A1F3A"/>
          </a:solidFill>
          <a:ln w="12700">
            <a:solidFill>
              <a:srgbClr val="17406E"/>
            </a:solidFill>
            <a:prstDash val="solid"/>
          </a:ln>
        </p:spPr>
      </p:sp>
      <p:sp>
        <p:nvSpPr>
          <p:cNvPr id="34" name="Text 30"/>
          <p:cNvSpPr txBox="1"/>
          <p:nvPr/>
        </p:nvSpPr>
        <p:spPr>
          <a:xfrm>
            <a:off x="4352544" y="2944368"/>
            <a:ext cx="1600200" cy="274320"/>
          </a:xfrm>
          <a:prstGeom prst="rect">
            <a:avLst/>
          </a:prstGeom>
          <a:noFill/>
          <a:ln/>
        </p:spPr>
        <p:txBody>
          <a:bodyPr wrap="square" lIns="0" tIns="0" rIns="0" bIns="0" rtlCol="0" anchor="t"/>
          <a:lstStyle/>
          <a:p>
            <a:pPr indent="0" marL="0">
              <a:buNone/>
            </a:pPr>
            <a:r>
              <a:rPr lang="en-US" sz="1200" b="1" dirty="0">
                <a:solidFill>
                  <a:srgbClr val="22D3EE"/>
                </a:solidFill>
                <a:latin typeface="Calibri" pitchFamily="34" charset="0"/>
                <a:ea typeface="Calibri" pitchFamily="34" charset="-122"/>
                <a:cs typeface="Calibri" pitchFamily="34" charset="-120"/>
              </a:rPr>
              <a:t>Suppliers</a:t>
            </a:r>
            <a:endParaRPr lang="en-US" sz="1200" dirty="0"/>
          </a:p>
        </p:txBody>
      </p:sp>
      <p:sp>
        <p:nvSpPr>
          <p:cNvPr id="35" name="Text 31"/>
          <p:cNvSpPr txBox="1"/>
          <p:nvPr/>
        </p:nvSpPr>
        <p:spPr>
          <a:xfrm>
            <a:off x="4352544" y="3246120"/>
            <a:ext cx="1600200" cy="685800"/>
          </a:xfrm>
          <a:prstGeom prst="rect">
            <a:avLst/>
          </a:prstGeom>
          <a:noFill/>
          <a:ln/>
        </p:spPr>
        <p:txBody>
          <a:bodyPr wrap="square" lIns="0" tIns="0" rIns="0" bIns="0" rtlCol="0" anchor="t"/>
          <a:lstStyle/>
          <a:p>
            <a:pPr indent="0" marL="0">
              <a:buNone/>
            </a:pPr>
            <a:r>
              <a:rPr lang="en-US" sz="1050" dirty="0">
                <a:solidFill>
                  <a:srgbClr val="A9B8D0"/>
                </a:solidFill>
                <a:latin typeface="Calibri" pitchFamily="34" charset="0"/>
                <a:ea typeface="Calibri" pitchFamily="34" charset="-122"/>
                <a:cs typeface="Calibri" pitchFamily="34" charset="-120"/>
              </a:rPr>
              <a:t>Early-warning on late delivery</a:t>
            </a:r>
            <a:endParaRPr lang="en-US" sz="1050" dirty="0"/>
          </a:p>
        </p:txBody>
      </p:sp>
      <p:sp>
        <p:nvSpPr>
          <p:cNvPr id="36" name="Shape 32"/>
          <p:cNvSpPr/>
          <p:nvPr/>
        </p:nvSpPr>
        <p:spPr>
          <a:xfrm>
            <a:off x="6135624" y="2880360"/>
            <a:ext cx="1783080" cy="1097280"/>
          </a:xfrm>
          <a:prstGeom prst="roundRect">
            <a:avLst>
              <a:gd name="adj" fmla="val 6667"/>
            </a:avLst>
          </a:prstGeom>
          <a:solidFill>
            <a:srgbClr val="0A1F3A"/>
          </a:solidFill>
          <a:ln w="12700">
            <a:solidFill>
              <a:srgbClr val="17406E"/>
            </a:solidFill>
            <a:prstDash val="solid"/>
          </a:ln>
        </p:spPr>
      </p:sp>
      <p:sp>
        <p:nvSpPr>
          <p:cNvPr id="37" name="Text 33"/>
          <p:cNvSpPr txBox="1"/>
          <p:nvPr/>
        </p:nvSpPr>
        <p:spPr>
          <a:xfrm>
            <a:off x="6245352" y="2944368"/>
            <a:ext cx="1600200" cy="274320"/>
          </a:xfrm>
          <a:prstGeom prst="rect">
            <a:avLst/>
          </a:prstGeom>
          <a:noFill/>
          <a:ln/>
        </p:spPr>
        <p:txBody>
          <a:bodyPr wrap="square" lIns="0" tIns="0" rIns="0" bIns="0" rtlCol="0" anchor="t"/>
          <a:lstStyle/>
          <a:p>
            <a:pPr indent="0" marL="0">
              <a:buNone/>
            </a:pPr>
            <a:r>
              <a:rPr lang="en-US" sz="1200" b="1" dirty="0">
                <a:solidFill>
                  <a:srgbClr val="22D3EE"/>
                </a:solidFill>
                <a:latin typeface="Calibri" pitchFamily="34" charset="0"/>
                <a:ea typeface="Calibri" pitchFamily="34" charset="-122"/>
                <a:cs typeface="Calibri" pitchFamily="34" charset="-120"/>
              </a:rPr>
              <a:t>Production</a:t>
            </a:r>
            <a:endParaRPr lang="en-US" sz="1200" dirty="0"/>
          </a:p>
        </p:txBody>
      </p:sp>
      <p:sp>
        <p:nvSpPr>
          <p:cNvPr id="38" name="Text 34"/>
          <p:cNvSpPr txBox="1"/>
          <p:nvPr/>
        </p:nvSpPr>
        <p:spPr>
          <a:xfrm>
            <a:off x="6245352" y="3246120"/>
            <a:ext cx="1600200" cy="685800"/>
          </a:xfrm>
          <a:prstGeom prst="rect">
            <a:avLst/>
          </a:prstGeom>
          <a:noFill/>
          <a:ln/>
        </p:spPr>
        <p:txBody>
          <a:bodyPr wrap="square" lIns="0" tIns="0" rIns="0" bIns="0" rtlCol="0" anchor="t"/>
          <a:lstStyle/>
          <a:p>
            <a:pPr indent="0" marL="0">
              <a:buNone/>
            </a:pPr>
            <a:r>
              <a:rPr lang="en-US" sz="1050" dirty="0">
                <a:solidFill>
                  <a:srgbClr val="A9B8D0"/>
                </a:solidFill>
                <a:latin typeface="Calibri" pitchFamily="34" charset="0"/>
                <a:ea typeface="Calibri" pitchFamily="34" charset="-122"/>
                <a:cs typeface="Calibri" pitchFamily="34" charset="-120"/>
              </a:rPr>
              <a:t>Monitor bottlenecks and deviations</a:t>
            </a:r>
            <a:endParaRPr lang="en-US" sz="1050" dirty="0"/>
          </a:p>
        </p:txBody>
      </p:sp>
      <p:sp>
        <p:nvSpPr>
          <p:cNvPr id="39" name="Shape 35"/>
          <p:cNvSpPr/>
          <p:nvPr/>
        </p:nvSpPr>
        <p:spPr>
          <a:xfrm>
            <a:off x="8028432" y="2880360"/>
            <a:ext cx="1783080" cy="1097280"/>
          </a:xfrm>
          <a:prstGeom prst="roundRect">
            <a:avLst>
              <a:gd name="adj" fmla="val 6667"/>
            </a:avLst>
          </a:prstGeom>
          <a:solidFill>
            <a:srgbClr val="0A1F3A"/>
          </a:solidFill>
          <a:ln w="12700">
            <a:solidFill>
              <a:srgbClr val="17406E"/>
            </a:solidFill>
            <a:prstDash val="solid"/>
          </a:ln>
        </p:spPr>
      </p:sp>
      <p:sp>
        <p:nvSpPr>
          <p:cNvPr id="40" name="Text 36"/>
          <p:cNvSpPr txBox="1"/>
          <p:nvPr/>
        </p:nvSpPr>
        <p:spPr>
          <a:xfrm>
            <a:off x="8138160" y="2944368"/>
            <a:ext cx="1600200" cy="274320"/>
          </a:xfrm>
          <a:prstGeom prst="rect">
            <a:avLst/>
          </a:prstGeom>
          <a:noFill/>
          <a:ln/>
        </p:spPr>
        <p:txBody>
          <a:bodyPr wrap="square" lIns="0" tIns="0" rIns="0" bIns="0" rtlCol="0" anchor="t"/>
          <a:lstStyle/>
          <a:p>
            <a:pPr indent="0" marL="0">
              <a:buNone/>
            </a:pPr>
            <a:r>
              <a:rPr lang="en-US" sz="1200" b="1" dirty="0">
                <a:solidFill>
                  <a:srgbClr val="22D3EE"/>
                </a:solidFill>
                <a:latin typeface="Calibri" pitchFamily="34" charset="0"/>
                <a:ea typeface="Calibri" pitchFamily="34" charset="-122"/>
                <a:cs typeface="Calibri" pitchFamily="34" charset="-120"/>
              </a:rPr>
              <a:t>Marketing</a:t>
            </a:r>
            <a:endParaRPr lang="en-US" sz="1200" dirty="0"/>
          </a:p>
        </p:txBody>
      </p:sp>
      <p:sp>
        <p:nvSpPr>
          <p:cNvPr id="41" name="Text 37"/>
          <p:cNvSpPr txBox="1"/>
          <p:nvPr/>
        </p:nvSpPr>
        <p:spPr>
          <a:xfrm>
            <a:off x="8138160" y="3246120"/>
            <a:ext cx="1600200" cy="685800"/>
          </a:xfrm>
          <a:prstGeom prst="rect">
            <a:avLst/>
          </a:prstGeom>
          <a:noFill/>
          <a:ln/>
        </p:spPr>
        <p:txBody>
          <a:bodyPr wrap="square" lIns="0" tIns="0" rIns="0" bIns="0" rtlCol="0" anchor="t"/>
          <a:lstStyle/>
          <a:p>
            <a:pPr indent="0" marL="0">
              <a:buNone/>
            </a:pPr>
            <a:r>
              <a:rPr lang="en-US" sz="1050" dirty="0">
                <a:solidFill>
                  <a:srgbClr val="A9B8D0"/>
                </a:solidFill>
                <a:latin typeface="Calibri" pitchFamily="34" charset="0"/>
                <a:ea typeface="Calibri" pitchFamily="34" charset="-122"/>
                <a:cs typeface="Calibri" pitchFamily="34" charset="-120"/>
              </a:rPr>
              <a:t>Allocate on reliable performance signals</a:t>
            </a:r>
            <a:endParaRPr lang="en-US" sz="1050" dirty="0"/>
          </a:p>
        </p:txBody>
      </p:sp>
      <p:sp>
        <p:nvSpPr>
          <p:cNvPr id="42" name="Shape 38"/>
          <p:cNvSpPr/>
          <p:nvPr/>
        </p:nvSpPr>
        <p:spPr>
          <a:xfrm>
            <a:off x="9921240" y="2880360"/>
            <a:ext cx="1783080" cy="1097280"/>
          </a:xfrm>
          <a:prstGeom prst="roundRect">
            <a:avLst>
              <a:gd name="adj" fmla="val 6667"/>
            </a:avLst>
          </a:prstGeom>
          <a:solidFill>
            <a:srgbClr val="0A1F3A"/>
          </a:solidFill>
          <a:ln w="12700">
            <a:solidFill>
              <a:srgbClr val="17406E"/>
            </a:solidFill>
            <a:prstDash val="solid"/>
          </a:ln>
        </p:spPr>
      </p:sp>
      <p:sp>
        <p:nvSpPr>
          <p:cNvPr id="43" name="Text 39"/>
          <p:cNvSpPr txBox="1"/>
          <p:nvPr/>
        </p:nvSpPr>
        <p:spPr>
          <a:xfrm>
            <a:off x="10030968" y="2944368"/>
            <a:ext cx="1600200" cy="274320"/>
          </a:xfrm>
          <a:prstGeom prst="rect">
            <a:avLst/>
          </a:prstGeom>
          <a:noFill/>
          <a:ln/>
        </p:spPr>
        <p:txBody>
          <a:bodyPr wrap="square" lIns="0" tIns="0" rIns="0" bIns="0" rtlCol="0" anchor="t"/>
          <a:lstStyle/>
          <a:p>
            <a:pPr indent="0" marL="0">
              <a:buNone/>
            </a:pPr>
            <a:r>
              <a:rPr lang="en-US" sz="1200" b="1" dirty="0">
                <a:solidFill>
                  <a:srgbClr val="22D3EE"/>
                </a:solidFill>
                <a:latin typeface="Calibri" pitchFamily="34" charset="0"/>
                <a:ea typeface="Calibri" pitchFamily="34" charset="-122"/>
                <a:cs typeface="Calibri" pitchFamily="34" charset="-120"/>
              </a:rPr>
              <a:t>Returns &amp; quality</a:t>
            </a:r>
            <a:endParaRPr lang="en-US" sz="1200" dirty="0"/>
          </a:p>
        </p:txBody>
      </p:sp>
      <p:sp>
        <p:nvSpPr>
          <p:cNvPr id="44" name="Text 40"/>
          <p:cNvSpPr txBox="1"/>
          <p:nvPr/>
        </p:nvSpPr>
        <p:spPr>
          <a:xfrm>
            <a:off x="10030968" y="3246120"/>
            <a:ext cx="1600200" cy="685800"/>
          </a:xfrm>
          <a:prstGeom prst="rect">
            <a:avLst/>
          </a:prstGeom>
          <a:noFill/>
          <a:ln/>
        </p:spPr>
        <p:txBody>
          <a:bodyPr wrap="square" lIns="0" tIns="0" rIns="0" bIns="0" rtlCol="0" anchor="t"/>
          <a:lstStyle/>
          <a:p>
            <a:pPr indent="0" marL="0">
              <a:buNone/>
            </a:pPr>
            <a:r>
              <a:rPr lang="en-US" sz="1050" dirty="0">
                <a:solidFill>
                  <a:srgbClr val="A9B8D0"/>
                </a:solidFill>
                <a:latin typeface="Calibri" pitchFamily="34" charset="0"/>
                <a:ea typeface="Calibri" pitchFamily="34" charset="-122"/>
                <a:cs typeface="Calibri" pitchFamily="34" charset="-120"/>
              </a:rPr>
              <a:t>Find recurring patterns, cut avoidable cost</a:t>
            </a:r>
            <a:endParaRPr lang="en-US" sz="1050" dirty="0"/>
          </a:p>
        </p:txBody>
      </p:sp>
      <p:sp>
        <p:nvSpPr>
          <p:cNvPr id="45" name="Shape 41"/>
          <p:cNvSpPr/>
          <p:nvPr/>
        </p:nvSpPr>
        <p:spPr>
          <a:xfrm>
            <a:off x="457200" y="4160520"/>
            <a:ext cx="3611880" cy="1417320"/>
          </a:xfrm>
          <a:prstGeom prst="roundRect">
            <a:avLst>
              <a:gd name="adj" fmla="val 5161"/>
            </a:avLst>
          </a:prstGeom>
          <a:solidFill>
            <a:srgbClr val="0A1F3A"/>
          </a:solidFill>
          <a:ln w="12700">
            <a:solidFill>
              <a:srgbClr val="34D399"/>
            </a:solidFill>
            <a:prstDash val="solid"/>
          </a:ln>
        </p:spPr>
      </p:sp>
      <p:sp>
        <p:nvSpPr>
          <p:cNvPr id="46" name="Text 42"/>
          <p:cNvSpPr txBox="1"/>
          <p:nvPr/>
        </p:nvSpPr>
        <p:spPr>
          <a:xfrm>
            <a:off x="640080" y="4251960"/>
            <a:ext cx="3200400" cy="274320"/>
          </a:xfrm>
          <a:prstGeom prst="rect">
            <a:avLst/>
          </a:prstGeom>
          <a:noFill/>
          <a:ln/>
        </p:spPr>
        <p:txBody>
          <a:bodyPr wrap="square" lIns="0" tIns="0" rIns="0" bIns="0" rtlCol="0" anchor="t"/>
          <a:lstStyle/>
          <a:p>
            <a:pPr indent="0" marL="0">
              <a:buNone/>
            </a:pPr>
            <a:r>
              <a:rPr lang="en-US" sz="1400" b="1" dirty="0">
                <a:solidFill>
                  <a:srgbClr val="34D399"/>
                </a:solidFill>
                <a:latin typeface="Calibri" pitchFamily="34" charset="0"/>
                <a:ea typeface="Calibri" pitchFamily="34" charset="-122"/>
                <a:cs typeface="Calibri" pitchFamily="34" charset="-120"/>
              </a:rPr>
              <a:t>NOW</a:t>
            </a:r>
            <a:endParaRPr lang="en-US" sz="1400" dirty="0"/>
          </a:p>
        </p:txBody>
      </p:sp>
      <p:sp>
        <p:nvSpPr>
          <p:cNvPr id="47" name="Text 43"/>
          <p:cNvSpPr txBox="1"/>
          <p:nvPr/>
        </p:nvSpPr>
        <p:spPr>
          <a:xfrm>
            <a:off x="640080" y="4572000"/>
            <a:ext cx="3246120" cy="96012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Pilot Phase 1 deal desk with the 25 highest-leakage customers; block below-cost quotes; stop Influencer spend; enforce SUP04 SLA.</a:t>
            </a:r>
            <a:endParaRPr lang="en-US" sz="1150" dirty="0"/>
          </a:p>
        </p:txBody>
      </p:sp>
      <p:sp>
        <p:nvSpPr>
          <p:cNvPr id="48" name="Shape 44"/>
          <p:cNvSpPr/>
          <p:nvPr/>
        </p:nvSpPr>
        <p:spPr>
          <a:xfrm>
            <a:off x="4251960" y="4160520"/>
            <a:ext cx="3611880" cy="1417320"/>
          </a:xfrm>
          <a:prstGeom prst="roundRect">
            <a:avLst>
              <a:gd name="adj" fmla="val 5161"/>
            </a:avLst>
          </a:prstGeom>
          <a:solidFill>
            <a:srgbClr val="0A1F3A"/>
          </a:solidFill>
          <a:ln w="12700">
            <a:solidFill>
              <a:srgbClr val="22D3EE"/>
            </a:solidFill>
            <a:prstDash val="solid"/>
          </a:ln>
        </p:spPr>
      </p:sp>
      <p:sp>
        <p:nvSpPr>
          <p:cNvPr id="49" name="Text 45"/>
          <p:cNvSpPr txBox="1"/>
          <p:nvPr/>
        </p:nvSpPr>
        <p:spPr>
          <a:xfrm>
            <a:off x="4434840" y="4251960"/>
            <a:ext cx="3200400" cy="274320"/>
          </a:xfrm>
          <a:prstGeom prst="rect">
            <a:avLst/>
          </a:prstGeom>
          <a:noFill/>
          <a:ln/>
        </p:spPr>
        <p:txBody>
          <a:bodyPr wrap="square" lIns="0" tIns="0" rIns="0" bIns="0" rtlCol="0" anchor="t"/>
          <a:lstStyle/>
          <a:p>
            <a:pPr indent="0" marL="0">
              <a:buNone/>
            </a:pPr>
            <a:r>
              <a:rPr lang="en-US" sz="1400" b="1" dirty="0">
                <a:solidFill>
                  <a:srgbClr val="22D3EE"/>
                </a:solidFill>
                <a:latin typeface="Calibri" pitchFamily="34" charset="0"/>
                <a:ea typeface="Calibri" pitchFamily="34" charset="-122"/>
                <a:cs typeface="Calibri" pitchFamily="34" charset="-120"/>
              </a:rPr>
              <a:t>NEXT</a:t>
            </a:r>
            <a:endParaRPr lang="en-US" sz="1400" dirty="0"/>
          </a:p>
        </p:txBody>
      </p:sp>
      <p:sp>
        <p:nvSpPr>
          <p:cNvPr id="50" name="Text 46"/>
          <p:cNvSpPr txBox="1"/>
          <p:nvPr/>
        </p:nvSpPr>
        <p:spPr>
          <a:xfrm>
            <a:off x="4434840" y="4572000"/>
            <a:ext cx="3246120" cy="96012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Win back the 3,745 at-risk customers; forecast-based replenishment; freeze buying on overstocked retail/online SKUs.</a:t>
            </a:r>
            <a:endParaRPr lang="en-US" sz="1150" dirty="0"/>
          </a:p>
        </p:txBody>
      </p:sp>
      <p:sp>
        <p:nvSpPr>
          <p:cNvPr id="51" name="Shape 47"/>
          <p:cNvSpPr/>
          <p:nvPr/>
        </p:nvSpPr>
        <p:spPr>
          <a:xfrm>
            <a:off x="8046720" y="4160520"/>
            <a:ext cx="3611880" cy="1417320"/>
          </a:xfrm>
          <a:prstGeom prst="roundRect">
            <a:avLst>
              <a:gd name="adj" fmla="val 5161"/>
            </a:avLst>
          </a:prstGeom>
          <a:solidFill>
            <a:srgbClr val="0A1F3A"/>
          </a:solidFill>
          <a:ln w="12700">
            <a:solidFill>
              <a:srgbClr val="3B82F6"/>
            </a:solidFill>
            <a:prstDash val="solid"/>
          </a:ln>
        </p:spPr>
      </p:sp>
      <p:sp>
        <p:nvSpPr>
          <p:cNvPr id="52" name="Text 48"/>
          <p:cNvSpPr txBox="1"/>
          <p:nvPr/>
        </p:nvSpPr>
        <p:spPr>
          <a:xfrm>
            <a:off x="8229600" y="4251960"/>
            <a:ext cx="3200400" cy="274320"/>
          </a:xfrm>
          <a:prstGeom prst="rect">
            <a:avLst/>
          </a:prstGeom>
          <a:noFill/>
          <a:ln/>
        </p:spPr>
        <p:txBody>
          <a:bodyPr wrap="square" lIns="0" tIns="0" rIns="0" bIns="0" rtlCol="0" anchor="t"/>
          <a:lstStyle/>
          <a:p>
            <a:pPr indent="0" marL="0">
              <a:buNone/>
            </a:pPr>
            <a:r>
              <a:rPr lang="en-US" sz="1400" b="1" dirty="0">
                <a:solidFill>
                  <a:srgbClr val="3B82F6"/>
                </a:solidFill>
                <a:latin typeface="Calibri" pitchFamily="34" charset="0"/>
                <a:ea typeface="Calibri" pitchFamily="34" charset="-122"/>
                <a:cs typeface="Calibri" pitchFamily="34" charset="-120"/>
              </a:rPr>
              <a:t>THEN</a:t>
            </a:r>
            <a:endParaRPr lang="en-US" sz="1400" dirty="0"/>
          </a:p>
        </p:txBody>
      </p:sp>
      <p:sp>
        <p:nvSpPr>
          <p:cNvPr id="53" name="Text 49"/>
          <p:cNvSpPr txBox="1"/>
          <p:nvPr/>
        </p:nvSpPr>
        <p:spPr>
          <a:xfrm>
            <a:off x="8229600" y="4572000"/>
            <a:ext cx="3246120" cy="96012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Margin-floor workflow; supplier, production and quality monitoring; size guide; Meta/TikTok holdout tests.</a:t>
            </a:r>
            <a:endParaRPr lang="en-US" sz="1150" dirty="0"/>
          </a:p>
        </p:txBody>
      </p:sp>
      <p:sp>
        <p:nvSpPr>
          <p:cNvPr id="54" name="Shape 50"/>
          <p:cNvSpPr/>
          <p:nvPr/>
        </p:nvSpPr>
        <p:spPr>
          <a:xfrm>
            <a:off x="457200" y="5715000"/>
            <a:ext cx="11247120" cy="566928"/>
          </a:xfrm>
          <a:prstGeom prst="roundRect">
            <a:avLst>
              <a:gd name="adj" fmla="val 12903"/>
            </a:avLst>
          </a:prstGeom>
          <a:solidFill>
            <a:srgbClr val="22D3EE">
              <a:alpha val="15000"/>
            </a:srgbClr>
          </a:solidFill>
          <a:ln w="12700">
            <a:solidFill>
              <a:srgbClr val="22D3EE"/>
            </a:solidFill>
            <a:prstDash val="solid"/>
          </a:ln>
        </p:spPr>
      </p:sp>
      <p:sp>
        <p:nvSpPr>
          <p:cNvPr id="55" name="Text 51"/>
          <p:cNvSpPr txBox="1"/>
          <p:nvPr/>
        </p:nvSpPr>
        <p:spPr>
          <a:xfrm>
            <a:off x="640080" y="5715000"/>
            <a:ext cx="10881360" cy="56692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Strongest opportunity: EGP 2.9-4.9M gross profit per year from Phase 1 alone, profitable even if re-priced customers cut volume by up to 48%.</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 SHARNOUBY GROUP - Executive Assessment</dc:title>
  <dc:subject>PptxGenJS Presentation</dc:subject>
  <dc:creator>PptxGenJS</dc:creator>
  <cp:lastModifiedBy>PptxGenJS</cp:lastModifiedBy>
  <cp:revision>1</cp:revision>
  <dcterms:created xsi:type="dcterms:W3CDTF">2026-10-06T22:07:07Z</dcterms:created>
  <dcterms:modified xsi:type="dcterms:W3CDTF">2026-10-06T22:07:07Z</dcterms:modified>
</cp:coreProperties>
</file>